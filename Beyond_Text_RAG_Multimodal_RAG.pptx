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Welcome students. Today we move beyond text-only RAG into multimodal RAG — systems that retrieve from text, tables, charts, images, and video, not just paragraphs.
EXAMPLE: Ask: 'When you research a company, do you only read paragraphs, or do you also look at tables and charts?' Real documents are multimodal — our retrieval systems need to be too.
ASK STUDENTS: What kinds of content — besides plain text — do documents you work with usually contain?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Show the annual report mockup. Point out it has narrative text, a data table, and a bar chart — all in one page, which is completely normal for real business, medical, legal, or research documents.
EXAMPLE: If we ask a text-only RAG system 'what does the chart tell us', it will likely fail — because it never converted the chart into anything retrievable in the first place.
ASK STUDENTS: Before we go further — what do you think happens to that chart when a normal PDF-to-text RAG pipeline processes this page?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Walk down the list. Text-only RAG genuinely works for prose. But the moment structure (tables), visual trends (charts), pixel content (images), or temporal/audio content (video) enter the picture, plain text embeddings break down.
EXAMPLE: A table flattened into text loses the row/column relationship — '412 455 498' means nothing without knowing which region and which year each number belongs to.
ASK STUDENTS: Which of these five have you personally seen an AI tool get wrong before?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standard pipeline students already know. The key teaching moment: every box only ever carries text forward. Even if a PDF page had a chart, only the surrounding caption text (if any) survives extraction.
EXAMPLE: If a PDF page has a bar chart with no caption, this pipeline captures nothing about it — the chart is invisible to the retriever.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Give students this one-line definition and let it sit. The key shift: retrieval is no longer only over text chunks — it's over whatever representation best captures each modality — and the generation model must be capable of understanding that modality (e.g., a vision-language model for images).
EXAMPLE: Think of a research assistant who can read the paragraph, read the table, look at the chart, and watch the video clip — not just skim the words.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Contrast the two flows side by side. Traditional RAG is a straight line: text in, text out. Multimodal RAG fans in from several modalities, adds an 'understand' step (often a vision-language model), then generates.
EXAMPLE: Ask: in the multimodal flow, which step is new compared to the traditional pipeline? (Answer: 'Understand' — reasoning over non-text representations.)
ASK STUDENTS: Why might 'Understand' need a different kind of model than plain text generation?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full-picture architecture. Emphasize that this is the SAME skeleton as PDF-RAG students already know — the difference is what flows through it: multiple content types, multiple embedding strategies, and a model that can 'see' as well as 'read'.
EXAMPLE: Trace one modality through: an image goes Extraction → Image representation → Vector Store → Retriever → passed to a Vision-Language Model → Answer.
ASK STUDENTS: Which single box in this diagram do you think is hardest to build well?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Tables need structure-preserving extraction (e.g., detecting rows/columns, converting to markdown or JSON) before embedding — otherwise numbers lose their row/column meaning.
EXAMPLE: Show the table on the right: 'Asia Pacific, 2024 → 376' is meaningful only because row and column are kept together during extraction.
ASK STUDENTS: What could go wrong if we just concatenated every cell into a plain sentence?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Images (including charts and diagrams) are represented with an image embedding model (e.g., CLIP-style) or described via a vision-language model, then indexed the same way as text embeddings — so text queries can retrieve relevant images.
EXAMPLE: The chart on the right gets embedded as an image; a query like 'show quarterly growth trend' retrieves it directly, and a VLM then reads the bars to answer 'which quarter grew the most?'
ASK STUDENTS: How is retrieving an image different from retrieving a text chunk?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Video is the most complex modality: it's sampled into frames (for visual content), its audio is transcribed via speech-to-text, and both are embedded and indexed alongside timestamps — so retrieval can point to the exact moment relevant to a query.
EXAMPLE: The mockup on the right shows a product-demo video with a transcript caption — that transcript line becomes retrievable text, while the frame itself becomes a retrievable image, both linked to the same timestamp.
ASK STUDENTS: If a student asks about something only spoken (not shown) in a video, which representation answers it — frame or transcript?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is the exact stack we'll use in the live demo. All of these run locally on your own machine — Ollama serves local LLMs/VLMs, Sentence Transformers + FAISS handle embeddings &amp; similarity search, PyMuPDF/Pillow/OpenCV handle extraction, and Whisper handles speech-to-text for video.
EXAMPLE: No signup, no billing, no rate limits — everything after the initial model download runs offline.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Ollama abstracts away the complexity of running local models — your code sends a prompt (and optionally an image) and gets a response, similar to calling a hosted API, except everything runs on your own hardware.
EXAMPLE: For image/chart understanding we need a vision-language model, not a text-only LLM — Qwen2.5-VL is one practical, lightweight option compatible with Ollama.
ASK STUDENTS: Why might a smaller local model still be a good choice for a classroom demo, even if it's less capable than a large hosted model?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Introduce the live coding portion. We'll process this single PDF end-to-end: extract, index, then query it with both a text question and a chart/image question.
EXAMPLE: This mirrors a real annual report page — nothing artificial about the structure.
TIME: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Show the code that opens the PDF and loops through pages, separately pulling text blocks, detected tables, and embedded images. Each modality is kept as its own object rather than merged into one string.
EXAMPLE: For this page: one text block, one table (4x4), and one chart image come out as three distinct extracted items.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extracted item (text chunk, table representation, image) is converted into a vector. All vectors land in one FAISS index so retrieval can pull back a mix of modalities for a single query.
EXAMPLE: A query about revenue could retrieve the paragraph AND the table AND the chart, all from one search.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question is answerable from the extracted table content — show the retriever pulling back the table row and the LLM composing a natural-language answer.
EXAMPLE: Note this doesn't require any image/vision capability — it's really still 'text/structured-data RAG' under the hood, just working correctly this time because the table was extracted properly.
ASK STUDENTS: Is this a genuinely 'multimodal' retrieval, or just good text/table extraction?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question CANNOT be answered from text alone — the retriever must fetch the chart image itself, and a vision-language model must visually interpret the bars/trend to produce an answer.
EXAMPLE: Contrast directly with slide 16 — same pipeline shape, but the model actually 'looks' at pixels this time.
ASK STUDENTS: What would happen here if we only had a text-only LLM at the end instead of a VLM?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Summarize the demo with a direct side-by-side. This is the key mental model to leave students with: the question determines what needs to be retrieved and which kind of model needs to process it.
EXAMPLE: Same pipeline shape both times — different modality flowing through it.
ASK STUDENTS: Can you think of a question about this PDF that would need BOTH the table and the chart to answer correctly?
TIME: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Frame this as an extension, not a new system: the same 'extract → represent → index → retrieve → generate' shape from slide 7 applies directly to video, just with frames and transcripts as the extracted content.
EXAMPLE: For the sample question, the system would retrieve the transcript segment and the nearby frame from the middle of the video, then let the model describe the feature shown.
ASK STUDENTS: What timestamp precision would you want the retriever to return for this to feel useful?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Pause here and let students connect the architecture to industries they recognize. Every one of these domains mixes text with tables, images, or video, which is exactly the pattern we've been building toward all class.
EXAMPLE: Security footage analysis and training videos both rely on the video-RAG flow from the previous slide; financial reports and research papers rely on the table/chart flow from earlier.
ASK STUDENTS: Which one of these applications would YOU want to build first, and why?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Use this table as a recap. Go row by row quickly — data types, representation, retrieval, model, use cases — reinforcing vocabulary from the whole session.
EXAMPLE: Point back to specific earlier slides for each row: 'representation' ties back to slides 8–9, 'model' ties back to slide 17.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Close by walking the vertical stack: mixing modalities leads to multimodal retrieval, which leads to richer context, which leads to better answers. Then open the floor with the closing question.
EXAMPLE: Let 2-3 students share their idea out loud before wrapping up; connect their answers back to the applications from slide 20 where relevant.
ASK STUDENTS: If you could build a Multimodal RAG system for one real-world problem, what would it be?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83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7F8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4.png"/><Relationship Id="rId7" Type="http://schemas.openxmlformats.org/officeDocument/2006/relationships/image" Target="../media/image-3-7.png"/><Relationship Id="rId8" Type="http://schemas.openxmlformats.org/officeDocument/2006/relationships/image" Target="../media/image-3-4.png"/><Relationship Id="rId9" Type="http://schemas.openxmlformats.org/officeDocument/2006/relationships/image" Target="../media/image-3-9.png"/><Relationship Id="rId10" Type="http://schemas.openxmlformats.org/officeDocument/2006/relationships/image" Target="../media/image-3-4.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1.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slideLayout" Target="../slideLayouts/slideLayout3.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2.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slideLayout" Target="../slideLayouts/slideLayout3.xml"/><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3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83F"/>
          </a:solidFill>
          <a:ln/>
        </p:spPr>
      </p:sp>
      <p:sp>
        <p:nvSpPr>
          <p:cNvPr id="3" name="Shape 1"/>
          <p:cNvSpPr/>
          <p:nvPr/>
        </p:nvSpPr>
        <p:spPr>
          <a:xfrm>
            <a:off x="8778240" y="-2011680"/>
            <a:ext cx="5486400" cy="5486400"/>
          </a:xfrm>
          <a:prstGeom prst="ellipse">
            <a:avLst/>
          </a:prstGeom>
          <a:solidFill>
            <a:srgbClr val="1E2761"/>
          </a:solidFill>
          <a:ln/>
        </p:spPr>
      </p:sp>
      <p:sp>
        <p:nvSpPr>
          <p:cNvPr id="4" name="Shape 2"/>
          <p:cNvSpPr/>
          <p:nvPr/>
        </p:nvSpPr>
        <p:spPr>
          <a:xfrm>
            <a:off x="9875520" y="3108960"/>
            <a:ext cx="3840480" cy="3840480"/>
          </a:xfrm>
          <a:prstGeom prst="ellipse">
            <a:avLst/>
          </a:prstGeom>
          <a:solidFill>
            <a:srgbClr val="1C7293"/>
          </a:solidFill>
          <a:ln/>
        </p:spPr>
      </p:sp>
      <p:sp>
        <p:nvSpPr>
          <p:cNvPr id="5" name="Text 3"/>
          <p:cNvSpPr/>
          <p:nvPr/>
        </p:nvSpPr>
        <p:spPr>
          <a:xfrm>
            <a:off x="640080" y="1417320"/>
            <a:ext cx="7315200" cy="365760"/>
          </a:xfrm>
          <a:prstGeom prst="rect">
            <a:avLst/>
          </a:prstGeom>
          <a:noFill/>
          <a:ln/>
        </p:spPr>
        <p:txBody>
          <a:bodyPr wrap="square" rtlCol="0" anchor="ctr"/>
          <a:lstStyle/>
          <a:p>
            <a:pPr indent="0" marL="0">
              <a:buNone/>
            </a:pPr>
            <a:r>
              <a:rPr lang="en-US" sz="1400" b="1" spc="200" kern="0" dirty="0">
                <a:solidFill>
                  <a:srgbClr val="FF6B35"/>
                </a:solidFill>
                <a:latin typeface="Calibri" pitchFamily="34" charset="0"/>
                <a:ea typeface="Calibri" pitchFamily="34" charset="-122"/>
                <a:cs typeface="Calibri" pitchFamily="34" charset="-120"/>
              </a:rPr>
              <a:t>MULTIMODAL RETRIEVAL-AUGMENTED GENERATION</a:t>
            </a:r>
            <a:endParaRPr lang="en-US" sz="1400" dirty="0"/>
          </a:p>
        </p:txBody>
      </p:sp>
      <p:sp>
        <p:nvSpPr>
          <p:cNvPr id="6" name="Text 4"/>
          <p:cNvSpPr/>
          <p:nvPr/>
        </p:nvSpPr>
        <p:spPr>
          <a:xfrm>
            <a:off x="594360" y="1828800"/>
            <a:ext cx="8686800" cy="155448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Beyond Text RAG</a:t>
            </a:r>
            <a:endParaRPr lang="en-US" sz="6000" dirty="0"/>
          </a:p>
        </p:txBody>
      </p:sp>
      <p:sp>
        <p:nvSpPr>
          <p:cNvPr id="7" name="Text 5"/>
          <p:cNvSpPr/>
          <p:nvPr/>
        </p:nvSpPr>
        <p:spPr>
          <a:xfrm>
            <a:off x="640080" y="3246120"/>
            <a:ext cx="7772400" cy="73152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Teaching AI to Retrieve Information from Text, Tables, Images &amp; Video</a:t>
            </a:r>
            <a:endParaRPr lang="en-US" sz="2000" dirty="0"/>
          </a:p>
        </p:txBody>
      </p:sp>
      <p:sp>
        <p:nvSpPr>
          <p:cNvPr id="8" name="Shape 6"/>
          <p:cNvSpPr/>
          <p:nvPr/>
        </p:nvSpPr>
        <p:spPr>
          <a:xfrm>
            <a:off x="777240" y="4160520"/>
            <a:ext cx="777240" cy="777240"/>
          </a:xfrm>
          <a:prstGeom prst="ellipse">
            <a:avLst/>
          </a:prstGeom>
          <a:solidFill>
            <a:srgbClr val="1C7293"/>
          </a:solidFill>
          <a:ln/>
        </p:spPr>
      </p:sp>
      <p:pic>
        <p:nvPicPr>
          <p:cNvPr id="9" name="Image 0" descr="/home/claude/mrag/assets/icons/file_text.png">    </p:cNvPr>
          <p:cNvPicPr>
            <a:picLocks noChangeAspect="1"/>
          </p:cNvPicPr>
          <p:nvPr/>
        </p:nvPicPr>
        <p:blipFill>
          <a:blip r:embed="rId1"/>
          <a:stretch>
            <a:fillRect/>
          </a:stretch>
        </p:blipFill>
        <p:spPr>
          <a:xfrm>
            <a:off x="923544" y="4306824"/>
            <a:ext cx="484632" cy="484632"/>
          </a:xfrm>
          <a:prstGeom prst="rect">
            <a:avLst/>
          </a:prstGeom>
        </p:spPr>
      </p:pic>
      <p:sp>
        <p:nvSpPr>
          <p:cNvPr id="10" name="Shape 7"/>
          <p:cNvSpPr/>
          <p:nvPr/>
        </p:nvSpPr>
        <p:spPr>
          <a:xfrm>
            <a:off x="2468880" y="4160520"/>
            <a:ext cx="777240" cy="777240"/>
          </a:xfrm>
          <a:prstGeom prst="ellipse">
            <a:avLst/>
          </a:prstGeom>
          <a:solidFill>
            <a:srgbClr val="1C7293"/>
          </a:solidFill>
          <a:ln/>
        </p:spPr>
      </p:sp>
      <p:pic>
        <p:nvPicPr>
          <p:cNvPr id="11" name="Image 1" descr="/home/claude/mrag/assets/icons/table.png">    </p:cNvPr>
          <p:cNvPicPr>
            <a:picLocks noChangeAspect="1"/>
          </p:cNvPicPr>
          <p:nvPr/>
        </p:nvPicPr>
        <p:blipFill>
          <a:blip r:embed="rId2"/>
          <a:stretch>
            <a:fillRect/>
          </a:stretch>
        </p:blipFill>
        <p:spPr>
          <a:xfrm>
            <a:off x="2615184" y="4306824"/>
            <a:ext cx="484632" cy="484632"/>
          </a:xfrm>
          <a:prstGeom prst="rect">
            <a:avLst/>
          </a:prstGeom>
        </p:spPr>
      </p:pic>
      <p:sp>
        <p:nvSpPr>
          <p:cNvPr id="12" name="Shape 8"/>
          <p:cNvSpPr/>
          <p:nvPr/>
        </p:nvSpPr>
        <p:spPr>
          <a:xfrm>
            <a:off x="4160520" y="4160520"/>
            <a:ext cx="777240" cy="777240"/>
          </a:xfrm>
          <a:prstGeom prst="ellipse">
            <a:avLst/>
          </a:prstGeom>
          <a:solidFill>
            <a:srgbClr val="FF6B35"/>
          </a:solidFill>
          <a:ln/>
        </p:spPr>
      </p:sp>
      <p:pic>
        <p:nvPicPr>
          <p:cNvPr id="13" name="Image 2" descr="/home/claude/mrag/assets/icons/chart.png">    </p:cNvPr>
          <p:cNvPicPr>
            <a:picLocks noChangeAspect="1"/>
          </p:cNvPicPr>
          <p:nvPr/>
        </p:nvPicPr>
        <p:blipFill>
          <a:blip r:embed="rId3"/>
          <a:stretch>
            <a:fillRect/>
          </a:stretch>
        </p:blipFill>
        <p:spPr>
          <a:xfrm>
            <a:off x="4306824" y="4306824"/>
            <a:ext cx="484632" cy="484632"/>
          </a:xfrm>
          <a:prstGeom prst="rect">
            <a:avLst/>
          </a:prstGeom>
        </p:spPr>
      </p:pic>
      <p:sp>
        <p:nvSpPr>
          <p:cNvPr id="14" name="Shape 9"/>
          <p:cNvSpPr/>
          <p:nvPr/>
        </p:nvSpPr>
        <p:spPr>
          <a:xfrm>
            <a:off x="5852160" y="4160520"/>
            <a:ext cx="777240" cy="777240"/>
          </a:xfrm>
          <a:prstGeom prst="ellipse">
            <a:avLst/>
          </a:prstGeom>
          <a:solidFill>
            <a:srgbClr val="FF6B35"/>
          </a:solidFill>
          <a:ln/>
        </p:spPr>
      </p:sp>
      <p:pic>
        <p:nvPicPr>
          <p:cNvPr id="15" name="Image 3" descr="/home/claude/mrag/assets/icons/image.png">    </p:cNvPr>
          <p:cNvPicPr>
            <a:picLocks noChangeAspect="1"/>
          </p:cNvPicPr>
          <p:nvPr/>
        </p:nvPicPr>
        <p:blipFill>
          <a:blip r:embed="rId4"/>
          <a:stretch>
            <a:fillRect/>
          </a:stretch>
        </p:blipFill>
        <p:spPr>
          <a:xfrm>
            <a:off x="5998464" y="4306824"/>
            <a:ext cx="484632" cy="484632"/>
          </a:xfrm>
          <a:prstGeom prst="rect">
            <a:avLst/>
          </a:prstGeom>
        </p:spPr>
      </p:pic>
      <p:sp>
        <p:nvSpPr>
          <p:cNvPr id="16" name="Shape 10"/>
          <p:cNvSpPr/>
          <p:nvPr/>
        </p:nvSpPr>
        <p:spPr>
          <a:xfrm>
            <a:off x="7543800" y="4160520"/>
            <a:ext cx="777240" cy="777240"/>
          </a:xfrm>
          <a:prstGeom prst="ellipse">
            <a:avLst/>
          </a:prstGeom>
          <a:solidFill>
            <a:srgbClr val="1E2761"/>
          </a:solidFill>
          <a:ln/>
        </p:spPr>
      </p:sp>
      <p:pic>
        <p:nvPicPr>
          <p:cNvPr id="17" name="Image 4" descr="/home/claude/mrag/assets/icons/video.png">    </p:cNvPr>
          <p:cNvPicPr>
            <a:picLocks noChangeAspect="1"/>
          </p:cNvPicPr>
          <p:nvPr/>
        </p:nvPicPr>
        <p:blipFill>
          <a:blip r:embed="rId5"/>
          <a:stretch>
            <a:fillRect/>
          </a:stretch>
        </p:blipFill>
        <p:spPr>
          <a:xfrm>
            <a:off x="7690104" y="4306824"/>
            <a:ext cx="484632" cy="484632"/>
          </a:xfrm>
          <a:prstGeom prst="rect">
            <a:avLst/>
          </a:prstGeom>
        </p:spPr>
      </p:pic>
      <p:sp>
        <p:nvSpPr>
          <p:cNvPr id="18" name="Text 11"/>
          <p:cNvSpPr/>
          <p:nvPr/>
        </p:nvSpPr>
        <p:spPr>
          <a:xfrm>
            <a:off x="640080" y="5349240"/>
            <a:ext cx="8229600" cy="365760"/>
          </a:xfrm>
          <a:prstGeom prst="rect">
            <a:avLst/>
          </a:prstGeom>
          <a:noFill/>
          <a:ln/>
        </p:spPr>
        <p:txBody>
          <a:bodyPr wrap="square" rtlCol="0" anchor="ctr"/>
          <a:lstStyle/>
          <a:p>
            <a:pPr indent="0" marL="0">
              <a:buNone/>
            </a:pPr>
            <a:r>
              <a:rPr lang="en-US" sz="1300" i="1" dirty="0">
                <a:solidFill>
                  <a:srgbClr val="8892B0"/>
                </a:solidFill>
                <a:latin typeface="Calibri" pitchFamily="34" charset="0"/>
                <a:ea typeface="Calibri" pitchFamily="34" charset="-122"/>
                <a:cs typeface="Calibri" pitchFamily="34" charset="-120"/>
              </a:rPr>
              <a:t>Document Intelligence  •  Vision-Language Models  •  Local &amp; Free</a:t>
            </a:r>
            <a:endParaRPr lang="en-US" sz="1300" dirty="0"/>
          </a:p>
        </p:txBody>
      </p:sp>
      <p:sp>
        <p:nvSpPr>
          <p:cNvPr id="19" name="Text 12"/>
          <p:cNvSpPr/>
          <p:nvPr/>
        </p:nvSpPr>
        <p:spPr>
          <a:xfrm>
            <a:off x="640080" y="6355080"/>
            <a:ext cx="3657600" cy="274320"/>
          </a:xfrm>
          <a:prstGeom prst="rect">
            <a:avLst/>
          </a:prstGeom>
          <a:noFill/>
          <a:ln/>
        </p:spPr>
        <p:txBody>
          <a:bodyPr wrap="square" rtlCol="0" anchor="ctr"/>
          <a:lstStyle/>
          <a:p>
            <a:pPr indent="0" marL="0">
              <a:buNone/>
            </a:pPr>
            <a:r>
              <a:rPr lang="en-US" sz="1100" dirty="0">
                <a:solidFill>
                  <a:srgbClr val="5A6699"/>
                </a:solidFill>
                <a:latin typeface="Calibri" pitchFamily="34" charset="0"/>
                <a:ea typeface="Calibri" pitchFamily="34" charset="-122"/>
                <a:cs typeface="Calibri" pitchFamily="34" charset="-120"/>
              </a:rPr>
              <a:t>College AI Systems Series</a:t>
            </a:r>
            <a:endParaRPr lang="en-US" sz="1100" dirty="0"/>
          </a:p>
        </p:txBody>
      </p:sp>
      <p:sp>
        <p:nvSpPr>
          <p:cNvPr id="20" name="Text 13"/>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8892B0"/>
                </a:solidFill>
                <a:latin typeface="Calibri" pitchFamily="34" charset="0"/>
                <a:ea typeface="Calibri" pitchFamily="34" charset="-122"/>
                <a:cs typeface="Calibri" pitchFamily="34" charset="-120"/>
              </a:rPr>
              <a:t>01 / 22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LET'S START WITH A QUESTION</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Can Normal RAG Understand Everything Here?</a:t>
            </a:r>
            <a:endParaRPr lang="en-US" sz="2800" dirty="0"/>
          </a:p>
        </p:txBody>
      </p:sp>
      <p:sp>
        <p:nvSpPr>
          <p:cNvPr id="4" name="Text 2"/>
          <p:cNvSpPr/>
          <p:nvPr/>
        </p:nvSpPr>
        <p:spPr>
          <a:xfrm>
            <a:off x="548640" y="1600200"/>
            <a:ext cx="5120640" cy="914400"/>
          </a:xfrm>
          <a:prstGeom prst="rect">
            <a:avLst/>
          </a:prstGeom>
          <a:noFill/>
          <a:ln/>
        </p:spPr>
        <p:txBody>
          <a:bodyPr wrap="square" rtlCol="0" anchor="t"/>
          <a:lstStyle/>
          <a:p>
            <a:pPr indent="0" marL="0">
              <a:buNone/>
            </a:pPr>
            <a:r>
              <a:rPr lang="en-US" sz="1600" dirty="0">
                <a:solidFill>
                  <a:srgbClr val="222A42"/>
                </a:solidFill>
                <a:latin typeface="Calibri" pitchFamily="34" charset="0"/>
                <a:ea typeface="Calibri" pitchFamily="34" charset="-122"/>
                <a:cs typeface="Calibri" pitchFamily="34" charset="-120"/>
              </a:rPr>
              <a:t>A typical annual report contains </a:t>
            </a:r>
            <a:pPr indent="0" marL="0">
              <a:buNone/>
            </a:pPr>
            <a:r>
              <a:rPr lang="en-US" sz="1600" b="1" dirty="0">
                <a:solidFill>
                  <a:srgbClr val="1C7293"/>
                </a:solidFill>
                <a:latin typeface="Calibri" pitchFamily="34" charset="0"/>
                <a:ea typeface="Calibri" pitchFamily="34" charset="-122"/>
                <a:cs typeface="Calibri" pitchFamily="34" charset="-120"/>
              </a:rPr>
              <a:t>paragraphs, tables, charts, and images</a:t>
            </a:r>
            <a:pPr indent="0" marL="0">
              <a:buNone/>
            </a:pPr>
            <a:r>
              <a:rPr lang="en-US" sz="1600" dirty="0">
                <a:solidFill>
                  <a:srgbClr val="222A42"/>
                </a:solidFill>
                <a:latin typeface="Calibri" pitchFamily="34" charset="0"/>
                <a:ea typeface="Calibri" pitchFamily="34" charset="-122"/>
                <a:cs typeface="Calibri" pitchFamily="34" charset="-120"/>
              </a:rPr>
              <a:t> — all on the same page.</a:t>
            </a:r>
            <a:endParaRPr lang="en-US" sz="1600" dirty="0"/>
          </a:p>
        </p:txBody>
      </p:sp>
      <p:sp>
        <p:nvSpPr>
          <p:cNvPr id="5" name="Shape 3"/>
          <p:cNvSpPr/>
          <p:nvPr/>
        </p:nvSpPr>
        <p:spPr>
          <a:xfrm>
            <a:off x="548640" y="2514600"/>
            <a:ext cx="5120640" cy="3246120"/>
          </a:xfrm>
          <a:prstGeom prst="roundRect">
            <a:avLst>
              <a:gd name="adj" fmla="val 2254"/>
            </a:avLst>
          </a:prstGeom>
          <a:solidFill>
            <a:srgbClr val="FFFFFF"/>
          </a:solidFill>
          <a:ln w="12700">
            <a:solidFill>
              <a:srgbClr val="E4E7F0"/>
            </a:solidFill>
            <a:prstDash val="solid"/>
          </a:ln>
          <a:effectLst>
            <a:outerShdw sx="100000" sy="100000" kx="0" ky="0" algn="bl" rotWithShape="0" blurRad="101600" dist="38100" dir="5400000">
              <a:srgbClr val="9AA3B8">
                <a:alpha val="30000"/>
              </a:srgbClr>
            </a:outerShdw>
          </a:effectLst>
        </p:spPr>
      </p:sp>
      <p:sp>
        <p:nvSpPr>
          <p:cNvPr id="6" name="Shape 4"/>
          <p:cNvSpPr/>
          <p:nvPr/>
        </p:nvSpPr>
        <p:spPr>
          <a:xfrm>
            <a:off x="749808" y="2715768"/>
            <a:ext cx="420624" cy="420624"/>
          </a:xfrm>
          <a:prstGeom prst="ellipse">
            <a:avLst/>
          </a:prstGeom>
          <a:solidFill>
            <a:srgbClr val="1C7293"/>
          </a:solidFill>
          <a:ln/>
        </p:spPr>
      </p:sp>
      <p:pic>
        <p:nvPicPr>
          <p:cNvPr id="7" name="Image 0" descr="/home/claude/mrag/assets/icons/question.png">    </p:cNvPr>
          <p:cNvPicPr>
            <a:picLocks noChangeAspect="1"/>
          </p:cNvPicPr>
          <p:nvPr/>
        </p:nvPicPr>
        <p:blipFill>
          <a:blip r:embed="rId1"/>
          <a:stretch>
            <a:fillRect/>
          </a:stretch>
        </p:blipFill>
        <p:spPr>
          <a:xfrm>
            <a:off x="832104" y="2798064"/>
            <a:ext cx="256032" cy="256032"/>
          </a:xfrm>
          <a:prstGeom prst="rect">
            <a:avLst/>
          </a:prstGeom>
        </p:spPr>
      </p:pic>
      <p:sp>
        <p:nvSpPr>
          <p:cNvPr id="8" name="Text 5"/>
          <p:cNvSpPr/>
          <p:nvPr/>
        </p:nvSpPr>
        <p:spPr>
          <a:xfrm>
            <a:off x="1234440" y="2697480"/>
            <a:ext cx="4297680" cy="502920"/>
          </a:xfrm>
          <a:prstGeom prst="rect">
            <a:avLst/>
          </a:prstGeom>
          <a:noFill/>
          <a:ln/>
        </p:spPr>
        <p:txBody>
          <a:bodyPr wrap="square" rtlCol="0" anchor="ctr"/>
          <a:lstStyle/>
          <a:p>
            <a:pPr indent="0" marL="0">
              <a:buNone/>
            </a:pPr>
            <a:r>
              <a:rPr lang="en-US" sz="1900" b="1" i="1" dirty="0">
                <a:solidFill>
                  <a:srgbClr val="1E2761"/>
                </a:solidFill>
                <a:latin typeface="Cambria" pitchFamily="34" charset="0"/>
                <a:ea typeface="Cambria" pitchFamily="34" charset="-122"/>
                <a:cs typeface="Cambria" pitchFamily="34" charset="-120"/>
              </a:rPr>
              <a:t>"What does this chart tell us?"</a:t>
            </a:r>
            <a:endParaRPr lang="en-US" sz="1900" dirty="0"/>
          </a:p>
        </p:txBody>
      </p:sp>
      <p:sp>
        <p:nvSpPr>
          <p:cNvPr id="9" name="Text 6"/>
          <p:cNvSpPr/>
          <p:nvPr/>
        </p:nvSpPr>
        <p:spPr>
          <a:xfrm>
            <a:off x="822960" y="3337560"/>
            <a:ext cx="4526280" cy="2286000"/>
          </a:xfrm>
          <a:prstGeom prst="rect">
            <a:avLst/>
          </a:prstGeom>
          <a:noFill/>
          <a:ln/>
        </p:spPr>
        <p:txBody>
          <a:bodyPr wrap="square" rtlCol="0" anchor="t"/>
          <a:lstStyle/>
          <a:p>
            <a:pPr indent="0" marL="0">
              <a:lnSpc>
                <a:spcPct val="115000"/>
              </a:lnSpc>
              <a:buNone/>
            </a:pPr>
            <a:r>
              <a:rPr lang="en-US" sz="1450" dirty="0">
                <a:solidFill>
                  <a:srgbClr val="6B7280"/>
                </a:solidFill>
                <a:latin typeface="Calibri" pitchFamily="34" charset="0"/>
                <a:ea typeface="Calibri" pitchFamily="34" charset="-122"/>
                <a:cs typeface="Calibri" pitchFamily="34" charset="-120"/>
              </a:rPr>
              <a:t>A student asks this question about the report on the right.
</a:t>
            </a:r>
            <a:endParaRPr lang="en-US" sz="1450" dirty="0"/>
          </a:p>
          <a:p>
            <a:pPr indent="0" marL="0">
              <a:lnSpc>
                <a:spcPct val="115000"/>
              </a:lnSpc>
              <a:buNone/>
            </a:pPr>
            <a:r>
              <a:rPr lang="en-US" sz="1450" dirty="0">
                <a:solidFill>
                  <a:srgbClr val="222A42"/>
                </a:solidFill>
                <a:latin typeface="Calibri" pitchFamily="34" charset="0"/>
                <a:ea typeface="Calibri" pitchFamily="34" charset="-122"/>
                <a:cs typeface="Calibri" pitchFamily="34" charset="-120"/>
              </a:rPr>
              <a:t>Traditional text-based RAG can answer questions about the </a:t>
            </a:r>
            <a:pPr indent="0" marL="0">
              <a:lnSpc>
                <a:spcPct val="115000"/>
              </a:lnSpc>
              <a:buNone/>
            </a:pPr>
            <a:r>
              <a:rPr lang="en-US" sz="1450" b="1" dirty="0">
                <a:solidFill>
                  <a:srgbClr val="1C7293"/>
                </a:solidFill>
                <a:latin typeface="Calibri" pitchFamily="34" charset="0"/>
                <a:ea typeface="Calibri" pitchFamily="34" charset="-122"/>
                <a:cs typeface="Calibri" pitchFamily="34" charset="-120"/>
              </a:rPr>
              <a:t>paragraphs</a:t>
            </a:r>
            <a:pPr indent="0" marL="0">
              <a:lnSpc>
                <a:spcPct val="115000"/>
              </a:lnSpc>
              <a:buNone/>
            </a:pPr>
            <a:r>
              <a:rPr lang="en-US" sz="1450" dirty="0">
                <a:solidFill>
                  <a:srgbClr val="222A42"/>
                </a:solidFill>
                <a:latin typeface="Calibri" pitchFamily="34" charset="0"/>
                <a:ea typeface="Calibri" pitchFamily="34" charset="-122"/>
                <a:cs typeface="Calibri" pitchFamily="34" charset="-120"/>
              </a:rPr>
              <a:t> easily.
</a:t>
            </a:r>
            <a:endParaRPr lang="en-US" sz="1450" dirty="0"/>
          </a:p>
          <a:p>
            <a:pPr indent="0" marL="0">
              <a:lnSpc>
                <a:spcPct val="115000"/>
              </a:lnSpc>
              <a:buNone/>
            </a:pPr>
            <a:r>
              <a:rPr lang="en-US" sz="1450" dirty="0">
                <a:solidFill>
                  <a:srgbClr val="222A42"/>
                </a:solidFill>
                <a:latin typeface="Calibri" pitchFamily="34" charset="0"/>
                <a:ea typeface="Calibri" pitchFamily="34" charset="-122"/>
                <a:cs typeface="Calibri" pitchFamily="34" charset="-120"/>
              </a:rPr>
              <a:t>But can it actually understand the </a:t>
            </a:r>
            <a:pPr indent="0" marL="0">
              <a:lnSpc>
                <a:spcPct val="115000"/>
              </a:lnSpc>
              <a:buNone/>
            </a:pPr>
            <a:r>
              <a:rPr lang="en-US" sz="1450" b="1" dirty="0">
                <a:solidFill>
                  <a:srgbClr val="FF6B35"/>
                </a:solidFill>
                <a:latin typeface="Calibri" pitchFamily="34" charset="0"/>
                <a:ea typeface="Calibri" pitchFamily="34" charset="-122"/>
                <a:cs typeface="Calibri" pitchFamily="34" charset="-120"/>
              </a:rPr>
              <a:t>chart</a:t>
            </a:r>
            <a:pPr indent="0" marL="0">
              <a:lnSpc>
                <a:spcPct val="115000"/>
              </a:lnSpc>
              <a:buNone/>
            </a:pPr>
            <a:r>
              <a:rPr lang="en-US" sz="1450" dirty="0">
                <a:solidFill>
                  <a:srgbClr val="222A42"/>
                </a:solidFill>
                <a:latin typeface="Calibri" pitchFamily="34" charset="0"/>
                <a:ea typeface="Calibri" pitchFamily="34" charset="-122"/>
                <a:cs typeface="Calibri" pitchFamily="34" charset="-120"/>
              </a:rPr>
              <a:t> showing quarterly growth?</a:t>
            </a:r>
            <a:endParaRPr lang="en-US" sz="1450" dirty="0"/>
          </a:p>
        </p:txBody>
      </p:sp>
      <p:pic>
        <p:nvPicPr>
          <p:cNvPr id="10" name="Image 1" descr="/home/claude/mrag/assets/mockups/annual_report_page.png">    </p:cNvPr>
          <p:cNvPicPr>
            <a:picLocks noChangeAspect="1"/>
          </p:cNvPicPr>
          <p:nvPr/>
        </p:nvPicPr>
        <p:blipFill>
          <a:blip r:embed="rId2"/>
          <a:stretch>
            <a:fillRect/>
          </a:stretch>
        </p:blipFill>
        <p:spPr>
          <a:xfrm>
            <a:off x="6537960" y="1417320"/>
            <a:ext cx="4212139" cy="5120640"/>
          </a:xfrm>
          <a:prstGeom prst="rect">
            <a:avLst/>
          </a:prstGeom>
        </p:spPr>
      </p:pic>
      <p:sp>
        <p:nvSpPr>
          <p:cNvPr id="11" name="Text 7"/>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12" name="Text 8"/>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02 / 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2 — THE PROBLEM</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Where Traditional RAG Struggles</a:t>
            </a:r>
            <a:endParaRPr lang="en-US" sz="3200" dirty="0"/>
          </a:p>
        </p:txBody>
      </p:sp>
      <p:sp>
        <p:nvSpPr>
          <p:cNvPr id="4" name="Shape 2"/>
          <p:cNvSpPr/>
          <p:nvPr/>
        </p:nvSpPr>
        <p:spPr>
          <a:xfrm>
            <a:off x="548640" y="1691640"/>
            <a:ext cx="11064240" cy="786384"/>
          </a:xfrm>
          <a:prstGeom prst="roundRect">
            <a:avLst>
              <a:gd name="adj" fmla="val 8140"/>
            </a:avLst>
          </a:prstGeom>
          <a:solidFill>
            <a:srgbClr val="FFFFFF"/>
          </a:solidFill>
          <a:ln w="12700">
            <a:solidFill>
              <a:srgbClr val="E4E7F0"/>
            </a:solidFill>
            <a:prstDash val="solid"/>
          </a:ln>
        </p:spPr>
      </p:sp>
      <p:sp>
        <p:nvSpPr>
          <p:cNvPr id="5" name="Shape 3"/>
          <p:cNvSpPr/>
          <p:nvPr/>
        </p:nvSpPr>
        <p:spPr>
          <a:xfrm>
            <a:off x="713232" y="1819656"/>
            <a:ext cx="530352" cy="530352"/>
          </a:xfrm>
          <a:prstGeom prst="ellipse">
            <a:avLst/>
          </a:prstGeom>
          <a:solidFill>
            <a:srgbClr val="2E8B57"/>
          </a:solidFill>
          <a:ln/>
        </p:spPr>
      </p:sp>
      <p:pic>
        <p:nvPicPr>
          <p:cNvPr id="6" name="Image 0" descr="/home/claude/mrag/assets/icons/file_text.png">    </p:cNvPr>
          <p:cNvPicPr>
            <a:picLocks noChangeAspect="1"/>
          </p:cNvPicPr>
          <p:nvPr/>
        </p:nvPicPr>
        <p:blipFill>
          <a:blip r:embed="rId1"/>
          <a:stretch>
            <a:fillRect/>
          </a:stretch>
        </p:blipFill>
        <p:spPr>
          <a:xfrm>
            <a:off x="859536" y="1965960"/>
            <a:ext cx="237744" cy="237744"/>
          </a:xfrm>
          <a:prstGeom prst="rect">
            <a:avLst/>
          </a:prstGeom>
        </p:spPr>
      </p:pic>
      <p:sp>
        <p:nvSpPr>
          <p:cNvPr id="7" name="Text 4"/>
          <p:cNvSpPr/>
          <p:nvPr/>
        </p:nvSpPr>
        <p:spPr>
          <a:xfrm>
            <a:off x="1463040" y="1764792"/>
            <a:ext cx="1828800" cy="658368"/>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Text</a:t>
            </a:r>
            <a:endParaRPr lang="en-US" sz="1800" dirty="0"/>
          </a:p>
        </p:txBody>
      </p:sp>
      <p:sp>
        <p:nvSpPr>
          <p:cNvPr id="8" name="Shape 5"/>
          <p:cNvSpPr/>
          <p:nvPr/>
        </p:nvSpPr>
        <p:spPr>
          <a:xfrm>
            <a:off x="3383280" y="1929384"/>
            <a:ext cx="329184" cy="329184"/>
          </a:xfrm>
          <a:prstGeom prst="ellipse">
            <a:avLst/>
          </a:prstGeom>
          <a:solidFill>
            <a:srgbClr val="2E8B57"/>
          </a:solidFill>
          <a:ln/>
        </p:spPr>
      </p:sp>
      <p:pic>
        <p:nvPicPr>
          <p:cNvPr id="9" name="Image 1" descr="/home/claude/mrag/assets/icons/check.png">    </p:cNvPr>
          <p:cNvPicPr>
            <a:picLocks noChangeAspect="1"/>
          </p:cNvPicPr>
          <p:nvPr/>
        </p:nvPicPr>
        <p:blipFill>
          <a:blip r:embed="rId2"/>
          <a:stretch>
            <a:fillRect/>
          </a:stretch>
        </p:blipFill>
        <p:spPr>
          <a:xfrm>
            <a:off x="3438144" y="1984248"/>
            <a:ext cx="219456" cy="219456"/>
          </a:xfrm>
          <a:prstGeom prst="rect">
            <a:avLst/>
          </a:prstGeom>
        </p:spPr>
      </p:pic>
      <p:sp>
        <p:nvSpPr>
          <p:cNvPr id="10" name="Text 6"/>
          <p:cNvSpPr/>
          <p:nvPr/>
        </p:nvSpPr>
        <p:spPr>
          <a:xfrm>
            <a:off x="3794760" y="1764792"/>
            <a:ext cx="3291840" cy="658368"/>
          </a:xfrm>
          <a:prstGeom prst="rect">
            <a:avLst/>
          </a:prstGeom>
          <a:noFill/>
          <a:ln/>
        </p:spPr>
        <p:txBody>
          <a:bodyPr wrap="square" rtlCol="0" anchor="ctr"/>
          <a:lstStyle/>
          <a:p>
            <a:pPr indent="0" marL="0">
              <a:buNone/>
            </a:pPr>
            <a:r>
              <a:rPr lang="en-US" sz="1450" b="1" dirty="0">
                <a:solidFill>
                  <a:srgbClr val="2E8B57"/>
                </a:solidFill>
                <a:latin typeface="Calibri" pitchFamily="34" charset="0"/>
                <a:ea typeface="Calibri" pitchFamily="34" charset="-122"/>
                <a:cs typeface="Calibri" pitchFamily="34" charset="-120"/>
              </a:rPr>
              <a:t>Works well</a:t>
            </a:r>
            <a:endParaRPr lang="en-US" sz="1450" dirty="0"/>
          </a:p>
        </p:txBody>
      </p:sp>
      <p:sp>
        <p:nvSpPr>
          <p:cNvPr id="11" name="Text 7"/>
          <p:cNvSpPr/>
          <p:nvPr/>
        </p:nvSpPr>
        <p:spPr>
          <a:xfrm>
            <a:off x="7223760" y="1764792"/>
            <a:ext cx="3931920" cy="658368"/>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Clean chunking &amp; embeddings</a:t>
            </a:r>
            <a:endParaRPr lang="en-US" sz="1250" dirty="0"/>
          </a:p>
        </p:txBody>
      </p:sp>
      <p:sp>
        <p:nvSpPr>
          <p:cNvPr id="12" name="Shape 8"/>
          <p:cNvSpPr/>
          <p:nvPr/>
        </p:nvSpPr>
        <p:spPr>
          <a:xfrm>
            <a:off x="548640" y="2606040"/>
            <a:ext cx="11064240" cy="786384"/>
          </a:xfrm>
          <a:prstGeom prst="roundRect">
            <a:avLst>
              <a:gd name="adj" fmla="val 8140"/>
            </a:avLst>
          </a:prstGeom>
          <a:solidFill>
            <a:srgbClr val="FFFFFF"/>
          </a:solidFill>
          <a:ln w="12700">
            <a:solidFill>
              <a:srgbClr val="E4E7F0"/>
            </a:solidFill>
            <a:prstDash val="solid"/>
          </a:ln>
        </p:spPr>
      </p:sp>
      <p:sp>
        <p:nvSpPr>
          <p:cNvPr id="13" name="Shape 9"/>
          <p:cNvSpPr/>
          <p:nvPr/>
        </p:nvSpPr>
        <p:spPr>
          <a:xfrm>
            <a:off x="713232" y="2734056"/>
            <a:ext cx="530352" cy="530352"/>
          </a:xfrm>
          <a:prstGeom prst="ellipse">
            <a:avLst/>
          </a:prstGeom>
          <a:solidFill>
            <a:srgbClr val="1E2761"/>
          </a:solidFill>
          <a:ln/>
        </p:spPr>
      </p:sp>
      <p:pic>
        <p:nvPicPr>
          <p:cNvPr id="14" name="Image 2" descr="/home/claude/mrag/assets/icons/table.png">    </p:cNvPr>
          <p:cNvPicPr>
            <a:picLocks noChangeAspect="1"/>
          </p:cNvPicPr>
          <p:nvPr/>
        </p:nvPicPr>
        <p:blipFill>
          <a:blip r:embed="rId3"/>
          <a:stretch>
            <a:fillRect/>
          </a:stretch>
        </p:blipFill>
        <p:spPr>
          <a:xfrm>
            <a:off x="859536" y="2880360"/>
            <a:ext cx="237744" cy="237744"/>
          </a:xfrm>
          <a:prstGeom prst="rect">
            <a:avLst/>
          </a:prstGeom>
        </p:spPr>
      </p:pic>
      <p:sp>
        <p:nvSpPr>
          <p:cNvPr id="15" name="Text 10"/>
          <p:cNvSpPr/>
          <p:nvPr/>
        </p:nvSpPr>
        <p:spPr>
          <a:xfrm>
            <a:off x="1463040" y="2679192"/>
            <a:ext cx="1828800" cy="658368"/>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Table</a:t>
            </a:r>
            <a:endParaRPr lang="en-US" sz="1800" dirty="0"/>
          </a:p>
        </p:txBody>
      </p:sp>
      <p:sp>
        <p:nvSpPr>
          <p:cNvPr id="16" name="Shape 11"/>
          <p:cNvSpPr/>
          <p:nvPr/>
        </p:nvSpPr>
        <p:spPr>
          <a:xfrm>
            <a:off x="3383280" y="2843784"/>
            <a:ext cx="329184" cy="329184"/>
          </a:xfrm>
          <a:prstGeom prst="ellipse">
            <a:avLst/>
          </a:prstGeom>
          <a:solidFill>
            <a:srgbClr val="B4552B"/>
          </a:solidFill>
          <a:ln/>
        </p:spPr>
      </p:sp>
      <p:pic>
        <p:nvPicPr>
          <p:cNvPr id="17" name="Image 3" descr="/home/claude/mrag/assets/icons/cross.png">    </p:cNvPr>
          <p:cNvPicPr>
            <a:picLocks noChangeAspect="1"/>
          </p:cNvPicPr>
          <p:nvPr/>
        </p:nvPicPr>
        <p:blipFill>
          <a:blip r:embed="rId4"/>
          <a:stretch>
            <a:fillRect/>
          </a:stretch>
        </p:blipFill>
        <p:spPr>
          <a:xfrm>
            <a:off x="3438144" y="2898648"/>
            <a:ext cx="219456" cy="219456"/>
          </a:xfrm>
          <a:prstGeom prst="rect">
            <a:avLst/>
          </a:prstGeom>
        </p:spPr>
      </p:pic>
      <p:sp>
        <p:nvSpPr>
          <p:cNvPr id="18" name="Text 12"/>
          <p:cNvSpPr/>
          <p:nvPr/>
        </p:nvSpPr>
        <p:spPr>
          <a:xfrm>
            <a:off x="3794760" y="2679192"/>
            <a:ext cx="3291840" cy="658368"/>
          </a:xfrm>
          <a:prstGeom prst="rect">
            <a:avLst/>
          </a:prstGeom>
          <a:noFill/>
          <a:ln/>
        </p:spPr>
        <p:txBody>
          <a:bodyPr wrap="square" rtlCol="0" anchor="ctr"/>
          <a:lstStyle/>
          <a:p>
            <a:pPr indent="0" marL="0">
              <a:buNone/>
            </a:pPr>
            <a:r>
              <a:rPr lang="en-US" sz="1450" b="1" dirty="0">
                <a:solidFill>
                  <a:srgbClr val="B4552B"/>
                </a:solidFill>
                <a:latin typeface="Calibri" pitchFamily="34" charset="0"/>
                <a:ea typeface="Calibri" pitchFamily="34" charset="-122"/>
                <a:cs typeface="Calibri" pitchFamily="34" charset="-120"/>
              </a:rPr>
              <a:t>Loses structure</a:t>
            </a:r>
            <a:endParaRPr lang="en-US" sz="1450" dirty="0"/>
          </a:p>
        </p:txBody>
      </p:sp>
      <p:sp>
        <p:nvSpPr>
          <p:cNvPr id="19" name="Text 13"/>
          <p:cNvSpPr/>
          <p:nvPr/>
        </p:nvSpPr>
        <p:spPr>
          <a:xfrm>
            <a:off x="7223760" y="2679192"/>
            <a:ext cx="3931920" cy="658368"/>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Rows/columns flatten into noisy text</a:t>
            </a:r>
            <a:endParaRPr lang="en-US" sz="1250" dirty="0"/>
          </a:p>
        </p:txBody>
      </p:sp>
      <p:sp>
        <p:nvSpPr>
          <p:cNvPr id="20" name="Shape 14"/>
          <p:cNvSpPr/>
          <p:nvPr/>
        </p:nvSpPr>
        <p:spPr>
          <a:xfrm>
            <a:off x="548640" y="3520440"/>
            <a:ext cx="11064240" cy="786384"/>
          </a:xfrm>
          <a:prstGeom prst="roundRect">
            <a:avLst>
              <a:gd name="adj" fmla="val 8140"/>
            </a:avLst>
          </a:prstGeom>
          <a:solidFill>
            <a:srgbClr val="FFFFFF"/>
          </a:solidFill>
          <a:ln w="12700">
            <a:solidFill>
              <a:srgbClr val="E4E7F0"/>
            </a:solidFill>
            <a:prstDash val="solid"/>
          </a:ln>
        </p:spPr>
      </p:sp>
      <p:sp>
        <p:nvSpPr>
          <p:cNvPr id="21" name="Shape 15"/>
          <p:cNvSpPr/>
          <p:nvPr/>
        </p:nvSpPr>
        <p:spPr>
          <a:xfrm>
            <a:off x="713232" y="3648456"/>
            <a:ext cx="530352" cy="530352"/>
          </a:xfrm>
          <a:prstGeom prst="ellipse">
            <a:avLst/>
          </a:prstGeom>
          <a:solidFill>
            <a:srgbClr val="1E2761"/>
          </a:solidFill>
          <a:ln/>
        </p:spPr>
      </p:sp>
      <p:pic>
        <p:nvPicPr>
          <p:cNvPr id="22" name="Image 4" descr="/home/claude/mrag/assets/icons/chart.png">    </p:cNvPr>
          <p:cNvPicPr>
            <a:picLocks noChangeAspect="1"/>
          </p:cNvPicPr>
          <p:nvPr/>
        </p:nvPicPr>
        <p:blipFill>
          <a:blip r:embed="rId5"/>
          <a:stretch>
            <a:fillRect/>
          </a:stretch>
        </p:blipFill>
        <p:spPr>
          <a:xfrm>
            <a:off x="859536" y="3794760"/>
            <a:ext cx="237744" cy="237744"/>
          </a:xfrm>
          <a:prstGeom prst="rect">
            <a:avLst/>
          </a:prstGeom>
        </p:spPr>
      </p:pic>
      <p:sp>
        <p:nvSpPr>
          <p:cNvPr id="23" name="Text 16"/>
          <p:cNvSpPr/>
          <p:nvPr/>
        </p:nvSpPr>
        <p:spPr>
          <a:xfrm>
            <a:off x="1463040" y="3593592"/>
            <a:ext cx="1828800" cy="658368"/>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Chart</a:t>
            </a:r>
            <a:endParaRPr lang="en-US" sz="1800" dirty="0"/>
          </a:p>
        </p:txBody>
      </p:sp>
      <p:sp>
        <p:nvSpPr>
          <p:cNvPr id="24" name="Shape 17"/>
          <p:cNvSpPr/>
          <p:nvPr/>
        </p:nvSpPr>
        <p:spPr>
          <a:xfrm>
            <a:off x="3383280" y="3758184"/>
            <a:ext cx="329184" cy="329184"/>
          </a:xfrm>
          <a:prstGeom prst="ellipse">
            <a:avLst/>
          </a:prstGeom>
          <a:solidFill>
            <a:srgbClr val="B4552B"/>
          </a:solidFill>
          <a:ln/>
        </p:spPr>
      </p:sp>
      <p:pic>
        <p:nvPicPr>
          <p:cNvPr id="25" name="Image 5" descr="/home/claude/mrag/assets/icons/cross.png">    </p:cNvPr>
          <p:cNvPicPr>
            <a:picLocks noChangeAspect="1"/>
          </p:cNvPicPr>
          <p:nvPr/>
        </p:nvPicPr>
        <p:blipFill>
          <a:blip r:embed="rId6"/>
          <a:stretch>
            <a:fillRect/>
          </a:stretch>
        </p:blipFill>
        <p:spPr>
          <a:xfrm>
            <a:off x="3438144" y="3813048"/>
            <a:ext cx="219456" cy="219456"/>
          </a:xfrm>
          <a:prstGeom prst="rect">
            <a:avLst/>
          </a:prstGeom>
        </p:spPr>
      </p:pic>
      <p:sp>
        <p:nvSpPr>
          <p:cNvPr id="26" name="Text 18"/>
          <p:cNvSpPr/>
          <p:nvPr/>
        </p:nvSpPr>
        <p:spPr>
          <a:xfrm>
            <a:off x="3794760" y="3593592"/>
            <a:ext cx="3291840" cy="658368"/>
          </a:xfrm>
          <a:prstGeom prst="rect">
            <a:avLst/>
          </a:prstGeom>
          <a:noFill/>
          <a:ln/>
        </p:spPr>
        <p:txBody>
          <a:bodyPr wrap="square" rtlCol="0" anchor="ctr"/>
          <a:lstStyle/>
          <a:p>
            <a:pPr indent="0" marL="0">
              <a:buNone/>
            </a:pPr>
            <a:r>
              <a:rPr lang="en-US" sz="1450" b="1" dirty="0">
                <a:solidFill>
                  <a:srgbClr val="B4552B"/>
                </a:solidFill>
                <a:latin typeface="Calibri" pitchFamily="34" charset="0"/>
                <a:ea typeface="Calibri" pitchFamily="34" charset="-122"/>
                <a:cs typeface="Calibri" pitchFamily="34" charset="-120"/>
              </a:rPr>
              <a:t>Hard to interpret</a:t>
            </a:r>
            <a:endParaRPr lang="en-US" sz="1450" dirty="0"/>
          </a:p>
        </p:txBody>
      </p:sp>
      <p:sp>
        <p:nvSpPr>
          <p:cNvPr id="27" name="Text 19"/>
          <p:cNvSpPr/>
          <p:nvPr/>
        </p:nvSpPr>
        <p:spPr>
          <a:xfrm>
            <a:off x="7223760" y="3593592"/>
            <a:ext cx="3931920" cy="658368"/>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Trends &amp; values aren't 'readable' text</a:t>
            </a:r>
            <a:endParaRPr lang="en-US" sz="1250" dirty="0"/>
          </a:p>
        </p:txBody>
      </p:sp>
      <p:sp>
        <p:nvSpPr>
          <p:cNvPr id="28" name="Shape 20"/>
          <p:cNvSpPr/>
          <p:nvPr/>
        </p:nvSpPr>
        <p:spPr>
          <a:xfrm>
            <a:off x="548640" y="4434840"/>
            <a:ext cx="11064240" cy="786384"/>
          </a:xfrm>
          <a:prstGeom prst="roundRect">
            <a:avLst>
              <a:gd name="adj" fmla="val 8140"/>
            </a:avLst>
          </a:prstGeom>
          <a:solidFill>
            <a:srgbClr val="FFFFFF"/>
          </a:solidFill>
          <a:ln w="12700">
            <a:solidFill>
              <a:srgbClr val="E4E7F0"/>
            </a:solidFill>
            <a:prstDash val="solid"/>
          </a:ln>
        </p:spPr>
      </p:sp>
      <p:sp>
        <p:nvSpPr>
          <p:cNvPr id="29" name="Shape 21"/>
          <p:cNvSpPr/>
          <p:nvPr/>
        </p:nvSpPr>
        <p:spPr>
          <a:xfrm>
            <a:off x="713232" y="4562856"/>
            <a:ext cx="530352" cy="530352"/>
          </a:xfrm>
          <a:prstGeom prst="ellipse">
            <a:avLst/>
          </a:prstGeom>
          <a:solidFill>
            <a:srgbClr val="1E2761"/>
          </a:solidFill>
          <a:ln/>
        </p:spPr>
      </p:sp>
      <p:pic>
        <p:nvPicPr>
          <p:cNvPr id="30" name="Image 6" descr="/home/claude/mrag/assets/icons/image.png">    </p:cNvPr>
          <p:cNvPicPr>
            <a:picLocks noChangeAspect="1"/>
          </p:cNvPicPr>
          <p:nvPr/>
        </p:nvPicPr>
        <p:blipFill>
          <a:blip r:embed="rId7"/>
          <a:stretch>
            <a:fillRect/>
          </a:stretch>
        </p:blipFill>
        <p:spPr>
          <a:xfrm>
            <a:off x="859536" y="4709160"/>
            <a:ext cx="237744" cy="237744"/>
          </a:xfrm>
          <a:prstGeom prst="rect">
            <a:avLst/>
          </a:prstGeom>
        </p:spPr>
      </p:pic>
      <p:sp>
        <p:nvSpPr>
          <p:cNvPr id="31" name="Text 22"/>
          <p:cNvSpPr/>
          <p:nvPr/>
        </p:nvSpPr>
        <p:spPr>
          <a:xfrm>
            <a:off x="1463040" y="4507992"/>
            <a:ext cx="1828800" cy="658368"/>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Image</a:t>
            </a:r>
            <a:endParaRPr lang="en-US" sz="1800" dirty="0"/>
          </a:p>
        </p:txBody>
      </p:sp>
      <p:sp>
        <p:nvSpPr>
          <p:cNvPr id="32" name="Shape 23"/>
          <p:cNvSpPr/>
          <p:nvPr/>
        </p:nvSpPr>
        <p:spPr>
          <a:xfrm>
            <a:off x="3383280" y="4672584"/>
            <a:ext cx="329184" cy="329184"/>
          </a:xfrm>
          <a:prstGeom prst="ellipse">
            <a:avLst/>
          </a:prstGeom>
          <a:solidFill>
            <a:srgbClr val="B4552B"/>
          </a:solidFill>
          <a:ln/>
        </p:spPr>
      </p:sp>
      <p:pic>
        <p:nvPicPr>
          <p:cNvPr id="33" name="Image 7" descr="/home/claude/mrag/assets/icons/cross.png">    </p:cNvPr>
          <p:cNvPicPr>
            <a:picLocks noChangeAspect="1"/>
          </p:cNvPicPr>
          <p:nvPr/>
        </p:nvPicPr>
        <p:blipFill>
          <a:blip r:embed="rId8"/>
          <a:stretch>
            <a:fillRect/>
          </a:stretch>
        </p:blipFill>
        <p:spPr>
          <a:xfrm>
            <a:off x="3438144" y="4727448"/>
            <a:ext cx="219456" cy="219456"/>
          </a:xfrm>
          <a:prstGeom prst="rect">
            <a:avLst/>
          </a:prstGeom>
        </p:spPr>
      </p:pic>
      <p:sp>
        <p:nvSpPr>
          <p:cNvPr id="34" name="Text 24"/>
          <p:cNvSpPr/>
          <p:nvPr/>
        </p:nvSpPr>
        <p:spPr>
          <a:xfrm>
            <a:off x="3794760" y="4507992"/>
            <a:ext cx="3291840" cy="658368"/>
          </a:xfrm>
          <a:prstGeom prst="rect">
            <a:avLst/>
          </a:prstGeom>
          <a:noFill/>
          <a:ln/>
        </p:spPr>
        <p:txBody>
          <a:bodyPr wrap="square" rtlCol="0" anchor="ctr"/>
          <a:lstStyle/>
          <a:p>
            <a:pPr indent="0" marL="0">
              <a:buNone/>
            </a:pPr>
            <a:r>
              <a:rPr lang="en-US" sz="1450" b="1" dirty="0">
                <a:solidFill>
                  <a:srgbClr val="B4552B"/>
                </a:solidFill>
                <a:latin typeface="Calibri" pitchFamily="34" charset="0"/>
                <a:ea typeface="Calibri" pitchFamily="34" charset="-122"/>
                <a:cs typeface="Calibri" pitchFamily="34" charset="-120"/>
              </a:rPr>
              <a:t>Text embedding insufficient</a:t>
            </a:r>
            <a:endParaRPr lang="en-US" sz="1450" dirty="0"/>
          </a:p>
        </p:txBody>
      </p:sp>
      <p:sp>
        <p:nvSpPr>
          <p:cNvPr id="35" name="Text 25"/>
          <p:cNvSpPr/>
          <p:nvPr/>
        </p:nvSpPr>
        <p:spPr>
          <a:xfrm>
            <a:off x="7223760" y="4507992"/>
            <a:ext cx="3931920" cy="658368"/>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No pixels are represented at all</a:t>
            </a:r>
            <a:endParaRPr lang="en-US" sz="1250" dirty="0"/>
          </a:p>
        </p:txBody>
      </p:sp>
      <p:sp>
        <p:nvSpPr>
          <p:cNvPr id="36" name="Shape 26"/>
          <p:cNvSpPr/>
          <p:nvPr/>
        </p:nvSpPr>
        <p:spPr>
          <a:xfrm>
            <a:off x="548640" y="5349240"/>
            <a:ext cx="11064240" cy="786384"/>
          </a:xfrm>
          <a:prstGeom prst="roundRect">
            <a:avLst>
              <a:gd name="adj" fmla="val 8140"/>
            </a:avLst>
          </a:prstGeom>
          <a:solidFill>
            <a:srgbClr val="FFFFFF"/>
          </a:solidFill>
          <a:ln w="12700">
            <a:solidFill>
              <a:srgbClr val="E4E7F0"/>
            </a:solidFill>
            <a:prstDash val="solid"/>
          </a:ln>
        </p:spPr>
      </p:sp>
      <p:sp>
        <p:nvSpPr>
          <p:cNvPr id="37" name="Shape 27"/>
          <p:cNvSpPr/>
          <p:nvPr/>
        </p:nvSpPr>
        <p:spPr>
          <a:xfrm>
            <a:off x="713232" y="5477256"/>
            <a:ext cx="530352" cy="530352"/>
          </a:xfrm>
          <a:prstGeom prst="ellipse">
            <a:avLst/>
          </a:prstGeom>
          <a:solidFill>
            <a:srgbClr val="1E2761"/>
          </a:solidFill>
          <a:ln/>
        </p:spPr>
      </p:sp>
      <p:pic>
        <p:nvPicPr>
          <p:cNvPr id="38" name="Image 8" descr="/home/claude/mrag/assets/icons/video.png">    </p:cNvPr>
          <p:cNvPicPr>
            <a:picLocks noChangeAspect="1"/>
          </p:cNvPicPr>
          <p:nvPr/>
        </p:nvPicPr>
        <p:blipFill>
          <a:blip r:embed="rId9"/>
          <a:stretch>
            <a:fillRect/>
          </a:stretch>
        </p:blipFill>
        <p:spPr>
          <a:xfrm>
            <a:off x="859536" y="5623560"/>
            <a:ext cx="237744" cy="237744"/>
          </a:xfrm>
          <a:prstGeom prst="rect">
            <a:avLst/>
          </a:prstGeom>
        </p:spPr>
      </p:pic>
      <p:sp>
        <p:nvSpPr>
          <p:cNvPr id="39" name="Text 28"/>
          <p:cNvSpPr/>
          <p:nvPr/>
        </p:nvSpPr>
        <p:spPr>
          <a:xfrm>
            <a:off x="1463040" y="5422392"/>
            <a:ext cx="1828800" cy="658368"/>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Video</a:t>
            </a:r>
            <a:endParaRPr lang="en-US" sz="1800" dirty="0"/>
          </a:p>
        </p:txBody>
      </p:sp>
      <p:sp>
        <p:nvSpPr>
          <p:cNvPr id="40" name="Shape 29"/>
          <p:cNvSpPr/>
          <p:nvPr/>
        </p:nvSpPr>
        <p:spPr>
          <a:xfrm>
            <a:off x="3383280" y="5586984"/>
            <a:ext cx="329184" cy="329184"/>
          </a:xfrm>
          <a:prstGeom prst="ellipse">
            <a:avLst/>
          </a:prstGeom>
          <a:solidFill>
            <a:srgbClr val="B4552B"/>
          </a:solidFill>
          <a:ln/>
        </p:spPr>
      </p:sp>
      <p:pic>
        <p:nvPicPr>
          <p:cNvPr id="41" name="Image 9" descr="/home/claude/mrag/assets/icons/cross.png">    </p:cNvPr>
          <p:cNvPicPr>
            <a:picLocks noChangeAspect="1"/>
          </p:cNvPicPr>
          <p:nvPr/>
        </p:nvPicPr>
        <p:blipFill>
          <a:blip r:embed="rId10"/>
          <a:stretch>
            <a:fillRect/>
          </a:stretch>
        </p:blipFill>
        <p:spPr>
          <a:xfrm>
            <a:off x="3438144" y="5641848"/>
            <a:ext cx="219456" cy="219456"/>
          </a:xfrm>
          <a:prstGeom prst="rect">
            <a:avLst/>
          </a:prstGeom>
        </p:spPr>
      </p:pic>
      <p:sp>
        <p:nvSpPr>
          <p:cNvPr id="42" name="Text 30"/>
          <p:cNvSpPr/>
          <p:nvPr/>
        </p:nvSpPr>
        <p:spPr>
          <a:xfrm>
            <a:off x="3794760" y="5422392"/>
            <a:ext cx="3291840" cy="658368"/>
          </a:xfrm>
          <a:prstGeom prst="rect">
            <a:avLst/>
          </a:prstGeom>
          <a:noFill/>
          <a:ln/>
        </p:spPr>
        <p:txBody>
          <a:bodyPr wrap="square" rtlCol="0" anchor="ctr"/>
          <a:lstStyle/>
          <a:p>
            <a:pPr indent="0" marL="0">
              <a:buNone/>
            </a:pPr>
            <a:r>
              <a:rPr lang="en-US" sz="1450" b="1" dirty="0">
                <a:solidFill>
                  <a:srgbClr val="B4552B"/>
                </a:solidFill>
                <a:latin typeface="Calibri" pitchFamily="34" charset="0"/>
                <a:ea typeface="Calibri" pitchFamily="34" charset="-122"/>
                <a:cs typeface="Calibri" pitchFamily="34" charset="-120"/>
              </a:rPr>
              <a:t>Multiple info types at once</a:t>
            </a:r>
            <a:endParaRPr lang="en-US" sz="1450" dirty="0"/>
          </a:p>
        </p:txBody>
      </p:sp>
      <p:sp>
        <p:nvSpPr>
          <p:cNvPr id="43" name="Text 31"/>
          <p:cNvSpPr/>
          <p:nvPr/>
        </p:nvSpPr>
        <p:spPr>
          <a:xfrm>
            <a:off x="7223760" y="5422392"/>
            <a:ext cx="3931920" cy="658368"/>
          </a:xfrm>
          <a:prstGeom prst="rect">
            <a:avLst/>
          </a:prstGeom>
          <a:noFill/>
          <a:ln/>
        </p:spPr>
        <p:txBody>
          <a:bodyPr wrap="square"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Frames + audio + speech + on-screen text</a:t>
            </a:r>
            <a:endParaRPr lang="en-US" sz="1250" dirty="0"/>
          </a:p>
        </p:txBody>
      </p:sp>
      <p:sp>
        <p:nvSpPr>
          <p:cNvPr id="44" name="Text 32"/>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45" name="Text 33"/>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03 / 22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2 — THE PROBLEM</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Familiar PDF-RAG Pipeline</a:t>
            </a:r>
            <a:endParaRPr lang="en-US" sz="3200" dirty="0"/>
          </a:p>
        </p:txBody>
      </p:sp>
      <p:sp>
        <p:nvSpPr>
          <p:cNvPr id="4" name="Shape 2"/>
          <p:cNvSpPr/>
          <p:nvPr/>
        </p:nvSpPr>
        <p:spPr>
          <a:xfrm>
            <a:off x="457200" y="1874520"/>
            <a:ext cx="1355925"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5" name="Shape 3"/>
          <p:cNvSpPr/>
          <p:nvPr/>
        </p:nvSpPr>
        <p:spPr>
          <a:xfrm>
            <a:off x="933994" y="1993392"/>
            <a:ext cx="402336" cy="402336"/>
          </a:xfrm>
          <a:prstGeom prst="ellipse">
            <a:avLst/>
          </a:prstGeom>
          <a:solidFill>
            <a:srgbClr val="FF6B35"/>
          </a:solidFill>
          <a:ln/>
        </p:spPr>
      </p:sp>
      <p:pic>
        <p:nvPicPr>
          <p:cNvPr id="6" name="Image 0" descr="/home/claude/mrag/assets/icons/file_text.png">    </p:cNvPr>
          <p:cNvPicPr>
            <a:picLocks noChangeAspect="1"/>
          </p:cNvPicPr>
          <p:nvPr/>
        </p:nvPicPr>
        <p:blipFill>
          <a:blip r:embed="rId1"/>
          <a:stretch>
            <a:fillRect/>
          </a:stretch>
        </p:blipFill>
        <p:spPr>
          <a:xfrm>
            <a:off x="1006415" y="2065812"/>
            <a:ext cx="257495" cy="257495"/>
          </a:xfrm>
          <a:prstGeom prst="rect">
            <a:avLst/>
          </a:prstGeom>
        </p:spPr>
      </p:pic>
      <p:sp>
        <p:nvSpPr>
          <p:cNvPr id="7" name="Text 4"/>
          <p:cNvSpPr/>
          <p:nvPr/>
        </p:nvSpPr>
        <p:spPr>
          <a:xfrm>
            <a:off x="493776" y="2468880"/>
            <a:ext cx="1282773" cy="530352"/>
          </a:xfrm>
          <a:prstGeom prst="rect">
            <a:avLst/>
          </a:prstGeom>
          <a:noFill/>
          <a:ln/>
        </p:spPr>
        <p:txBody>
          <a:bodyPr wrap="square" rtlCol="0" anchor="t"/>
          <a:lstStyle/>
          <a:p>
            <a:pPr algn="ctr" indent="0" marL="0">
              <a:buNone/>
            </a:pPr>
            <a:r>
              <a:rPr lang="en-US" sz="1050" b="1" dirty="0">
                <a:solidFill>
                  <a:srgbClr val="222A42"/>
                </a:solidFill>
                <a:latin typeface="Calibri" pitchFamily="34" charset="0"/>
                <a:ea typeface="Calibri" pitchFamily="34" charset="-122"/>
                <a:cs typeface="Calibri" pitchFamily="34" charset="-120"/>
              </a:rPr>
              <a:t>PDF</a:t>
            </a:r>
            <a:endParaRPr lang="en-US" sz="1050" dirty="0"/>
          </a:p>
        </p:txBody>
      </p:sp>
      <p:sp>
        <p:nvSpPr>
          <p:cNvPr id="8" name="Shape 5"/>
          <p:cNvSpPr/>
          <p:nvPr/>
        </p:nvSpPr>
        <p:spPr>
          <a:xfrm>
            <a:off x="1836533" y="2372868"/>
            <a:ext cx="245791" cy="146304"/>
          </a:xfrm>
          <a:prstGeom prst="rightArrow">
            <a:avLst/>
          </a:prstGeom>
          <a:solidFill>
            <a:srgbClr val="AAB4CE"/>
          </a:solidFill>
          <a:ln/>
        </p:spPr>
      </p:sp>
      <p:sp>
        <p:nvSpPr>
          <p:cNvPr id="9" name="Shape 6"/>
          <p:cNvSpPr/>
          <p:nvPr/>
        </p:nvSpPr>
        <p:spPr>
          <a:xfrm>
            <a:off x="2105733" y="1874520"/>
            <a:ext cx="1355925"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0" name="Shape 7"/>
          <p:cNvSpPr/>
          <p:nvPr/>
        </p:nvSpPr>
        <p:spPr>
          <a:xfrm>
            <a:off x="2582527" y="1993392"/>
            <a:ext cx="402336" cy="402336"/>
          </a:xfrm>
          <a:prstGeom prst="ellipse">
            <a:avLst/>
          </a:prstGeom>
          <a:solidFill>
            <a:srgbClr val="FF6B35"/>
          </a:solidFill>
          <a:ln/>
        </p:spPr>
      </p:sp>
      <p:pic>
        <p:nvPicPr>
          <p:cNvPr id="11" name="Image 1" descr="/home/claude/mrag/assets/icons/layers.png">    </p:cNvPr>
          <p:cNvPicPr>
            <a:picLocks noChangeAspect="1"/>
          </p:cNvPicPr>
          <p:nvPr/>
        </p:nvPicPr>
        <p:blipFill>
          <a:blip r:embed="rId2"/>
          <a:stretch>
            <a:fillRect/>
          </a:stretch>
        </p:blipFill>
        <p:spPr>
          <a:xfrm>
            <a:off x="2654947" y="2065812"/>
            <a:ext cx="257495" cy="257495"/>
          </a:xfrm>
          <a:prstGeom prst="rect">
            <a:avLst/>
          </a:prstGeom>
        </p:spPr>
      </p:pic>
      <p:sp>
        <p:nvSpPr>
          <p:cNvPr id="12" name="Text 8"/>
          <p:cNvSpPr/>
          <p:nvPr/>
        </p:nvSpPr>
        <p:spPr>
          <a:xfrm>
            <a:off x="2142309" y="2468880"/>
            <a:ext cx="1282773" cy="530352"/>
          </a:xfrm>
          <a:prstGeom prst="rect">
            <a:avLst/>
          </a:prstGeom>
          <a:noFill/>
          <a:ln/>
        </p:spPr>
        <p:txBody>
          <a:bodyPr wrap="square" rtlCol="0" anchor="t"/>
          <a:lstStyle/>
          <a:p>
            <a:pPr algn="ctr" indent="0" marL="0">
              <a:buNone/>
            </a:pPr>
            <a:r>
              <a:rPr lang="en-US" sz="1050" b="1" dirty="0">
                <a:solidFill>
                  <a:srgbClr val="222A42"/>
                </a:solidFill>
                <a:latin typeface="Calibri" pitchFamily="34" charset="0"/>
                <a:ea typeface="Calibri" pitchFamily="34" charset="-122"/>
                <a:cs typeface="Calibri" pitchFamily="34" charset="-120"/>
              </a:rPr>
              <a:t>Text Extraction</a:t>
            </a:r>
            <a:endParaRPr lang="en-US" sz="1050" dirty="0"/>
          </a:p>
        </p:txBody>
      </p:sp>
      <p:sp>
        <p:nvSpPr>
          <p:cNvPr id="13" name="Shape 9"/>
          <p:cNvSpPr/>
          <p:nvPr/>
        </p:nvSpPr>
        <p:spPr>
          <a:xfrm>
            <a:off x="3485066" y="2372868"/>
            <a:ext cx="245791" cy="146304"/>
          </a:xfrm>
          <a:prstGeom prst="rightArrow">
            <a:avLst/>
          </a:prstGeom>
          <a:solidFill>
            <a:srgbClr val="AAB4CE"/>
          </a:solidFill>
          <a:ln/>
        </p:spPr>
      </p:sp>
      <p:sp>
        <p:nvSpPr>
          <p:cNvPr id="14" name="Shape 10"/>
          <p:cNvSpPr/>
          <p:nvPr/>
        </p:nvSpPr>
        <p:spPr>
          <a:xfrm>
            <a:off x="3754265" y="1874520"/>
            <a:ext cx="1355925"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5" name="Shape 11"/>
          <p:cNvSpPr/>
          <p:nvPr/>
        </p:nvSpPr>
        <p:spPr>
          <a:xfrm>
            <a:off x="4231059" y="1993392"/>
            <a:ext cx="402336" cy="402336"/>
          </a:xfrm>
          <a:prstGeom prst="ellipse">
            <a:avLst/>
          </a:prstGeom>
          <a:solidFill>
            <a:srgbClr val="FF6B35"/>
          </a:solidFill>
          <a:ln/>
        </p:spPr>
      </p:sp>
      <p:pic>
        <p:nvPicPr>
          <p:cNvPr id="16" name="Image 2" descr="/home/claude/mrag/assets/icons/scissors.png">    </p:cNvPr>
          <p:cNvPicPr>
            <a:picLocks noChangeAspect="1"/>
          </p:cNvPicPr>
          <p:nvPr/>
        </p:nvPicPr>
        <p:blipFill>
          <a:blip r:embed="rId3"/>
          <a:stretch>
            <a:fillRect/>
          </a:stretch>
        </p:blipFill>
        <p:spPr>
          <a:xfrm>
            <a:off x="4303480" y="2065812"/>
            <a:ext cx="257495" cy="257495"/>
          </a:xfrm>
          <a:prstGeom prst="rect">
            <a:avLst/>
          </a:prstGeom>
        </p:spPr>
      </p:pic>
      <p:sp>
        <p:nvSpPr>
          <p:cNvPr id="17" name="Text 12"/>
          <p:cNvSpPr/>
          <p:nvPr/>
        </p:nvSpPr>
        <p:spPr>
          <a:xfrm>
            <a:off x="3790841" y="2468880"/>
            <a:ext cx="1282773" cy="530352"/>
          </a:xfrm>
          <a:prstGeom prst="rect">
            <a:avLst/>
          </a:prstGeom>
          <a:noFill/>
          <a:ln/>
        </p:spPr>
        <p:txBody>
          <a:bodyPr wrap="square" rtlCol="0" anchor="t"/>
          <a:lstStyle/>
          <a:p>
            <a:pPr algn="ctr" indent="0" marL="0">
              <a:buNone/>
            </a:pPr>
            <a:r>
              <a:rPr lang="en-US" sz="1050" b="1" dirty="0">
                <a:solidFill>
                  <a:srgbClr val="222A42"/>
                </a:solidFill>
                <a:latin typeface="Calibri" pitchFamily="34" charset="0"/>
                <a:ea typeface="Calibri" pitchFamily="34" charset="-122"/>
                <a:cs typeface="Calibri" pitchFamily="34" charset="-120"/>
              </a:rPr>
              <a:t>Chunking</a:t>
            </a:r>
            <a:endParaRPr lang="en-US" sz="1050" dirty="0"/>
          </a:p>
        </p:txBody>
      </p:sp>
      <p:sp>
        <p:nvSpPr>
          <p:cNvPr id="18" name="Shape 13"/>
          <p:cNvSpPr/>
          <p:nvPr/>
        </p:nvSpPr>
        <p:spPr>
          <a:xfrm>
            <a:off x="5133598" y="2372868"/>
            <a:ext cx="245791" cy="146304"/>
          </a:xfrm>
          <a:prstGeom prst="rightArrow">
            <a:avLst/>
          </a:prstGeom>
          <a:solidFill>
            <a:srgbClr val="AAB4CE"/>
          </a:solidFill>
          <a:ln/>
        </p:spPr>
      </p:sp>
      <p:sp>
        <p:nvSpPr>
          <p:cNvPr id="19" name="Shape 14"/>
          <p:cNvSpPr/>
          <p:nvPr/>
        </p:nvSpPr>
        <p:spPr>
          <a:xfrm>
            <a:off x="5402798" y="1874520"/>
            <a:ext cx="1355925"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0" name="Shape 15"/>
          <p:cNvSpPr/>
          <p:nvPr/>
        </p:nvSpPr>
        <p:spPr>
          <a:xfrm>
            <a:off x="5879592" y="1993392"/>
            <a:ext cx="402336" cy="402336"/>
          </a:xfrm>
          <a:prstGeom prst="ellipse">
            <a:avLst/>
          </a:prstGeom>
          <a:solidFill>
            <a:srgbClr val="FF6B35"/>
          </a:solidFill>
          <a:ln/>
        </p:spPr>
      </p:sp>
      <p:pic>
        <p:nvPicPr>
          <p:cNvPr id="21" name="Image 3" descr="/home/claude/mrag/assets/icons/cube.png">    </p:cNvPr>
          <p:cNvPicPr>
            <a:picLocks noChangeAspect="1"/>
          </p:cNvPicPr>
          <p:nvPr/>
        </p:nvPicPr>
        <p:blipFill>
          <a:blip r:embed="rId4"/>
          <a:stretch>
            <a:fillRect/>
          </a:stretch>
        </p:blipFill>
        <p:spPr>
          <a:xfrm>
            <a:off x="5952012" y="2065812"/>
            <a:ext cx="257495" cy="257495"/>
          </a:xfrm>
          <a:prstGeom prst="rect">
            <a:avLst/>
          </a:prstGeom>
        </p:spPr>
      </p:pic>
      <p:sp>
        <p:nvSpPr>
          <p:cNvPr id="22" name="Text 16"/>
          <p:cNvSpPr/>
          <p:nvPr/>
        </p:nvSpPr>
        <p:spPr>
          <a:xfrm>
            <a:off x="5439374" y="2468880"/>
            <a:ext cx="1282773" cy="530352"/>
          </a:xfrm>
          <a:prstGeom prst="rect">
            <a:avLst/>
          </a:prstGeom>
          <a:noFill/>
          <a:ln/>
        </p:spPr>
        <p:txBody>
          <a:bodyPr wrap="square" rtlCol="0" anchor="t"/>
          <a:lstStyle/>
          <a:p>
            <a:pPr algn="ctr" indent="0" marL="0">
              <a:buNone/>
            </a:pPr>
            <a:r>
              <a:rPr lang="en-US" sz="1050" b="1" dirty="0">
                <a:solidFill>
                  <a:srgbClr val="222A42"/>
                </a:solidFill>
                <a:latin typeface="Calibri" pitchFamily="34" charset="0"/>
                <a:ea typeface="Calibri" pitchFamily="34" charset="-122"/>
                <a:cs typeface="Calibri" pitchFamily="34" charset="-120"/>
              </a:rPr>
              <a:t>Embeddings</a:t>
            </a:r>
            <a:endParaRPr lang="en-US" sz="1050" dirty="0"/>
          </a:p>
        </p:txBody>
      </p:sp>
      <p:sp>
        <p:nvSpPr>
          <p:cNvPr id="23" name="Shape 17"/>
          <p:cNvSpPr/>
          <p:nvPr/>
        </p:nvSpPr>
        <p:spPr>
          <a:xfrm>
            <a:off x="6782131" y="2372868"/>
            <a:ext cx="245791" cy="146304"/>
          </a:xfrm>
          <a:prstGeom prst="rightArrow">
            <a:avLst/>
          </a:prstGeom>
          <a:solidFill>
            <a:srgbClr val="AAB4CE"/>
          </a:solidFill>
          <a:ln/>
        </p:spPr>
      </p:sp>
      <p:sp>
        <p:nvSpPr>
          <p:cNvPr id="24" name="Shape 18"/>
          <p:cNvSpPr/>
          <p:nvPr/>
        </p:nvSpPr>
        <p:spPr>
          <a:xfrm>
            <a:off x="7051330" y="1874520"/>
            <a:ext cx="1355925"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5" name="Shape 19"/>
          <p:cNvSpPr/>
          <p:nvPr/>
        </p:nvSpPr>
        <p:spPr>
          <a:xfrm>
            <a:off x="7528125" y="1993392"/>
            <a:ext cx="402336" cy="402336"/>
          </a:xfrm>
          <a:prstGeom prst="ellipse">
            <a:avLst/>
          </a:prstGeom>
          <a:solidFill>
            <a:srgbClr val="FF6B35"/>
          </a:solidFill>
          <a:ln/>
        </p:spPr>
      </p:sp>
      <p:pic>
        <p:nvPicPr>
          <p:cNvPr id="26" name="Image 4" descr="/home/claude/mrag/assets/icons/database.png">    </p:cNvPr>
          <p:cNvPicPr>
            <a:picLocks noChangeAspect="1"/>
          </p:cNvPicPr>
          <p:nvPr/>
        </p:nvPicPr>
        <p:blipFill>
          <a:blip r:embed="rId5"/>
          <a:stretch>
            <a:fillRect/>
          </a:stretch>
        </p:blipFill>
        <p:spPr>
          <a:xfrm>
            <a:off x="7600545" y="2065812"/>
            <a:ext cx="257495" cy="257495"/>
          </a:xfrm>
          <a:prstGeom prst="rect">
            <a:avLst/>
          </a:prstGeom>
        </p:spPr>
      </p:pic>
      <p:sp>
        <p:nvSpPr>
          <p:cNvPr id="27" name="Text 20"/>
          <p:cNvSpPr/>
          <p:nvPr/>
        </p:nvSpPr>
        <p:spPr>
          <a:xfrm>
            <a:off x="7087906" y="2468880"/>
            <a:ext cx="1282773" cy="530352"/>
          </a:xfrm>
          <a:prstGeom prst="rect">
            <a:avLst/>
          </a:prstGeom>
          <a:noFill/>
          <a:ln/>
        </p:spPr>
        <p:txBody>
          <a:bodyPr wrap="square" rtlCol="0" anchor="t"/>
          <a:lstStyle/>
          <a:p>
            <a:pPr algn="ctr" indent="0" marL="0">
              <a:buNone/>
            </a:pPr>
            <a:r>
              <a:rPr lang="en-US" sz="1050" b="1" dirty="0">
                <a:solidFill>
                  <a:srgbClr val="222A42"/>
                </a:solidFill>
                <a:latin typeface="Calibri" pitchFamily="34" charset="0"/>
                <a:ea typeface="Calibri" pitchFamily="34" charset="-122"/>
                <a:cs typeface="Calibri" pitchFamily="34" charset="-120"/>
              </a:rPr>
              <a:t>Vector DB</a:t>
            </a:r>
            <a:endParaRPr lang="en-US" sz="1050" dirty="0"/>
          </a:p>
        </p:txBody>
      </p:sp>
      <p:sp>
        <p:nvSpPr>
          <p:cNvPr id="28" name="Shape 21"/>
          <p:cNvSpPr/>
          <p:nvPr/>
        </p:nvSpPr>
        <p:spPr>
          <a:xfrm>
            <a:off x="8430663" y="2372868"/>
            <a:ext cx="245791" cy="146304"/>
          </a:xfrm>
          <a:prstGeom prst="rightArrow">
            <a:avLst/>
          </a:prstGeom>
          <a:solidFill>
            <a:srgbClr val="AAB4CE"/>
          </a:solidFill>
          <a:ln/>
        </p:spPr>
      </p:sp>
      <p:sp>
        <p:nvSpPr>
          <p:cNvPr id="29" name="Shape 22"/>
          <p:cNvSpPr/>
          <p:nvPr/>
        </p:nvSpPr>
        <p:spPr>
          <a:xfrm>
            <a:off x="8699863" y="1874520"/>
            <a:ext cx="1355925"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30" name="Shape 23"/>
          <p:cNvSpPr/>
          <p:nvPr/>
        </p:nvSpPr>
        <p:spPr>
          <a:xfrm>
            <a:off x="9176657" y="1993392"/>
            <a:ext cx="402336" cy="402336"/>
          </a:xfrm>
          <a:prstGeom prst="ellipse">
            <a:avLst/>
          </a:prstGeom>
          <a:solidFill>
            <a:srgbClr val="FF6B35"/>
          </a:solidFill>
          <a:ln/>
        </p:spPr>
      </p:sp>
      <p:pic>
        <p:nvPicPr>
          <p:cNvPr id="31" name="Image 5" descr="/home/claude/mrag/assets/icons/search.png">    </p:cNvPr>
          <p:cNvPicPr>
            <a:picLocks noChangeAspect="1"/>
          </p:cNvPicPr>
          <p:nvPr/>
        </p:nvPicPr>
        <p:blipFill>
          <a:blip r:embed="rId6"/>
          <a:stretch>
            <a:fillRect/>
          </a:stretch>
        </p:blipFill>
        <p:spPr>
          <a:xfrm>
            <a:off x="9249078" y="2065812"/>
            <a:ext cx="257495" cy="257495"/>
          </a:xfrm>
          <a:prstGeom prst="rect">
            <a:avLst/>
          </a:prstGeom>
        </p:spPr>
      </p:pic>
      <p:sp>
        <p:nvSpPr>
          <p:cNvPr id="32" name="Text 24"/>
          <p:cNvSpPr/>
          <p:nvPr/>
        </p:nvSpPr>
        <p:spPr>
          <a:xfrm>
            <a:off x="8736439" y="2468880"/>
            <a:ext cx="1282773" cy="530352"/>
          </a:xfrm>
          <a:prstGeom prst="rect">
            <a:avLst/>
          </a:prstGeom>
          <a:noFill/>
          <a:ln/>
        </p:spPr>
        <p:txBody>
          <a:bodyPr wrap="square" rtlCol="0" anchor="t"/>
          <a:lstStyle/>
          <a:p>
            <a:pPr algn="ctr" indent="0" marL="0">
              <a:buNone/>
            </a:pPr>
            <a:r>
              <a:rPr lang="en-US" sz="1050" b="1" dirty="0">
                <a:solidFill>
                  <a:srgbClr val="222A42"/>
                </a:solidFill>
                <a:latin typeface="Calibri" pitchFamily="34" charset="0"/>
                <a:ea typeface="Calibri" pitchFamily="34" charset="-122"/>
                <a:cs typeface="Calibri" pitchFamily="34" charset="-120"/>
              </a:rPr>
              <a:t>Retriever</a:t>
            </a:r>
            <a:endParaRPr lang="en-US" sz="1050" dirty="0"/>
          </a:p>
        </p:txBody>
      </p:sp>
      <p:sp>
        <p:nvSpPr>
          <p:cNvPr id="33" name="Shape 25"/>
          <p:cNvSpPr/>
          <p:nvPr/>
        </p:nvSpPr>
        <p:spPr>
          <a:xfrm>
            <a:off x="10079196" y="2372868"/>
            <a:ext cx="245791" cy="146304"/>
          </a:xfrm>
          <a:prstGeom prst="rightArrow">
            <a:avLst/>
          </a:prstGeom>
          <a:solidFill>
            <a:srgbClr val="AAB4CE"/>
          </a:solidFill>
          <a:ln/>
        </p:spPr>
      </p:sp>
      <p:sp>
        <p:nvSpPr>
          <p:cNvPr id="34" name="Shape 26"/>
          <p:cNvSpPr/>
          <p:nvPr/>
        </p:nvSpPr>
        <p:spPr>
          <a:xfrm>
            <a:off x="10348395" y="1874520"/>
            <a:ext cx="1355925"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35" name="Shape 27"/>
          <p:cNvSpPr/>
          <p:nvPr/>
        </p:nvSpPr>
        <p:spPr>
          <a:xfrm>
            <a:off x="10825190" y="1993392"/>
            <a:ext cx="402336" cy="402336"/>
          </a:xfrm>
          <a:prstGeom prst="ellipse">
            <a:avLst/>
          </a:prstGeom>
          <a:solidFill>
            <a:srgbClr val="FF6B35"/>
          </a:solidFill>
          <a:ln/>
        </p:spPr>
      </p:sp>
      <p:pic>
        <p:nvPicPr>
          <p:cNvPr id="36" name="Image 6" descr="/home/claude/mrag/assets/icons/robot.png">    </p:cNvPr>
          <p:cNvPicPr>
            <a:picLocks noChangeAspect="1"/>
          </p:cNvPicPr>
          <p:nvPr/>
        </p:nvPicPr>
        <p:blipFill>
          <a:blip r:embed="rId7"/>
          <a:stretch>
            <a:fillRect/>
          </a:stretch>
        </p:blipFill>
        <p:spPr>
          <a:xfrm>
            <a:off x="10897610" y="2065812"/>
            <a:ext cx="257495" cy="257495"/>
          </a:xfrm>
          <a:prstGeom prst="rect">
            <a:avLst/>
          </a:prstGeom>
        </p:spPr>
      </p:pic>
      <p:sp>
        <p:nvSpPr>
          <p:cNvPr id="37" name="Text 28"/>
          <p:cNvSpPr/>
          <p:nvPr/>
        </p:nvSpPr>
        <p:spPr>
          <a:xfrm>
            <a:off x="10384971" y="2468880"/>
            <a:ext cx="1282773" cy="530352"/>
          </a:xfrm>
          <a:prstGeom prst="rect">
            <a:avLst/>
          </a:prstGeom>
          <a:noFill/>
          <a:ln/>
        </p:spPr>
        <p:txBody>
          <a:bodyPr wrap="square" rtlCol="0" anchor="t"/>
          <a:lstStyle/>
          <a:p>
            <a:pPr algn="ctr" indent="0" marL="0">
              <a:buNone/>
            </a:pPr>
            <a:r>
              <a:rPr lang="en-US" sz="1050" b="1" dirty="0">
                <a:solidFill>
                  <a:srgbClr val="222A42"/>
                </a:solidFill>
                <a:latin typeface="Calibri" pitchFamily="34" charset="0"/>
                <a:ea typeface="Calibri" pitchFamily="34" charset="-122"/>
                <a:cs typeface="Calibri" pitchFamily="34" charset="-120"/>
              </a:rPr>
              <a:t>LLM</a:t>
            </a:r>
            <a:endParaRPr lang="en-US" sz="1050" dirty="0"/>
          </a:p>
        </p:txBody>
      </p:sp>
      <p:sp>
        <p:nvSpPr>
          <p:cNvPr id="38" name="Shape 29"/>
          <p:cNvSpPr/>
          <p:nvPr/>
        </p:nvSpPr>
        <p:spPr>
          <a:xfrm>
            <a:off x="2194560" y="3520440"/>
            <a:ext cx="7772400" cy="1005840"/>
          </a:xfrm>
          <a:prstGeom prst="roundRect">
            <a:avLst>
              <a:gd name="adj" fmla="val 7273"/>
            </a:avLst>
          </a:prstGeom>
          <a:solidFill>
            <a:srgbClr val="1E2761"/>
          </a:solidFill>
          <a:ln/>
        </p:spPr>
      </p:sp>
      <p:pic>
        <p:nvPicPr>
          <p:cNvPr id="39" name="Image 7" descr="/home/claude/mrag/assets/icons/cross.png">    </p:cNvPr>
          <p:cNvPicPr>
            <a:picLocks noChangeAspect="1"/>
          </p:cNvPicPr>
          <p:nvPr/>
        </p:nvPicPr>
        <p:blipFill>
          <a:blip r:embed="rId8"/>
          <a:stretch>
            <a:fillRect/>
          </a:stretch>
        </p:blipFill>
        <p:spPr>
          <a:xfrm>
            <a:off x="2423160" y="3794760"/>
            <a:ext cx="457200" cy="457200"/>
          </a:xfrm>
          <a:prstGeom prst="rect">
            <a:avLst/>
          </a:prstGeom>
        </p:spPr>
      </p:pic>
      <p:sp>
        <p:nvSpPr>
          <p:cNvPr id="40" name="Text 30"/>
          <p:cNvSpPr/>
          <p:nvPr/>
        </p:nvSpPr>
        <p:spPr>
          <a:xfrm>
            <a:off x="3017520" y="3566160"/>
            <a:ext cx="6766560" cy="9144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Only the text is being represented — tables, charts, images and video never enter the pipeline.</a:t>
            </a:r>
            <a:endParaRPr lang="en-US" sz="1600" dirty="0"/>
          </a:p>
        </p:txBody>
      </p:sp>
      <p:sp>
        <p:nvSpPr>
          <p:cNvPr id="41" name="Text 31"/>
          <p:cNvSpPr/>
          <p:nvPr/>
        </p:nvSpPr>
        <p:spPr>
          <a:xfrm>
            <a:off x="548640" y="4846320"/>
            <a:ext cx="10515600" cy="54864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This is the pipeline you already know from PDF-based RAG. It's the baseline we'll extend today.</a:t>
            </a:r>
            <a:endParaRPr lang="en-US" sz="1400" dirty="0"/>
          </a:p>
        </p:txBody>
      </p:sp>
      <p:sp>
        <p:nvSpPr>
          <p:cNvPr id="42" name="Text 32"/>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43" name="Text 33"/>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04 / 22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326880" y="-1828800"/>
            <a:ext cx="5486400" cy="5486400"/>
          </a:xfrm>
          <a:prstGeom prst="ellipse">
            <a:avLst/>
          </a:prstGeom>
          <a:solidFill>
            <a:srgbClr val="1E2761"/>
          </a:solidFill>
          <a:ln/>
        </p:spPr>
      </p:sp>
      <p:sp>
        <p:nvSpPr>
          <p:cNvPr id="3" name="Text 1"/>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SECTION 3 — WHAT IS MULTIMODAL RAG?</a:t>
            </a:r>
            <a:endParaRPr lang="en-US" sz="1300" dirty="0"/>
          </a:p>
        </p:txBody>
      </p:sp>
      <p:sp>
        <p:nvSpPr>
          <p:cNvPr id="4" name="Text 2"/>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Defining Multimodal RAG</a:t>
            </a:r>
            <a:endParaRPr lang="en-US" sz="3200" dirty="0"/>
          </a:p>
        </p:txBody>
      </p:sp>
      <p:sp>
        <p:nvSpPr>
          <p:cNvPr id="5" name="Shape 3"/>
          <p:cNvSpPr/>
          <p:nvPr/>
        </p:nvSpPr>
        <p:spPr>
          <a:xfrm>
            <a:off x="548640" y="1920240"/>
            <a:ext cx="9692640" cy="1920240"/>
          </a:xfrm>
          <a:prstGeom prst="roundRect">
            <a:avLst>
              <a:gd name="adj" fmla="val 4762"/>
            </a:avLst>
          </a:prstGeom>
          <a:solidFill>
            <a:srgbClr val="1B2450"/>
          </a:solidFill>
          <a:ln w="12700">
            <a:solidFill>
              <a:srgbClr val="2E3868"/>
            </a:solidFill>
            <a:prstDash val="solid"/>
          </a:ln>
        </p:spPr>
      </p:sp>
      <p:sp>
        <p:nvSpPr>
          <p:cNvPr id="6" name="Text 4"/>
          <p:cNvSpPr/>
          <p:nvPr/>
        </p:nvSpPr>
        <p:spPr>
          <a:xfrm>
            <a:off x="914400" y="2194560"/>
            <a:ext cx="8961120" cy="1371600"/>
          </a:xfrm>
          <a:prstGeom prst="rect">
            <a:avLst/>
          </a:prstGeom>
          <a:noFill/>
          <a:ln/>
        </p:spPr>
        <p:txBody>
          <a:bodyPr wrap="square" rtlCol="0" anchor="ctr"/>
          <a:lstStyle/>
          <a:p>
            <a:pPr indent="0" marL="0">
              <a:lnSpc>
                <a:spcPct val="125000"/>
              </a:lnSpc>
              <a:buNone/>
            </a:pPr>
            <a:r>
              <a:rPr lang="en-US" sz="2200" b="1" dirty="0">
                <a:solidFill>
                  <a:srgbClr val="FF6B35"/>
                </a:solidFill>
                <a:latin typeface="Cambria" pitchFamily="34" charset="0"/>
                <a:ea typeface="Cambria" pitchFamily="34" charset="-122"/>
                <a:cs typeface="Cambria" pitchFamily="34" charset="-120"/>
              </a:rPr>
              <a:t>Multimodal RAG </a:t>
            </a:r>
            <a:pPr indent="0" marL="0">
              <a:lnSpc>
                <a:spcPct val="125000"/>
              </a:lnSpc>
              <a:buNone/>
            </a:pPr>
            <a:r>
              <a:rPr lang="en-US" sz="2200" dirty="0">
                <a:solidFill>
                  <a:srgbClr val="FFFFFF"/>
                </a:solidFill>
                <a:latin typeface="Cambria" pitchFamily="34" charset="0"/>
                <a:ea typeface="Cambria" pitchFamily="34" charset="-122"/>
                <a:cs typeface="Cambria" pitchFamily="34" charset="-120"/>
              </a:rPr>
              <a:t>retrieves information from </a:t>
            </a:r>
            <a:pPr indent="0" marL="0">
              <a:lnSpc>
                <a:spcPct val="125000"/>
              </a:lnSpc>
              <a:buNone/>
            </a:pPr>
            <a:r>
              <a:rPr lang="en-US" sz="2200" b="1" dirty="0">
                <a:solidFill>
                  <a:srgbClr val="CADCFC"/>
                </a:solidFill>
                <a:latin typeface="Cambria" pitchFamily="34" charset="0"/>
                <a:ea typeface="Cambria" pitchFamily="34" charset="-122"/>
                <a:cs typeface="Cambria" pitchFamily="34" charset="-120"/>
              </a:rPr>
              <a:t>multiple types of data</a:t>
            </a:r>
            <a:pPr indent="0" marL="0">
              <a:lnSpc>
                <a:spcPct val="125000"/>
              </a:lnSpc>
              <a:buNone/>
            </a:pPr>
            <a:r>
              <a:rPr lang="en-US" sz="2200" dirty="0">
                <a:solidFill>
                  <a:srgbClr val="FFFFFF"/>
                </a:solidFill>
                <a:latin typeface="Cambria" pitchFamily="34" charset="0"/>
                <a:ea typeface="Cambria" pitchFamily="34" charset="-122"/>
                <a:cs typeface="Cambria" pitchFamily="34" charset="-120"/>
              </a:rPr>
              <a:t> and provides the relevant information to a model capable of </a:t>
            </a:r>
            <a:pPr indent="0" marL="0">
              <a:lnSpc>
                <a:spcPct val="125000"/>
              </a:lnSpc>
              <a:buNone/>
            </a:pPr>
            <a:r>
              <a:rPr lang="en-US" sz="2200" b="1" dirty="0">
                <a:solidFill>
                  <a:srgbClr val="CADCFC"/>
                </a:solidFill>
                <a:latin typeface="Cambria" pitchFamily="34" charset="0"/>
                <a:ea typeface="Cambria" pitchFamily="34" charset="-122"/>
                <a:cs typeface="Cambria" pitchFamily="34" charset="-120"/>
              </a:rPr>
              <a:t>understanding those modalities.</a:t>
            </a:r>
            <a:endParaRPr lang="en-US" sz="2200" dirty="0"/>
          </a:p>
        </p:txBody>
      </p:sp>
      <p:sp>
        <p:nvSpPr>
          <p:cNvPr id="7" name="Shape 5"/>
          <p:cNvSpPr/>
          <p:nvPr/>
        </p:nvSpPr>
        <p:spPr>
          <a:xfrm>
            <a:off x="777240" y="4297680"/>
            <a:ext cx="685800" cy="685800"/>
          </a:xfrm>
          <a:prstGeom prst="ellipse">
            <a:avLst/>
          </a:prstGeom>
          <a:solidFill>
            <a:srgbClr val="1C7293"/>
          </a:solidFill>
          <a:ln/>
        </p:spPr>
      </p:sp>
      <p:pic>
        <p:nvPicPr>
          <p:cNvPr id="8" name="Image 0" descr="/home/claude/mrag/assets/icons/file_text.png">    </p:cNvPr>
          <p:cNvPicPr>
            <a:picLocks noChangeAspect="1"/>
          </p:cNvPicPr>
          <p:nvPr/>
        </p:nvPicPr>
        <p:blipFill>
          <a:blip r:embed="rId1"/>
          <a:stretch>
            <a:fillRect/>
          </a:stretch>
        </p:blipFill>
        <p:spPr>
          <a:xfrm>
            <a:off x="923544" y="4443984"/>
            <a:ext cx="393192" cy="393192"/>
          </a:xfrm>
          <a:prstGeom prst="rect">
            <a:avLst/>
          </a:prstGeom>
        </p:spPr>
      </p:pic>
      <p:sp>
        <p:nvSpPr>
          <p:cNvPr id="9" name="Text 6"/>
          <p:cNvSpPr/>
          <p:nvPr/>
        </p:nvSpPr>
        <p:spPr>
          <a:xfrm>
            <a:off x="548640" y="5047488"/>
            <a:ext cx="1143000" cy="32004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Text</a:t>
            </a:r>
            <a:endParaRPr lang="en-US" sz="1250" dirty="0"/>
          </a:p>
        </p:txBody>
      </p:sp>
      <p:sp>
        <p:nvSpPr>
          <p:cNvPr id="10" name="Shape 7"/>
          <p:cNvSpPr/>
          <p:nvPr/>
        </p:nvSpPr>
        <p:spPr>
          <a:xfrm>
            <a:off x="2194560" y="4297680"/>
            <a:ext cx="685800" cy="685800"/>
          </a:xfrm>
          <a:prstGeom prst="ellipse">
            <a:avLst/>
          </a:prstGeom>
          <a:solidFill>
            <a:srgbClr val="1C7293"/>
          </a:solidFill>
          <a:ln/>
        </p:spPr>
      </p:sp>
      <p:pic>
        <p:nvPicPr>
          <p:cNvPr id="11" name="Image 1" descr="/home/claude/mrag/assets/icons/table.png">    </p:cNvPr>
          <p:cNvPicPr>
            <a:picLocks noChangeAspect="1"/>
          </p:cNvPicPr>
          <p:nvPr/>
        </p:nvPicPr>
        <p:blipFill>
          <a:blip r:embed="rId2"/>
          <a:stretch>
            <a:fillRect/>
          </a:stretch>
        </p:blipFill>
        <p:spPr>
          <a:xfrm>
            <a:off x="2340864" y="4443984"/>
            <a:ext cx="393192" cy="393192"/>
          </a:xfrm>
          <a:prstGeom prst="rect">
            <a:avLst/>
          </a:prstGeom>
        </p:spPr>
      </p:pic>
      <p:sp>
        <p:nvSpPr>
          <p:cNvPr id="12" name="Text 8"/>
          <p:cNvSpPr/>
          <p:nvPr/>
        </p:nvSpPr>
        <p:spPr>
          <a:xfrm>
            <a:off x="1965960" y="5047488"/>
            <a:ext cx="1143000" cy="32004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Tables</a:t>
            </a:r>
            <a:endParaRPr lang="en-US" sz="1250" dirty="0"/>
          </a:p>
        </p:txBody>
      </p:sp>
      <p:sp>
        <p:nvSpPr>
          <p:cNvPr id="13" name="Shape 9"/>
          <p:cNvSpPr/>
          <p:nvPr/>
        </p:nvSpPr>
        <p:spPr>
          <a:xfrm>
            <a:off x="3611880" y="4297680"/>
            <a:ext cx="685800" cy="685800"/>
          </a:xfrm>
          <a:prstGeom prst="ellipse">
            <a:avLst/>
          </a:prstGeom>
          <a:solidFill>
            <a:srgbClr val="1C7293"/>
          </a:solidFill>
          <a:ln/>
        </p:spPr>
      </p:sp>
      <p:pic>
        <p:nvPicPr>
          <p:cNvPr id="14" name="Image 2" descr="/home/claude/mrag/assets/icons/chart.png">    </p:cNvPr>
          <p:cNvPicPr>
            <a:picLocks noChangeAspect="1"/>
          </p:cNvPicPr>
          <p:nvPr/>
        </p:nvPicPr>
        <p:blipFill>
          <a:blip r:embed="rId3"/>
          <a:stretch>
            <a:fillRect/>
          </a:stretch>
        </p:blipFill>
        <p:spPr>
          <a:xfrm>
            <a:off x="3758184" y="4443984"/>
            <a:ext cx="393192" cy="393192"/>
          </a:xfrm>
          <a:prstGeom prst="rect">
            <a:avLst/>
          </a:prstGeom>
        </p:spPr>
      </p:pic>
      <p:sp>
        <p:nvSpPr>
          <p:cNvPr id="15" name="Text 10"/>
          <p:cNvSpPr/>
          <p:nvPr/>
        </p:nvSpPr>
        <p:spPr>
          <a:xfrm>
            <a:off x="3383280" y="5047488"/>
            <a:ext cx="1143000" cy="32004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Charts</a:t>
            </a:r>
            <a:endParaRPr lang="en-US" sz="1250" dirty="0"/>
          </a:p>
        </p:txBody>
      </p:sp>
      <p:sp>
        <p:nvSpPr>
          <p:cNvPr id="16" name="Shape 11"/>
          <p:cNvSpPr/>
          <p:nvPr/>
        </p:nvSpPr>
        <p:spPr>
          <a:xfrm>
            <a:off x="5029200" y="4297680"/>
            <a:ext cx="685800" cy="685800"/>
          </a:xfrm>
          <a:prstGeom prst="ellipse">
            <a:avLst/>
          </a:prstGeom>
          <a:solidFill>
            <a:srgbClr val="1C7293"/>
          </a:solidFill>
          <a:ln/>
        </p:spPr>
      </p:sp>
      <p:pic>
        <p:nvPicPr>
          <p:cNvPr id="17" name="Image 3" descr="/home/claude/mrag/assets/icons/image.png">    </p:cNvPr>
          <p:cNvPicPr>
            <a:picLocks noChangeAspect="1"/>
          </p:cNvPicPr>
          <p:nvPr/>
        </p:nvPicPr>
        <p:blipFill>
          <a:blip r:embed="rId4"/>
          <a:stretch>
            <a:fillRect/>
          </a:stretch>
        </p:blipFill>
        <p:spPr>
          <a:xfrm>
            <a:off x="5175504" y="4443984"/>
            <a:ext cx="393192" cy="393192"/>
          </a:xfrm>
          <a:prstGeom prst="rect">
            <a:avLst/>
          </a:prstGeom>
        </p:spPr>
      </p:pic>
      <p:sp>
        <p:nvSpPr>
          <p:cNvPr id="18" name="Text 12"/>
          <p:cNvSpPr/>
          <p:nvPr/>
        </p:nvSpPr>
        <p:spPr>
          <a:xfrm>
            <a:off x="4800600" y="5047488"/>
            <a:ext cx="1143000" cy="32004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Images</a:t>
            </a:r>
            <a:endParaRPr lang="en-US" sz="1250" dirty="0"/>
          </a:p>
        </p:txBody>
      </p:sp>
      <p:sp>
        <p:nvSpPr>
          <p:cNvPr id="19" name="Shape 13"/>
          <p:cNvSpPr/>
          <p:nvPr/>
        </p:nvSpPr>
        <p:spPr>
          <a:xfrm>
            <a:off x="6446520" y="4297680"/>
            <a:ext cx="685800" cy="685800"/>
          </a:xfrm>
          <a:prstGeom prst="ellipse">
            <a:avLst/>
          </a:prstGeom>
          <a:solidFill>
            <a:srgbClr val="1C7293"/>
          </a:solidFill>
          <a:ln/>
        </p:spPr>
      </p:sp>
      <p:pic>
        <p:nvPicPr>
          <p:cNvPr id="20" name="Image 4" descr="/home/claude/mrag/assets/icons/video.png">    </p:cNvPr>
          <p:cNvPicPr>
            <a:picLocks noChangeAspect="1"/>
          </p:cNvPicPr>
          <p:nvPr/>
        </p:nvPicPr>
        <p:blipFill>
          <a:blip r:embed="rId5"/>
          <a:stretch>
            <a:fillRect/>
          </a:stretch>
        </p:blipFill>
        <p:spPr>
          <a:xfrm>
            <a:off x="6592824" y="4443984"/>
            <a:ext cx="393192" cy="393192"/>
          </a:xfrm>
          <a:prstGeom prst="rect">
            <a:avLst/>
          </a:prstGeom>
        </p:spPr>
      </p:pic>
      <p:sp>
        <p:nvSpPr>
          <p:cNvPr id="21" name="Text 14"/>
          <p:cNvSpPr/>
          <p:nvPr/>
        </p:nvSpPr>
        <p:spPr>
          <a:xfrm>
            <a:off x="6217920" y="5047488"/>
            <a:ext cx="1143000" cy="32004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Video</a:t>
            </a:r>
            <a:endParaRPr lang="en-US" sz="1250" dirty="0"/>
          </a:p>
        </p:txBody>
      </p:sp>
      <p:sp>
        <p:nvSpPr>
          <p:cNvPr id="22" name="Text 15"/>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5A6699"/>
                </a:solidFill>
                <a:latin typeface="Calibri" pitchFamily="34" charset="0"/>
                <a:ea typeface="Calibri" pitchFamily="34" charset="-122"/>
                <a:cs typeface="Calibri" pitchFamily="34" charset="-120"/>
              </a:rPr>
              <a:t>Beyond Text RAG</a:t>
            </a:r>
            <a:endParaRPr lang="en-US" sz="1000" dirty="0"/>
          </a:p>
        </p:txBody>
      </p:sp>
      <p:sp>
        <p:nvSpPr>
          <p:cNvPr id="23" name="Text 16"/>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8892B0"/>
                </a:solidFill>
                <a:latin typeface="Calibri" pitchFamily="34" charset="0"/>
                <a:ea typeface="Calibri" pitchFamily="34" charset="-122"/>
                <a:cs typeface="Calibri" pitchFamily="34" charset="-120"/>
              </a:rPr>
              <a:t>05 / 22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3 — WHAT IS MULTIMODAL RAG?</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Traditional RAG vs. Multimodal RAG</a:t>
            </a:r>
            <a:endParaRPr lang="en-US" sz="3200" dirty="0"/>
          </a:p>
        </p:txBody>
      </p:sp>
      <p:sp>
        <p:nvSpPr>
          <p:cNvPr id="4" name="Shape 2"/>
          <p:cNvSpPr/>
          <p:nvPr/>
        </p:nvSpPr>
        <p:spPr>
          <a:xfrm>
            <a:off x="548640" y="1691640"/>
            <a:ext cx="5349240" cy="2103120"/>
          </a:xfrm>
          <a:prstGeom prst="roundRect">
            <a:avLst>
              <a:gd name="adj" fmla="val 3478"/>
            </a:avLst>
          </a:prstGeom>
          <a:solidFill>
            <a:srgbClr val="FFFFFF"/>
          </a:solidFill>
          <a:ln w="12700">
            <a:solidFill>
              <a:srgbClr val="E4E7F0"/>
            </a:solidFill>
            <a:prstDash val="solid"/>
          </a:ln>
        </p:spPr>
      </p:sp>
      <p:sp>
        <p:nvSpPr>
          <p:cNvPr id="5" name="Text 3"/>
          <p:cNvSpPr/>
          <p:nvPr/>
        </p:nvSpPr>
        <p:spPr>
          <a:xfrm>
            <a:off x="822960" y="1874520"/>
            <a:ext cx="4572000" cy="320040"/>
          </a:xfrm>
          <a:prstGeom prst="rect">
            <a:avLst/>
          </a:prstGeom>
          <a:noFill/>
          <a:ln/>
        </p:spPr>
        <p:txBody>
          <a:bodyPr wrap="square" rtlCol="0" anchor="ctr"/>
          <a:lstStyle/>
          <a:p>
            <a:pPr indent="0" marL="0">
              <a:buNone/>
            </a:pPr>
            <a:r>
              <a:rPr lang="en-US" sz="1300" b="1" spc="150" kern="0" dirty="0">
                <a:solidFill>
                  <a:srgbClr val="6B7280"/>
                </a:solidFill>
                <a:latin typeface="Calibri" pitchFamily="34" charset="0"/>
                <a:ea typeface="Calibri" pitchFamily="34" charset="-122"/>
                <a:cs typeface="Calibri" pitchFamily="34" charset="-120"/>
              </a:rPr>
              <a:t>TRADITIONAL RAG</a:t>
            </a:r>
            <a:endParaRPr lang="en-US" sz="1300" dirty="0"/>
          </a:p>
        </p:txBody>
      </p:sp>
      <p:sp>
        <p:nvSpPr>
          <p:cNvPr id="6" name="Shape 4"/>
          <p:cNvSpPr/>
          <p:nvPr/>
        </p:nvSpPr>
        <p:spPr>
          <a:xfrm>
            <a:off x="822960" y="2331720"/>
            <a:ext cx="1295400" cy="1234440"/>
          </a:xfrm>
          <a:prstGeom prst="roundRect">
            <a:avLst>
              <a:gd name="adj" fmla="val 740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7" name="Shape 5"/>
          <p:cNvSpPr/>
          <p:nvPr/>
        </p:nvSpPr>
        <p:spPr>
          <a:xfrm>
            <a:off x="1232916" y="2450592"/>
            <a:ext cx="475488" cy="475488"/>
          </a:xfrm>
          <a:prstGeom prst="ellipse">
            <a:avLst/>
          </a:prstGeom>
          <a:solidFill>
            <a:srgbClr val="1C7293"/>
          </a:solidFill>
          <a:ln/>
        </p:spPr>
      </p:sp>
      <p:pic>
        <p:nvPicPr>
          <p:cNvPr id="8" name="Image 0" descr="/home/claude/mrag/assets/icons/file_text.png">    </p:cNvPr>
          <p:cNvPicPr>
            <a:picLocks noChangeAspect="1"/>
          </p:cNvPicPr>
          <p:nvPr/>
        </p:nvPicPr>
        <p:blipFill>
          <a:blip r:embed="rId1"/>
          <a:stretch>
            <a:fillRect/>
          </a:stretch>
        </p:blipFill>
        <p:spPr>
          <a:xfrm>
            <a:off x="1318504" y="2536180"/>
            <a:ext cx="304312" cy="304312"/>
          </a:xfrm>
          <a:prstGeom prst="rect">
            <a:avLst/>
          </a:prstGeom>
        </p:spPr>
      </p:pic>
      <p:sp>
        <p:nvSpPr>
          <p:cNvPr id="9" name="Text 6"/>
          <p:cNvSpPr/>
          <p:nvPr/>
        </p:nvSpPr>
        <p:spPr>
          <a:xfrm>
            <a:off x="859536" y="2999232"/>
            <a:ext cx="1222248" cy="54864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Text</a:t>
            </a:r>
            <a:endParaRPr lang="en-US" sz="1300" dirty="0"/>
          </a:p>
        </p:txBody>
      </p:sp>
      <p:sp>
        <p:nvSpPr>
          <p:cNvPr id="10" name="Shape 7"/>
          <p:cNvSpPr/>
          <p:nvPr/>
        </p:nvSpPr>
        <p:spPr>
          <a:xfrm>
            <a:off x="2154936" y="2875788"/>
            <a:ext cx="384048" cy="146304"/>
          </a:xfrm>
          <a:prstGeom prst="rightArrow">
            <a:avLst/>
          </a:prstGeom>
          <a:solidFill>
            <a:srgbClr val="AAB4CE"/>
          </a:solidFill>
          <a:ln/>
        </p:spPr>
      </p:sp>
      <p:sp>
        <p:nvSpPr>
          <p:cNvPr id="11" name="Shape 8"/>
          <p:cNvSpPr/>
          <p:nvPr/>
        </p:nvSpPr>
        <p:spPr>
          <a:xfrm>
            <a:off x="2575560" y="2331720"/>
            <a:ext cx="1295400" cy="1234440"/>
          </a:xfrm>
          <a:prstGeom prst="roundRect">
            <a:avLst>
              <a:gd name="adj" fmla="val 740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2" name="Shape 9"/>
          <p:cNvSpPr/>
          <p:nvPr/>
        </p:nvSpPr>
        <p:spPr>
          <a:xfrm>
            <a:off x="2985516" y="2450592"/>
            <a:ext cx="475488" cy="475488"/>
          </a:xfrm>
          <a:prstGeom prst="ellipse">
            <a:avLst/>
          </a:prstGeom>
          <a:solidFill>
            <a:srgbClr val="1C7293"/>
          </a:solidFill>
          <a:ln/>
        </p:spPr>
      </p:sp>
      <p:pic>
        <p:nvPicPr>
          <p:cNvPr id="13" name="Image 1" descr="/home/claude/mrag/assets/icons/search.png">    </p:cNvPr>
          <p:cNvPicPr>
            <a:picLocks noChangeAspect="1"/>
          </p:cNvPicPr>
          <p:nvPr/>
        </p:nvPicPr>
        <p:blipFill>
          <a:blip r:embed="rId2"/>
          <a:stretch>
            <a:fillRect/>
          </a:stretch>
        </p:blipFill>
        <p:spPr>
          <a:xfrm>
            <a:off x="3071104" y="2536180"/>
            <a:ext cx="304312" cy="304312"/>
          </a:xfrm>
          <a:prstGeom prst="rect">
            <a:avLst/>
          </a:prstGeom>
        </p:spPr>
      </p:pic>
      <p:sp>
        <p:nvSpPr>
          <p:cNvPr id="14" name="Text 10"/>
          <p:cNvSpPr/>
          <p:nvPr/>
        </p:nvSpPr>
        <p:spPr>
          <a:xfrm>
            <a:off x="2612136" y="2999232"/>
            <a:ext cx="1222248" cy="54864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Retrieve</a:t>
            </a:r>
            <a:endParaRPr lang="en-US" sz="1300" dirty="0"/>
          </a:p>
        </p:txBody>
      </p:sp>
      <p:sp>
        <p:nvSpPr>
          <p:cNvPr id="15" name="Shape 11"/>
          <p:cNvSpPr/>
          <p:nvPr/>
        </p:nvSpPr>
        <p:spPr>
          <a:xfrm>
            <a:off x="3907536" y="2875788"/>
            <a:ext cx="384048" cy="146304"/>
          </a:xfrm>
          <a:prstGeom prst="rightArrow">
            <a:avLst/>
          </a:prstGeom>
          <a:solidFill>
            <a:srgbClr val="AAB4CE"/>
          </a:solidFill>
          <a:ln/>
        </p:spPr>
      </p:sp>
      <p:sp>
        <p:nvSpPr>
          <p:cNvPr id="16" name="Shape 12"/>
          <p:cNvSpPr/>
          <p:nvPr/>
        </p:nvSpPr>
        <p:spPr>
          <a:xfrm>
            <a:off x="4328160" y="2331720"/>
            <a:ext cx="1295400" cy="1234440"/>
          </a:xfrm>
          <a:prstGeom prst="roundRect">
            <a:avLst>
              <a:gd name="adj" fmla="val 740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7" name="Shape 13"/>
          <p:cNvSpPr/>
          <p:nvPr/>
        </p:nvSpPr>
        <p:spPr>
          <a:xfrm>
            <a:off x="4738116" y="2450592"/>
            <a:ext cx="475488" cy="475488"/>
          </a:xfrm>
          <a:prstGeom prst="ellipse">
            <a:avLst/>
          </a:prstGeom>
          <a:solidFill>
            <a:srgbClr val="1C7293"/>
          </a:solidFill>
          <a:ln/>
        </p:spPr>
      </p:sp>
      <p:pic>
        <p:nvPicPr>
          <p:cNvPr id="18" name="Image 2" descr="/home/claude/mrag/assets/icons/robot.png">    </p:cNvPr>
          <p:cNvPicPr>
            <a:picLocks noChangeAspect="1"/>
          </p:cNvPicPr>
          <p:nvPr/>
        </p:nvPicPr>
        <p:blipFill>
          <a:blip r:embed="rId3"/>
          <a:stretch>
            <a:fillRect/>
          </a:stretch>
        </p:blipFill>
        <p:spPr>
          <a:xfrm>
            <a:off x="4823704" y="2536180"/>
            <a:ext cx="304312" cy="304312"/>
          </a:xfrm>
          <a:prstGeom prst="rect">
            <a:avLst/>
          </a:prstGeom>
        </p:spPr>
      </p:pic>
      <p:sp>
        <p:nvSpPr>
          <p:cNvPr id="19" name="Text 14"/>
          <p:cNvSpPr/>
          <p:nvPr/>
        </p:nvSpPr>
        <p:spPr>
          <a:xfrm>
            <a:off x="4364736" y="2999232"/>
            <a:ext cx="1222248" cy="54864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Generate</a:t>
            </a:r>
            <a:endParaRPr lang="en-US" sz="1300" dirty="0"/>
          </a:p>
        </p:txBody>
      </p:sp>
      <p:sp>
        <p:nvSpPr>
          <p:cNvPr id="20" name="Shape 15"/>
          <p:cNvSpPr/>
          <p:nvPr/>
        </p:nvSpPr>
        <p:spPr>
          <a:xfrm>
            <a:off x="6263640" y="1691640"/>
            <a:ext cx="5394960" cy="4434840"/>
          </a:xfrm>
          <a:prstGeom prst="roundRect">
            <a:avLst>
              <a:gd name="adj" fmla="val 1649"/>
            </a:avLst>
          </a:prstGeom>
          <a:solidFill>
            <a:srgbClr val="1E2761"/>
          </a:solidFill>
          <a:ln/>
          <a:effectLst>
            <a:outerShdw sx="100000" sy="100000" kx="0" ky="0" algn="bl" rotWithShape="0" blurRad="101600" dist="38100" dir="5400000">
              <a:srgbClr val="9AA3B8">
                <a:alpha val="30000"/>
              </a:srgbClr>
            </a:outerShdw>
          </a:effectLst>
        </p:spPr>
      </p:sp>
      <p:sp>
        <p:nvSpPr>
          <p:cNvPr id="21" name="Text 16"/>
          <p:cNvSpPr/>
          <p:nvPr/>
        </p:nvSpPr>
        <p:spPr>
          <a:xfrm>
            <a:off x="6537960" y="1874520"/>
            <a:ext cx="4572000" cy="320040"/>
          </a:xfrm>
          <a:prstGeom prst="rect">
            <a:avLst/>
          </a:prstGeom>
          <a:noFill/>
          <a:ln/>
        </p:spPr>
        <p:txBody>
          <a:bodyPr wrap="square" rtlCol="0" anchor="ctr"/>
          <a:lstStyle/>
          <a:p>
            <a:pPr indent="0" marL="0">
              <a:buNone/>
            </a:pPr>
            <a:r>
              <a:rPr lang="en-US" sz="1300" b="1" spc="150" kern="0" dirty="0">
                <a:solidFill>
                  <a:srgbClr val="FF6B35"/>
                </a:solidFill>
                <a:latin typeface="Calibri" pitchFamily="34" charset="0"/>
                <a:ea typeface="Calibri" pitchFamily="34" charset="-122"/>
                <a:cs typeface="Calibri" pitchFamily="34" charset="-120"/>
              </a:rPr>
              <a:t>MULTIMODAL RAG</a:t>
            </a:r>
            <a:endParaRPr lang="en-US" sz="1300" dirty="0"/>
          </a:p>
        </p:txBody>
      </p:sp>
      <p:sp>
        <p:nvSpPr>
          <p:cNvPr id="22" name="Shape 17"/>
          <p:cNvSpPr/>
          <p:nvPr/>
        </p:nvSpPr>
        <p:spPr>
          <a:xfrm>
            <a:off x="6537960" y="2331720"/>
            <a:ext cx="566928" cy="566928"/>
          </a:xfrm>
          <a:prstGeom prst="ellipse">
            <a:avLst/>
          </a:prstGeom>
          <a:solidFill>
            <a:srgbClr val="1C7293"/>
          </a:solidFill>
          <a:ln/>
        </p:spPr>
      </p:sp>
      <p:pic>
        <p:nvPicPr>
          <p:cNvPr id="23" name="Image 3" descr="/home/claude/mrag/assets/icons/file_text.png">    </p:cNvPr>
          <p:cNvPicPr>
            <a:picLocks noChangeAspect="1"/>
          </p:cNvPicPr>
          <p:nvPr/>
        </p:nvPicPr>
        <p:blipFill>
          <a:blip r:embed="rId4"/>
          <a:stretch>
            <a:fillRect/>
          </a:stretch>
        </p:blipFill>
        <p:spPr>
          <a:xfrm>
            <a:off x="6684264" y="2478024"/>
            <a:ext cx="274320" cy="274320"/>
          </a:xfrm>
          <a:prstGeom prst="rect">
            <a:avLst/>
          </a:prstGeom>
        </p:spPr>
      </p:pic>
      <p:sp>
        <p:nvSpPr>
          <p:cNvPr id="24" name="Text 18"/>
          <p:cNvSpPr/>
          <p:nvPr/>
        </p:nvSpPr>
        <p:spPr>
          <a:xfrm>
            <a:off x="6355080" y="2944368"/>
            <a:ext cx="9144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Text</a:t>
            </a:r>
            <a:endParaRPr lang="en-US" sz="1050" dirty="0"/>
          </a:p>
        </p:txBody>
      </p:sp>
      <p:sp>
        <p:nvSpPr>
          <p:cNvPr id="25" name="Shape 19"/>
          <p:cNvSpPr/>
          <p:nvPr/>
        </p:nvSpPr>
        <p:spPr>
          <a:xfrm>
            <a:off x="7772400" y="2331720"/>
            <a:ext cx="566928" cy="566928"/>
          </a:xfrm>
          <a:prstGeom prst="ellipse">
            <a:avLst/>
          </a:prstGeom>
          <a:solidFill>
            <a:srgbClr val="1C7293"/>
          </a:solidFill>
          <a:ln/>
        </p:spPr>
      </p:sp>
      <p:pic>
        <p:nvPicPr>
          <p:cNvPr id="26" name="Image 4" descr="/home/claude/mrag/assets/icons/table.png">    </p:cNvPr>
          <p:cNvPicPr>
            <a:picLocks noChangeAspect="1"/>
          </p:cNvPicPr>
          <p:nvPr/>
        </p:nvPicPr>
        <p:blipFill>
          <a:blip r:embed="rId5"/>
          <a:stretch>
            <a:fillRect/>
          </a:stretch>
        </p:blipFill>
        <p:spPr>
          <a:xfrm>
            <a:off x="7918704" y="2478024"/>
            <a:ext cx="274320" cy="274320"/>
          </a:xfrm>
          <a:prstGeom prst="rect">
            <a:avLst/>
          </a:prstGeom>
        </p:spPr>
      </p:pic>
      <p:sp>
        <p:nvSpPr>
          <p:cNvPr id="27" name="Text 20"/>
          <p:cNvSpPr/>
          <p:nvPr/>
        </p:nvSpPr>
        <p:spPr>
          <a:xfrm>
            <a:off x="7589520" y="2944368"/>
            <a:ext cx="9144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Tables</a:t>
            </a:r>
            <a:endParaRPr lang="en-US" sz="1050" dirty="0"/>
          </a:p>
        </p:txBody>
      </p:sp>
      <p:sp>
        <p:nvSpPr>
          <p:cNvPr id="28" name="Shape 21"/>
          <p:cNvSpPr/>
          <p:nvPr/>
        </p:nvSpPr>
        <p:spPr>
          <a:xfrm>
            <a:off x="9006840" y="2331720"/>
            <a:ext cx="566928" cy="566928"/>
          </a:xfrm>
          <a:prstGeom prst="ellipse">
            <a:avLst/>
          </a:prstGeom>
          <a:solidFill>
            <a:srgbClr val="1C7293"/>
          </a:solidFill>
          <a:ln/>
        </p:spPr>
      </p:sp>
      <p:pic>
        <p:nvPicPr>
          <p:cNvPr id="29" name="Image 5" descr="/home/claude/mrag/assets/icons/image.png">    </p:cNvPr>
          <p:cNvPicPr>
            <a:picLocks noChangeAspect="1"/>
          </p:cNvPicPr>
          <p:nvPr/>
        </p:nvPicPr>
        <p:blipFill>
          <a:blip r:embed="rId6"/>
          <a:stretch>
            <a:fillRect/>
          </a:stretch>
        </p:blipFill>
        <p:spPr>
          <a:xfrm>
            <a:off x="9153144" y="2478024"/>
            <a:ext cx="274320" cy="274320"/>
          </a:xfrm>
          <a:prstGeom prst="rect">
            <a:avLst/>
          </a:prstGeom>
        </p:spPr>
      </p:pic>
      <p:sp>
        <p:nvSpPr>
          <p:cNvPr id="30" name="Text 22"/>
          <p:cNvSpPr/>
          <p:nvPr/>
        </p:nvSpPr>
        <p:spPr>
          <a:xfrm>
            <a:off x="8823960" y="2944368"/>
            <a:ext cx="9144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Images</a:t>
            </a:r>
            <a:endParaRPr lang="en-US" sz="1050" dirty="0"/>
          </a:p>
        </p:txBody>
      </p:sp>
      <p:sp>
        <p:nvSpPr>
          <p:cNvPr id="31" name="Shape 23"/>
          <p:cNvSpPr/>
          <p:nvPr/>
        </p:nvSpPr>
        <p:spPr>
          <a:xfrm>
            <a:off x="10241280" y="2331720"/>
            <a:ext cx="566928" cy="566928"/>
          </a:xfrm>
          <a:prstGeom prst="ellipse">
            <a:avLst/>
          </a:prstGeom>
          <a:solidFill>
            <a:srgbClr val="1C7293"/>
          </a:solidFill>
          <a:ln/>
        </p:spPr>
      </p:sp>
      <p:pic>
        <p:nvPicPr>
          <p:cNvPr id="32" name="Image 6" descr="/home/claude/mrag/assets/icons/video.png">    </p:cNvPr>
          <p:cNvPicPr>
            <a:picLocks noChangeAspect="1"/>
          </p:cNvPicPr>
          <p:nvPr/>
        </p:nvPicPr>
        <p:blipFill>
          <a:blip r:embed="rId7"/>
          <a:stretch>
            <a:fillRect/>
          </a:stretch>
        </p:blipFill>
        <p:spPr>
          <a:xfrm>
            <a:off x="10387584" y="2478024"/>
            <a:ext cx="274320" cy="274320"/>
          </a:xfrm>
          <a:prstGeom prst="rect">
            <a:avLst/>
          </a:prstGeom>
        </p:spPr>
      </p:pic>
      <p:sp>
        <p:nvSpPr>
          <p:cNvPr id="33" name="Text 24"/>
          <p:cNvSpPr/>
          <p:nvPr/>
        </p:nvSpPr>
        <p:spPr>
          <a:xfrm>
            <a:off x="10058400" y="2944368"/>
            <a:ext cx="914400" cy="274320"/>
          </a:xfrm>
          <a:prstGeom prst="rect">
            <a:avLst/>
          </a:prstGeom>
          <a:noFill/>
          <a:ln/>
        </p:spPr>
        <p:txBody>
          <a:bodyPr wrap="square" rtlCol="0" anchor="ctr"/>
          <a:lstStyle/>
          <a:p>
            <a:pPr algn="ctr" indent="0" marL="0">
              <a:buNone/>
            </a:pPr>
            <a:r>
              <a:rPr lang="en-US" sz="1050" dirty="0">
                <a:solidFill>
                  <a:srgbClr val="CADCFC"/>
                </a:solidFill>
                <a:latin typeface="Calibri" pitchFamily="34" charset="0"/>
                <a:ea typeface="Calibri" pitchFamily="34" charset="-122"/>
                <a:cs typeface="Calibri" pitchFamily="34" charset="-120"/>
              </a:rPr>
              <a:t>Video</a:t>
            </a:r>
            <a:endParaRPr lang="en-US" sz="1050" dirty="0"/>
          </a:p>
        </p:txBody>
      </p:sp>
      <p:sp>
        <p:nvSpPr>
          <p:cNvPr id="34" name="Shape 25"/>
          <p:cNvSpPr/>
          <p:nvPr/>
        </p:nvSpPr>
        <p:spPr>
          <a:xfrm>
            <a:off x="8869680" y="3364992"/>
            <a:ext cx="219456" cy="274320"/>
          </a:xfrm>
          <a:prstGeom prst="downArrow">
            <a:avLst/>
          </a:prstGeom>
          <a:solidFill>
            <a:srgbClr val="5A6699"/>
          </a:solidFill>
          <a:ln/>
        </p:spPr>
      </p:sp>
      <p:sp>
        <p:nvSpPr>
          <p:cNvPr id="35" name="Shape 26"/>
          <p:cNvSpPr/>
          <p:nvPr/>
        </p:nvSpPr>
        <p:spPr>
          <a:xfrm>
            <a:off x="7360920" y="3749040"/>
            <a:ext cx="3108960" cy="566928"/>
          </a:xfrm>
          <a:prstGeom prst="roundRect">
            <a:avLst>
              <a:gd name="adj" fmla="val 12903"/>
            </a:avLst>
          </a:prstGeom>
          <a:solidFill>
            <a:srgbClr val="1C7293"/>
          </a:solidFill>
          <a:ln/>
        </p:spPr>
      </p:sp>
      <p:sp>
        <p:nvSpPr>
          <p:cNvPr id="36" name="Text 27"/>
          <p:cNvSpPr/>
          <p:nvPr/>
        </p:nvSpPr>
        <p:spPr>
          <a:xfrm>
            <a:off x="7452360" y="3749040"/>
            <a:ext cx="2926080" cy="56692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Retrieve</a:t>
            </a:r>
            <a:endParaRPr lang="en-US" sz="1300" dirty="0"/>
          </a:p>
        </p:txBody>
      </p:sp>
      <p:sp>
        <p:nvSpPr>
          <p:cNvPr id="37" name="Shape 28"/>
          <p:cNvSpPr/>
          <p:nvPr/>
        </p:nvSpPr>
        <p:spPr>
          <a:xfrm>
            <a:off x="8833104" y="4334256"/>
            <a:ext cx="164592" cy="164592"/>
          </a:xfrm>
          <a:prstGeom prst="downArrow">
            <a:avLst/>
          </a:prstGeom>
          <a:solidFill>
            <a:srgbClr val="AAB4CE"/>
          </a:solidFill>
          <a:ln/>
        </p:spPr>
      </p:sp>
      <p:sp>
        <p:nvSpPr>
          <p:cNvPr id="38" name="Shape 29"/>
          <p:cNvSpPr/>
          <p:nvPr/>
        </p:nvSpPr>
        <p:spPr>
          <a:xfrm>
            <a:off x="7360920" y="4517136"/>
            <a:ext cx="3108960" cy="566928"/>
          </a:xfrm>
          <a:prstGeom prst="roundRect">
            <a:avLst>
              <a:gd name="adj" fmla="val 12903"/>
            </a:avLst>
          </a:prstGeom>
          <a:solidFill>
            <a:srgbClr val="1C7293"/>
          </a:solidFill>
          <a:ln/>
        </p:spPr>
      </p:sp>
      <p:sp>
        <p:nvSpPr>
          <p:cNvPr id="39" name="Text 30"/>
          <p:cNvSpPr/>
          <p:nvPr/>
        </p:nvSpPr>
        <p:spPr>
          <a:xfrm>
            <a:off x="7452360" y="4517136"/>
            <a:ext cx="2926080" cy="56692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Understand</a:t>
            </a:r>
            <a:endParaRPr lang="en-US" sz="1300" dirty="0"/>
          </a:p>
        </p:txBody>
      </p:sp>
      <p:sp>
        <p:nvSpPr>
          <p:cNvPr id="40" name="Shape 31"/>
          <p:cNvSpPr/>
          <p:nvPr/>
        </p:nvSpPr>
        <p:spPr>
          <a:xfrm>
            <a:off x="8833104" y="5102352"/>
            <a:ext cx="164592" cy="164592"/>
          </a:xfrm>
          <a:prstGeom prst="downArrow">
            <a:avLst/>
          </a:prstGeom>
          <a:solidFill>
            <a:srgbClr val="AAB4CE"/>
          </a:solidFill>
          <a:ln/>
        </p:spPr>
      </p:sp>
      <p:sp>
        <p:nvSpPr>
          <p:cNvPr id="41" name="Shape 32"/>
          <p:cNvSpPr/>
          <p:nvPr/>
        </p:nvSpPr>
        <p:spPr>
          <a:xfrm>
            <a:off x="7360920" y="5285232"/>
            <a:ext cx="3108960" cy="566928"/>
          </a:xfrm>
          <a:prstGeom prst="roundRect">
            <a:avLst>
              <a:gd name="adj" fmla="val 12903"/>
            </a:avLst>
          </a:prstGeom>
          <a:solidFill>
            <a:srgbClr val="FF6B35"/>
          </a:solidFill>
          <a:ln/>
        </p:spPr>
      </p:sp>
      <p:sp>
        <p:nvSpPr>
          <p:cNvPr id="42" name="Text 33"/>
          <p:cNvSpPr/>
          <p:nvPr/>
        </p:nvSpPr>
        <p:spPr>
          <a:xfrm>
            <a:off x="7452360" y="5285232"/>
            <a:ext cx="2926080" cy="56692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Generate</a:t>
            </a:r>
            <a:endParaRPr lang="en-US" sz="1300" dirty="0"/>
          </a:p>
        </p:txBody>
      </p:sp>
      <p:sp>
        <p:nvSpPr>
          <p:cNvPr id="43" name="Text 34"/>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44" name="Text 35"/>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06 / 22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 — ARCHITECTURE</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Multimodal RAG Architecture</a:t>
            </a:r>
            <a:endParaRPr lang="en-US" sz="3200" dirty="0"/>
          </a:p>
        </p:txBody>
      </p:sp>
      <p:sp>
        <p:nvSpPr>
          <p:cNvPr id="4" name="Shape 2"/>
          <p:cNvSpPr/>
          <p:nvPr/>
        </p:nvSpPr>
        <p:spPr>
          <a:xfrm>
            <a:off x="457200" y="160020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5" name="Shape 3"/>
          <p:cNvSpPr/>
          <p:nvPr/>
        </p:nvSpPr>
        <p:spPr>
          <a:xfrm>
            <a:off x="1978152" y="1719072"/>
            <a:ext cx="402336" cy="402336"/>
          </a:xfrm>
          <a:prstGeom prst="ellipse">
            <a:avLst/>
          </a:prstGeom>
          <a:solidFill>
            <a:srgbClr val="1C7293"/>
          </a:solidFill>
          <a:ln/>
        </p:spPr>
      </p:sp>
      <p:pic>
        <p:nvPicPr>
          <p:cNvPr id="6" name="Image 0" descr="/home/claude/mrag/assets/icons/file_text.png">    </p:cNvPr>
          <p:cNvPicPr>
            <a:picLocks noChangeAspect="1"/>
          </p:cNvPicPr>
          <p:nvPr/>
        </p:nvPicPr>
        <p:blipFill>
          <a:blip r:embed="rId1"/>
          <a:stretch>
            <a:fillRect/>
          </a:stretch>
        </p:blipFill>
        <p:spPr>
          <a:xfrm>
            <a:off x="2050572" y="1791492"/>
            <a:ext cx="257495" cy="257495"/>
          </a:xfrm>
          <a:prstGeom prst="rect">
            <a:avLst/>
          </a:prstGeom>
        </p:spPr>
      </p:pic>
      <p:sp>
        <p:nvSpPr>
          <p:cNvPr id="7" name="Text 4"/>
          <p:cNvSpPr/>
          <p:nvPr/>
        </p:nvSpPr>
        <p:spPr>
          <a:xfrm>
            <a:off x="493776" y="219456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PDF / Images / Video</a:t>
            </a:r>
            <a:endParaRPr lang="en-US" sz="1300" dirty="0"/>
          </a:p>
        </p:txBody>
      </p:sp>
      <p:sp>
        <p:nvSpPr>
          <p:cNvPr id="8" name="Shape 5"/>
          <p:cNvSpPr/>
          <p:nvPr/>
        </p:nvSpPr>
        <p:spPr>
          <a:xfrm>
            <a:off x="3938016" y="2052828"/>
            <a:ext cx="384048" cy="146304"/>
          </a:xfrm>
          <a:prstGeom prst="rightArrow">
            <a:avLst/>
          </a:prstGeom>
          <a:solidFill>
            <a:srgbClr val="AAB4CE"/>
          </a:solidFill>
          <a:ln/>
        </p:spPr>
      </p:sp>
      <p:sp>
        <p:nvSpPr>
          <p:cNvPr id="9" name="Shape 6"/>
          <p:cNvSpPr/>
          <p:nvPr/>
        </p:nvSpPr>
        <p:spPr>
          <a:xfrm>
            <a:off x="4358640" y="160020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0" name="Shape 7"/>
          <p:cNvSpPr/>
          <p:nvPr/>
        </p:nvSpPr>
        <p:spPr>
          <a:xfrm>
            <a:off x="5879592" y="1719072"/>
            <a:ext cx="402336" cy="402336"/>
          </a:xfrm>
          <a:prstGeom prst="ellipse">
            <a:avLst/>
          </a:prstGeom>
          <a:solidFill>
            <a:srgbClr val="1C7293"/>
          </a:solidFill>
          <a:ln/>
        </p:spPr>
      </p:sp>
      <p:pic>
        <p:nvPicPr>
          <p:cNvPr id="11" name="Image 1" descr="/home/claude/mrag/assets/icons/layers.png">    </p:cNvPr>
          <p:cNvPicPr>
            <a:picLocks noChangeAspect="1"/>
          </p:cNvPicPr>
          <p:nvPr/>
        </p:nvPicPr>
        <p:blipFill>
          <a:blip r:embed="rId2"/>
          <a:stretch>
            <a:fillRect/>
          </a:stretch>
        </p:blipFill>
        <p:spPr>
          <a:xfrm>
            <a:off x="5952012" y="1791492"/>
            <a:ext cx="257495" cy="257495"/>
          </a:xfrm>
          <a:prstGeom prst="rect">
            <a:avLst/>
          </a:prstGeom>
        </p:spPr>
      </p:pic>
      <p:sp>
        <p:nvSpPr>
          <p:cNvPr id="12" name="Text 8"/>
          <p:cNvSpPr/>
          <p:nvPr/>
        </p:nvSpPr>
        <p:spPr>
          <a:xfrm>
            <a:off x="4395216" y="219456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Content Extraction</a:t>
            </a:r>
            <a:endParaRPr lang="en-US" sz="1300" dirty="0"/>
          </a:p>
        </p:txBody>
      </p:sp>
      <p:sp>
        <p:nvSpPr>
          <p:cNvPr id="13" name="Shape 9"/>
          <p:cNvSpPr/>
          <p:nvPr/>
        </p:nvSpPr>
        <p:spPr>
          <a:xfrm>
            <a:off x="7839456" y="2052828"/>
            <a:ext cx="384048" cy="146304"/>
          </a:xfrm>
          <a:prstGeom prst="rightArrow">
            <a:avLst/>
          </a:prstGeom>
          <a:solidFill>
            <a:srgbClr val="AAB4CE"/>
          </a:solidFill>
          <a:ln/>
        </p:spPr>
      </p:sp>
      <p:sp>
        <p:nvSpPr>
          <p:cNvPr id="14" name="Shape 10"/>
          <p:cNvSpPr/>
          <p:nvPr/>
        </p:nvSpPr>
        <p:spPr>
          <a:xfrm>
            <a:off x="8260080" y="160020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5" name="Shape 11"/>
          <p:cNvSpPr/>
          <p:nvPr/>
        </p:nvSpPr>
        <p:spPr>
          <a:xfrm>
            <a:off x="9781032" y="1719072"/>
            <a:ext cx="402336" cy="402336"/>
          </a:xfrm>
          <a:prstGeom prst="ellipse">
            <a:avLst/>
          </a:prstGeom>
          <a:solidFill>
            <a:srgbClr val="1C7293"/>
          </a:solidFill>
          <a:ln/>
        </p:spPr>
      </p:sp>
      <p:pic>
        <p:nvPicPr>
          <p:cNvPr id="16" name="Image 2" descr="/home/claude/mrag/assets/icons/cube.png">    </p:cNvPr>
          <p:cNvPicPr>
            <a:picLocks noChangeAspect="1"/>
          </p:cNvPicPr>
          <p:nvPr/>
        </p:nvPicPr>
        <p:blipFill>
          <a:blip r:embed="rId3"/>
          <a:stretch>
            <a:fillRect/>
          </a:stretch>
        </p:blipFill>
        <p:spPr>
          <a:xfrm>
            <a:off x="9853452" y="1791492"/>
            <a:ext cx="257495" cy="257495"/>
          </a:xfrm>
          <a:prstGeom prst="rect">
            <a:avLst/>
          </a:prstGeom>
        </p:spPr>
      </p:pic>
      <p:sp>
        <p:nvSpPr>
          <p:cNvPr id="17" name="Text 12"/>
          <p:cNvSpPr/>
          <p:nvPr/>
        </p:nvSpPr>
        <p:spPr>
          <a:xfrm>
            <a:off x="8296656" y="219456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Text / Tables / Images / Frames</a:t>
            </a:r>
            <a:endParaRPr lang="en-US" sz="1300" dirty="0"/>
          </a:p>
        </p:txBody>
      </p:sp>
      <p:sp>
        <p:nvSpPr>
          <p:cNvPr id="18" name="Shape 13"/>
          <p:cNvSpPr/>
          <p:nvPr/>
        </p:nvSpPr>
        <p:spPr>
          <a:xfrm>
            <a:off x="5943600" y="2743200"/>
            <a:ext cx="256032" cy="256032"/>
          </a:xfrm>
          <a:prstGeom prst="downArrow">
            <a:avLst/>
          </a:prstGeom>
          <a:solidFill>
            <a:srgbClr val="AAB4CE"/>
          </a:solidFill>
          <a:ln/>
        </p:spPr>
      </p:sp>
      <p:sp>
        <p:nvSpPr>
          <p:cNvPr id="19" name="Shape 14"/>
          <p:cNvSpPr/>
          <p:nvPr/>
        </p:nvSpPr>
        <p:spPr>
          <a:xfrm>
            <a:off x="457200" y="310896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0" name="Shape 15"/>
          <p:cNvSpPr/>
          <p:nvPr/>
        </p:nvSpPr>
        <p:spPr>
          <a:xfrm>
            <a:off x="1978152" y="3227832"/>
            <a:ext cx="402336" cy="402336"/>
          </a:xfrm>
          <a:prstGeom prst="ellipse">
            <a:avLst/>
          </a:prstGeom>
          <a:solidFill>
            <a:srgbClr val="1E2761"/>
          </a:solidFill>
          <a:ln/>
        </p:spPr>
      </p:sp>
      <p:pic>
        <p:nvPicPr>
          <p:cNvPr id="21" name="Image 3" descr="/home/claude/mrag/assets/icons/chip.png">    </p:cNvPr>
          <p:cNvPicPr>
            <a:picLocks noChangeAspect="1"/>
          </p:cNvPicPr>
          <p:nvPr/>
        </p:nvPicPr>
        <p:blipFill>
          <a:blip r:embed="rId4"/>
          <a:stretch>
            <a:fillRect/>
          </a:stretch>
        </p:blipFill>
        <p:spPr>
          <a:xfrm>
            <a:off x="2050572" y="3300252"/>
            <a:ext cx="257495" cy="257495"/>
          </a:xfrm>
          <a:prstGeom prst="rect">
            <a:avLst/>
          </a:prstGeom>
        </p:spPr>
      </p:pic>
      <p:sp>
        <p:nvSpPr>
          <p:cNvPr id="22" name="Text 16"/>
          <p:cNvSpPr/>
          <p:nvPr/>
        </p:nvSpPr>
        <p:spPr>
          <a:xfrm>
            <a:off x="493776" y="370332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Embeddings</a:t>
            </a:r>
            <a:endParaRPr lang="en-US" sz="1300" dirty="0"/>
          </a:p>
        </p:txBody>
      </p:sp>
      <p:sp>
        <p:nvSpPr>
          <p:cNvPr id="23" name="Shape 17"/>
          <p:cNvSpPr/>
          <p:nvPr/>
        </p:nvSpPr>
        <p:spPr>
          <a:xfrm>
            <a:off x="3938016" y="3561588"/>
            <a:ext cx="384048" cy="146304"/>
          </a:xfrm>
          <a:prstGeom prst="rightArrow">
            <a:avLst/>
          </a:prstGeom>
          <a:solidFill>
            <a:srgbClr val="AAB4CE"/>
          </a:solidFill>
          <a:ln/>
        </p:spPr>
      </p:sp>
      <p:sp>
        <p:nvSpPr>
          <p:cNvPr id="24" name="Shape 18"/>
          <p:cNvSpPr/>
          <p:nvPr/>
        </p:nvSpPr>
        <p:spPr>
          <a:xfrm>
            <a:off x="4358640" y="310896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5" name="Shape 19"/>
          <p:cNvSpPr/>
          <p:nvPr/>
        </p:nvSpPr>
        <p:spPr>
          <a:xfrm>
            <a:off x="5879592" y="3227832"/>
            <a:ext cx="402336" cy="402336"/>
          </a:xfrm>
          <a:prstGeom prst="ellipse">
            <a:avLst/>
          </a:prstGeom>
          <a:solidFill>
            <a:srgbClr val="1E2761"/>
          </a:solidFill>
          <a:ln/>
        </p:spPr>
      </p:sp>
      <p:pic>
        <p:nvPicPr>
          <p:cNvPr id="26" name="Image 4" descr="/home/claude/mrag/assets/icons/database.png">    </p:cNvPr>
          <p:cNvPicPr>
            <a:picLocks noChangeAspect="1"/>
          </p:cNvPicPr>
          <p:nvPr/>
        </p:nvPicPr>
        <p:blipFill>
          <a:blip r:embed="rId5"/>
          <a:stretch>
            <a:fillRect/>
          </a:stretch>
        </p:blipFill>
        <p:spPr>
          <a:xfrm>
            <a:off x="5952012" y="3300252"/>
            <a:ext cx="257495" cy="257495"/>
          </a:xfrm>
          <a:prstGeom prst="rect">
            <a:avLst/>
          </a:prstGeom>
        </p:spPr>
      </p:pic>
      <p:sp>
        <p:nvSpPr>
          <p:cNvPr id="27" name="Text 20"/>
          <p:cNvSpPr/>
          <p:nvPr/>
        </p:nvSpPr>
        <p:spPr>
          <a:xfrm>
            <a:off x="4395216" y="370332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Vector Store</a:t>
            </a:r>
            <a:endParaRPr lang="en-US" sz="1300" dirty="0"/>
          </a:p>
        </p:txBody>
      </p:sp>
      <p:sp>
        <p:nvSpPr>
          <p:cNvPr id="28" name="Shape 21"/>
          <p:cNvSpPr/>
          <p:nvPr/>
        </p:nvSpPr>
        <p:spPr>
          <a:xfrm>
            <a:off x="7839456" y="3561588"/>
            <a:ext cx="384048" cy="146304"/>
          </a:xfrm>
          <a:prstGeom prst="rightArrow">
            <a:avLst/>
          </a:prstGeom>
          <a:solidFill>
            <a:srgbClr val="AAB4CE"/>
          </a:solidFill>
          <a:ln/>
        </p:spPr>
      </p:sp>
      <p:sp>
        <p:nvSpPr>
          <p:cNvPr id="29" name="Shape 22"/>
          <p:cNvSpPr/>
          <p:nvPr/>
        </p:nvSpPr>
        <p:spPr>
          <a:xfrm>
            <a:off x="8260080" y="310896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30" name="Shape 23"/>
          <p:cNvSpPr/>
          <p:nvPr/>
        </p:nvSpPr>
        <p:spPr>
          <a:xfrm>
            <a:off x="9781032" y="3227832"/>
            <a:ext cx="402336" cy="402336"/>
          </a:xfrm>
          <a:prstGeom prst="ellipse">
            <a:avLst/>
          </a:prstGeom>
          <a:solidFill>
            <a:srgbClr val="1E2761"/>
          </a:solidFill>
          <a:ln/>
        </p:spPr>
      </p:sp>
      <p:pic>
        <p:nvPicPr>
          <p:cNvPr id="31" name="Image 5" descr="/home/claude/mrag/assets/icons/search.png">    </p:cNvPr>
          <p:cNvPicPr>
            <a:picLocks noChangeAspect="1"/>
          </p:cNvPicPr>
          <p:nvPr/>
        </p:nvPicPr>
        <p:blipFill>
          <a:blip r:embed="rId6"/>
          <a:stretch>
            <a:fillRect/>
          </a:stretch>
        </p:blipFill>
        <p:spPr>
          <a:xfrm>
            <a:off x="9853452" y="3300252"/>
            <a:ext cx="257495" cy="257495"/>
          </a:xfrm>
          <a:prstGeom prst="rect">
            <a:avLst/>
          </a:prstGeom>
        </p:spPr>
      </p:pic>
      <p:sp>
        <p:nvSpPr>
          <p:cNvPr id="32" name="Text 24"/>
          <p:cNvSpPr/>
          <p:nvPr/>
        </p:nvSpPr>
        <p:spPr>
          <a:xfrm>
            <a:off x="8296656" y="370332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Retriever</a:t>
            </a:r>
            <a:endParaRPr lang="en-US" sz="1300" dirty="0"/>
          </a:p>
        </p:txBody>
      </p:sp>
      <p:sp>
        <p:nvSpPr>
          <p:cNvPr id="33" name="Shape 25"/>
          <p:cNvSpPr/>
          <p:nvPr/>
        </p:nvSpPr>
        <p:spPr>
          <a:xfrm>
            <a:off x="5943600" y="4251960"/>
            <a:ext cx="256032" cy="256032"/>
          </a:xfrm>
          <a:prstGeom prst="downArrow">
            <a:avLst/>
          </a:prstGeom>
          <a:solidFill>
            <a:srgbClr val="AAB4CE"/>
          </a:solidFill>
          <a:ln/>
        </p:spPr>
      </p:sp>
      <p:sp>
        <p:nvSpPr>
          <p:cNvPr id="34" name="Shape 26"/>
          <p:cNvSpPr/>
          <p:nvPr/>
        </p:nvSpPr>
        <p:spPr>
          <a:xfrm>
            <a:off x="457200" y="461772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35" name="Shape 27"/>
          <p:cNvSpPr/>
          <p:nvPr/>
        </p:nvSpPr>
        <p:spPr>
          <a:xfrm>
            <a:off x="1978152" y="4736592"/>
            <a:ext cx="402336" cy="402336"/>
          </a:xfrm>
          <a:prstGeom prst="ellipse">
            <a:avLst/>
          </a:prstGeom>
          <a:solidFill>
            <a:srgbClr val="FF6B35"/>
          </a:solidFill>
          <a:ln/>
        </p:spPr>
      </p:sp>
      <p:pic>
        <p:nvPicPr>
          <p:cNvPr id="36" name="Image 6" descr="/home/claude/mrag/assets/icons/puzzle.png">    </p:cNvPr>
          <p:cNvPicPr>
            <a:picLocks noChangeAspect="1"/>
          </p:cNvPicPr>
          <p:nvPr/>
        </p:nvPicPr>
        <p:blipFill>
          <a:blip r:embed="rId7"/>
          <a:stretch>
            <a:fillRect/>
          </a:stretch>
        </p:blipFill>
        <p:spPr>
          <a:xfrm>
            <a:off x="2050572" y="4809012"/>
            <a:ext cx="257495" cy="257495"/>
          </a:xfrm>
          <a:prstGeom prst="rect">
            <a:avLst/>
          </a:prstGeom>
        </p:spPr>
      </p:pic>
      <p:sp>
        <p:nvSpPr>
          <p:cNvPr id="37" name="Text 28"/>
          <p:cNvSpPr/>
          <p:nvPr/>
        </p:nvSpPr>
        <p:spPr>
          <a:xfrm>
            <a:off x="493776" y="521208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Multimodal Context</a:t>
            </a:r>
            <a:endParaRPr lang="en-US" sz="1300" dirty="0"/>
          </a:p>
        </p:txBody>
      </p:sp>
      <p:sp>
        <p:nvSpPr>
          <p:cNvPr id="38" name="Shape 29"/>
          <p:cNvSpPr/>
          <p:nvPr/>
        </p:nvSpPr>
        <p:spPr>
          <a:xfrm>
            <a:off x="3938016" y="5070348"/>
            <a:ext cx="384048" cy="146304"/>
          </a:xfrm>
          <a:prstGeom prst="rightArrow">
            <a:avLst/>
          </a:prstGeom>
          <a:solidFill>
            <a:srgbClr val="AAB4CE"/>
          </a:solidFill>
          <a:ln/>
        </p:spPr>
      </p:sp>
      <p:sp>
        <p:nvSpPr>
          <p:cNvPr id="39" name="Shape 30"/>
          <p:cNvSpPr/>
          <p:nvPr/>
        </p:nvSpPr>
        <p:spPr>
          <a:xfrm>
            <a:off x="4358640" y="461772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40" name="Shape 31"/>
          <p:cNvSpPr/>
          <p:nvPr/>
        </p:nvSpPr>
        <p:spPr>
          <a:xfrm>
            <a:off x="5879592" y="4736592"/>
            <a:ext cx="402336" cy="402336"/>
          </a:xfrm>
          <a:prstGeom prst="ellipse">
            <a:avLst/>
          </a:prstGeom>
          <a:solidFill>
            <a:srgbClr val="FF6B35"/>
          </a:solidFill>
          <a:ln/>
        </p:spPr>
      </p:sp>
      <p:pic>
        <p:nvPicPr>
          <p:cNvPr id="41" name="Image 7" descr="/home/claude/mrag/assets/icons/brain.png">    </p:cNvPr>
          <p:cNvPicPr>
            <a:picLocks noChangeAspect="1"/>
          </p:cNvPicPr>
          <p:nvPr/>
        </p:nvPicPr>
        <p:blipFill>
          <a:blip r:embed="rId8"/>
          <a:stretch>
            <a:fillRect/>
          </a:stretch>
        </p:blipFill>
        <p:spPr>
          <a:xfrm>
            <a:off x="5952012" y="4809012"/>
            <a:ext cx="257495" cy="257495"/>
          </a:xfrm>
          <a:prstGeom prst="rect">
            <a:avLst/>
          </a:prstGeom>
        </p:spPr>
      </p:pic>
      <p:sp>
        <p:nvSpPr>
          <p:cNvPr id="42" name="Text 32"/>
          <p:cNvSpPr/>
          <p:nvPr/>
        </p:nvSpPr>
        <p:spPr>
          <a:xfrm>
            <a:off x="4395216" y="521208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LLM / VLM</a:t>
            </a:r>
            <a:endParaRPr lang="en-US" sz="1300" dirty="0"/>
          </a:p>
        </p:txBody>
      </p:sp>
      <p:sp>
        <p:nvSpPr>
          <p:cNvPr id="43" name="Shape 33"/>
          <p:cNvSpPr/>
          <p:nvPr/>
        </p:nvSpPr>
        <p:spPr>
          <a:xfrm>
            <a:off x="7839456" y="5070348"/>
            <a:ext cx="384048" cy="146304"/>
          </a:xfrm>
          <a:prstGeom prst="rightArrow">
            <a:avLst/>
          </a:prstGeom>
          <a:solidFill>
            <a:srgbClr val="AAB4CE"/>
          </a:solidFill>
          <a:ln/>
        </p:spPr>
      </p:sp>
      <p:sp>
        <p:nvSpPr>
          <p:cNvPr id="44" name="Shape 34"/>
          <p:cNvSpPr/>
          <p:nvPr/>
        </p:nvSpPr>
        <p:spPr>
          <a:xfrm>
            <a:off x="8260080" y="4617720"/>
            <a:ext cx="3444240" cy="1051560"/>
          </a:xfrm>
          <a:prstGeom prst="roundRect">
            <a:avLst>
              <a:gd name="adj" fmla="val 8696"/>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45" name="Shape 35"/>
          <p:cNvSpPr/>
          <p:nvPr/>
        </p:nvSpPr>
        <p:spPr>
          <a:xfrm>
            <a:off x="9781032" y="4736592"/>
            <a:ext cx="402336" cy="402336"/>
          </a:xfrm>
          <a:prstGeom prst="ellipse">
            <a:avLst/>
          </a:prstGeom>
          <a:solidFill>
            <a:srgbClr val="FF6B35"/>
          </a:solidFill>
          <a:ln/>
        </p:spPr>
      </p:sp>
      <p:pic>
        <p:nvPicPr>
          <p:cNvPr id="46" name="Image 8" descr="/home/claude/mrag/assets/icons/check.png">    </p:cNvPr>
          <p:cNvPicPr>
            <a:picLocks noChangeAspect="1"/>
          </p:cNvPicPr>
          <p:nvPr/>
        </p:nvPicPr>
        <p:blipFill>
          <a:blip r:embed="rId9"/>
          <a:stretch>
            <a:fillRect/>
          </a:stretch>
        </p:blipFill>
        <p:spPr>
          <a:xfrm>
            <a:off x="9853452" y="4809012"/>
            <a:ext cx="257495" cy="257495"/>
          </a:xfrm>
          <a:prstGeom prst="rect">
            <a:avLst/>
          </a:prstGeom>
        </p:spPr>
      </p:pic>
      <p:sp>
        <p:nvSpPr>
          <p:cNvPr id="47" name="Text 36"/>
          <p:cNvSpPr/>
          <p:nvPr/>
        </p:nvSpPr>
        <p:spPr>
          <a:xfrm>
            <a:off x="8296656" y="5212080"/>
            <a:ext cx="3371088" cy="438912"/>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Answer</a:t>
            </a:r>
            <a:endParaRPr lang="en-US" sz="1300" dirty="0"/>
          </a:p>
        </p:txBody>
      </p:sp>
      <p:sp>
        <p:nvSpPr>
          <p:cNvPr id="48" name="Text 37"/>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49" name="Text 38"/>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07 / 22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 — ARCHITECTURE</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Happens to a Table?</a:t>
            </a:r>
            <a:endParaRPr lang="en-US" sz="3200" dirty="0"/>
          </a:p>
        </p:txBody>
      </p:sp>
      <p:sp>
        <p:nvSpPr>
          <p:cNvPr id="4" name="Shape 2"/>
          <p:cNvSpPr/>
          <p:nvPr/>
        </p:nvSpPr>
        <p:spPr>
          <a:xfrm>
            <a:off x="594360" y="1691640"/>
            <a:ext cx="4251960" cy="603504"/>
          </a:xfrm>
          <a:prstGeom prst="roundRect">
            <a:avLst>
              <a:gd name="adj" fmla="val 12121"/>
            </a:avLst>
          </a:prstGeom>
          <a:solidFill>
            <a:srgbClr val="1E2761"/>
          </a:solidFill>
          <a:ln/>
        </p:spPr>
      </p:sp>
      <p:sp>
        <p:nvSpPr>
          <p:cNvPr id="5" name="Text 3"/>
          <p:cNvSpPr/>
          <p:nvPr/>
        </p:nvSpPr>
        <p:spPr>
          <a:xfrm>
            <a:off x="685800" y="169164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PDF Table</a:t>
            </a:r>
            <a:endParaRPr lang="en-US" sz="1300" dirty="0"/>
          </a:p>
        </p:txBody>
      </p:sp>
      <p:sp>
        <p:nvSpPr>
          <p:cNvPr id="6" name="Shape 4"/>
          <p:cNvSpPr/>
          <p:nvPr/>
        </p:nvSpPr>
        <p:spPr>
          <a:xfrm>
            <a:off x="2638044" y="2313432"/>
            <a:ext cx="164592" cy="182880"/>
          </a:xfrm>
          <a:prstGeom prst="downArrow">
            <a:avLst/>
          </a:prstGeom>
          <a:solidFill>
            <a:srgbClr val="AAB4CE"/>
          </a:solidFill>
          <a:ln/>
        </p:spPr>
      </p:sp>
      <p:sp>
        <p:nvSpPr>
          <p:cNvPr id="7" name="Shape 5"/>
          <p:cNvSpPr/>
          <p:nvPr/>
        </p:nvSpPr>
        <p:spPr>
          <a:xfrm>
            <a:off x="594360" y="2514600"/>
            <a:ext cx="4251960" cy="603504"/>
          </a:xfrm>
          <a:prstGeom prst="roundRect">
            <a:avLst>
              <a:gd name="adj" fmla="val 12121"/>
            </a:avLst>
          </a:prstGeom>
          <a:solidFill>
            <a:srgbClr val="1E2761"/>
          </a:solidFill>
          <a:ln/>
        </p:spPr>
      </p:sp>
      <p:sp>
        <p:nvSpPr>
          <p:cNvPr id="8" name="Text 6"/>
          <p:cNvSpPr/>
          <p:nvPr/>
        </p:nvSpPr>
        <p:spPr>
          <a:xfrm>
            <a:off x="685800" y="251460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Table Extraction</a:t>
            </a:r>
            <a:endParaRPr lang="en-US" sz="1300" dirty="0"/>
          </a:p>
        </p:txBody>
      </p:sp>
      <p:sp>
        <p:nvSpPr>
          <p:cNvPr id="9" name="Shape 7"/>
          <p:cNvSpPr/>
          <p:nvPr/>
        </p:nvSpPr>
        <p:spPr>
          <a:xfrm>
            <a:off x="2638044" y="3136392"/>
            <a:ext cx="164592" cy="182880"/>
          </a:xfrm>
          <a:prstGeom prst="downArrow">
            <a:avLst/>
          </a:prstGeom>
          <a:solidFill>
            <a:srgbClr val="AAB4CE"/>
          </a:solidFill>
          <a:ln/>
        </p:spPr>
      </p:sp>
      <p:sp>
        <p:nvSpPr>
          <p:cNvPr id="10" name="Shape 8"/>
          <p:cNvSpPr/>
          <p:nvPr/>
        </p:nvSpPr>
        <p:spPr>
          <a:xfrm>
            <a:off x="594360" y="3337560"/>
            <a:ext cx="4251960" cy="603504"/>
          </a:xfrm>
          <a:prstGeom prst="roundRect">
            <a:avLst>
              <a:gd name="adj" fmla="val 12121"/>
            </a:avLst>
          </a:prstGeom>
          <a:solidFill>
            <a:srgbClr val="1E2761"/>
          </a:solidFill>
          <a:ln/>
        </p:spPr>
      </p:sp>
      <p:sp>
        <p:nvSpPr>
          <p:cNvPr id="11" name="Text 9"/>
          <p:cNvSpPr/>
          <p:nvPr/>
        </p:nvSpPr>
        <p:spPr>
          <a:xfrm>
            <a:off x="685800" y="333756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Structured Representation</a:t>
            </a:r>
            <a:endParaRPr lang="en-US" sz="1300" dirty="0"/>
          </a:p>
        </p:txBody>
      </p:sp>
      <p:sp>
        <p:nvSpPr>
          <p:cNvPr id="12" name="Shape 10"/>
          <p:cNvSpPr/>
          <p:nvPr/>
        </p:nvSpPr>
        <p:spPr>
          <a:xfrm>
            <a:off x="2638044" y="3959352"/>
            <a:ext cx="164592" cy="182880"/>
          </a:xfrm>
          <a:prstGeom prst="downArrow">
            <a:avLst/>
          </a:prstGeom>
          <a:solidFill>
            <a:srgbClr val="AAB4CE"/>
          </a:solidFill>
          <a:ln/>
        </p:spPr>
      </p:sp>
      <p:sp>
        <p:nvSpPr>
          <p:cNvPr id="13" name="Shape 11"/>
          <p:cNvSpPr/>
          <p:nvPr/>
        </p:nvSpPr>
        <p:spPr>
          <a:xfrm>
            <a:off x="594360" y="4160520"/>
            <a:ext cx="4251960" cy="603504"/>
          </a:xfrm>
          <a:prstGeom prst="roundRect">
            <a:avLst>
              <a:gd name="adj" fmla="val 12121"/>
            </a:avLst>
          </a:prstGeom>
          <a:solidFill>
            <a:srgbClr val="1E2761"/>
          </a:solidFill>
          <a:ln/>
        </p:spPr>
      </p:sp>
      <p:sp>
        <p:nvSpPr>
          <p:cNvPr id="14" name="Text 12"/>
          <p:cNvSpPr/>
          <p:nvPr/>
        </p:nvSpPr>
        <p:spPr>
          <a:xfrm>
            <a:off x="685800" y="416052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Embedding / Indexing</a:t>
            </a:r>
            <a:endParaRPr lang="en-US" sz="1300" dirty="0"/>
          </a:p>
        </p:txBody>
      </p:sp>
      <p:sp>
        <p:nvSpPr>
          <p:cNvPr id="15" name="Shape 13"/>
          <p:cNvSpPr/>
          <p:nvPr/>
        </p:nvSpPr>
        <p:spPr>
          <a:xfrm>
            <a:off x="2638044" y="4782312"/>
            <a:ext cx="164592" cy="182880"/>
          </a:xfrm>
          <a:prstGeom prst="downArrow">
            <a:avLst/>
          </a:prstGeom>
          <a:solidFill>
            <a:srgbClr val="AAB4CE"/>
          </a:solidFill>
          <a:ln/>
        </p:spPr>
      </p:sp>
      <p:sp>
        <p:nvSpPr>
          <p:cNvPr id="16" name="Shape 14"/>
          <p:cNvSpPr/>
          <p:nvPr/>
        </p:nvSpPr>
        <p:spPr>
          <a:xfrm>
            <a:off x="594360" y="4983480"/>
            <a:ext cx="4251960" cy="603504"/>
          </a:xfrm>
          <a:prstGeom prst="roundRect">
            <a:avLst>
              <a:gd name="adj" fmla="val 12121"/>
            </a:avLst>
          </a:prstGeom>
          <a:solidFill>
            <a:srgbClr val="1E2761"/>
          </a:solidFill>
          <a:ln/>
        </p:spPr>
      </p:sp>
      <p:sp>
        <p:nvSpPr>
          <p:cNvPr id="17" name="Text 15"/>
          <p:cNvSpPr/>
          <p:nvPr/>
        </p:nvSpPr>
        <p:spPr>
          <a:xfrm>
            <a:off x="685800" y="498348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Retrieval</a:t>
            </a:r>
            <a:endParaRPr lang="en-US" sz="1300" dirty="0"/>
          </a:p>
        </p:txBody>
      </p:sp>
      <p:sp>
        <p:nvSpPr>
          <p:cNvPr id="18" name="Shape 16"/>
          <p:cNvSpPr/>
          <p:nvPr/>
        </p:nvSpPr>
        <p:spPr>
          <a:xfrm>
            <a:off x="2638044" y="5605272"/>
            <a:ext cx="164592" cy="182880"/>
          </a:xfrm>
          <a:prstGeom prst="downArrow">
            <a:avLst/>
          </a:prstGeom>
          <a:solidFill>
            <a:srgbClr val="AAB4CE"/>
          </a:solidFill>
          <a:ln/>
        </p:spPr>
      </p:sp>
      <p:sp>
        <p:nvSpPr>
          <p:cNvPr id="19" name="Shape 17"/>
          <p:cNvSpPr/>
          <p:nvPr/>
        </p:nvSpPr>
        <p:spPr>
          <a:xfrm>
            <a:off x="594360" y="5806440"/>
            <a:ext cx="4251960" cy="603504"/>
          </a:xfrm>
          <a:prstGeom prst="roundRect">
            <a:avLst>
              <a:gd name="adj" fmla="val 12121"/>
            </a:avLst>
          </a:prstGeom>
          <a:solidFill>
            <a:srgbClr val="FF6B35"/>
          </a:solidFill>
          <a:ln/>
        </p:spPr>
      </p:sp>
      <p:sp>
        <p:nvSpPr>
          <p:cNvPr id="20" name="Text 18"/>
          <p:cNvSpPr/>
          <p:nvPr/>
        </p:nvSpPr>
        <p:spPr>
          <a:xfrm>
            <a:off x="685800" y="580644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p>
        </p:txBody>
      </p:sp>
      <p:pic>
        <p:nvPicPr>
          <p:cNvPr id="21" name="Image 0" descr="/home/claude/mrag/assets/mockups/table_closeup.png">    </p:cNvPr>
          <p:cNvPicPr>
            <a:picLocks noChangeAspect="1"/>
          </p:cNvPicPr>
          <p:nvPr/>
        </p:nvPicPr>
        <p:blipFill>
          <a:blip r:embed="rId1"/>
          <a:stretch>
            <a:fillRect/>
          </a:stretch>
        </p:blipFill>
        <p:spPr>
          <a:xfrm>
            <a:off x="5349240" y="1691640"/>
            <a:ext cx="6309360" cy="3556185"/>
          </a:xfrm>
          <a:prstGeom prst="rect">
            <a:avLst/>
          </a:prstGeom>
        </p:spPr>
      </p:pic>
      <p:sp>
        <p:nvSpPr>
          <p:cNvPr id="22" name="Text 19"/>
          <p:cNvSpPr/>
          <p:nvPr/>
        </p:nvSpPr>
        <p:spPr>
          <a:xfrm>
            <a:off x="5349240" y="5476425"/>
            <a:ext cx="6309360" cy="1188720"/>
          </a:xfrm>
          <a:prstGeom prst="rect">
            <a:avLst/>
          </a:prstGeom>
          <a:noFill/>
          <a:ln/>
        </p:spPr>
        <p:txBody>
          <a:bodyPr wrap="square"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A markdown/structured table preserves rows, columns &amp; headers — so "North America, 2024 → 498" stays a single, retrievable fact.</a:t>
            </a:r>
            <a:endParaRPr lang="en-US" sz="1400" dirty="0"/>
          </a:p>
        </p:txBody>
      </p:sp>
      <p:sp>
        <p:nvSpPr>
          <p:cNvPr id="23" name="Text 20"/>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24" name="Text 21"/>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08 / 22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4 — ARCHITECTURE</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Happens to an Image?</a:t>
            </a:r>
            <a:endParaRPr lang="en-US" sz="3200" dirty="0"/>
          </a:p>
        </p:txBody>
      </p:sp>
      <p:sp>
        <p:nvSpPr>
          <p:cNvPr id="4" name="Shape 2"/>
          <p:cNvSpPr/>
          <p:nvPr/>
        </p:nvSpPr>
        <p:spPr>
          <a:xfrm>
            <a:off x="594360" y="1691640"/>
            <a:ext cx="4251960" cy="603504"/>
          </a:xfrm>
          <a:prstGeom prst="roundRect">
            <a:avLst>
              <a:gd name="adj" fmla="val 12121"/>
            </a:avLst>
          </a:prstGeom>
          <a:solidFill>
            <a:srgbClr val="1C7293"/>
          </a:solidFill>
          <a:ln/>
        </p:spPr>
      </p:sp>
      <p:sp>
        <p:nvSpPr>
          <p:cNvPr id="5" name="Text 3"/>
          <p:cNvSpPr/>
          <p:nvPr/>
        </p:nvSpPr>
        <p:spPr>
          <a:xfrm>
            <a:off x="685800" y="169164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Image</a:t>
            </a:r>
            <a:endParaRPr lang="en-US" sz="1300" dirty="0"/>
          </a:p>
        </p:txBody>
      </p:sp>
      <p:sp>
        <p:nvSpPr>
          <p:cNvPr id="6" name="Shape 4"/>
          <p:cNvSpPr/>
          <p:nvPr/>
        </p:nvSpPr>
        <p:spPr>
          <a:xfrm>
            <a:off x="2638044" y="2313432"/>
            <a:ext cx="164592" cy="182880"/>
          </a:xfrm>
          <a:prstGeom prst="downArrow">
            <a:avLst/>
          </a:prstGeom>
          <a:solidFill>
            <a:srgbClr val="AAB4CE"/>
          </a:solidFill>
          <a:ln/>
        </p:spPr>
      </p:sp>
      <p:sp>
        <p:nvSpPr>
          <p:cNvPr id="7" name="Shape 5"/>
          <p:cNvSpPr/>
          <p:nvPr/>
        </p:nvSpPr>
        <p:spPr>
          <a:xfrm>
            <a:off x="594360" y="2514600"/>
            <a:ext cx="4251960" cy="603504"/>
          </a:xfrm>
          <a:prstGeom prst="roundRect">
            <a:avLst>
              <a:gd name="adj" fmla="val 12121"/>
            </a:avLst>
          </a:prstGeom>
          <a:solidFill>
            <a:srgbClr val="1C7293"/>
          </a:solidFill>
          <a:ln/>
        </p:spPr>
      </p:sp>
      <p:sp>
        <p:nvSpPr>
          <p:cNvPr id="8" name="Text 6"/>
          <p:cNvSpPr/>
          <p:nvPr/>
        </p:nvSpPr>
        <p:spPr>
          <a:xfrm>
            <a:off x="685800" y="251460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Image Representation</a:t>
            </a:r>
            <a:endParaRPr lang="en-US" sz="1300" dirty="0"/>
          </a:p>
        </p:txBody>
      </p:sp>
      <p:sp>
        <p:nvSpPr>
          <p:cNvPr id="9" name="Shape 7"/>
          <p:cNvSpPr/>
          <p:nvPr/>
        </p:nvSpPr>
        <p:spPr>
          <a:xfrm>
            <a:off x="2638044" y="3136392"/>
            <a:ext cx="164592" cy="182880"/>
          </a:xfrm>
          <a:prstGeom prst="downArrow">
            <a:avLst/>
          </a:prstGeom>
          <a:solidFill>
            <a:srgbClr val="AAB4CE"/>
          </a:solidFill>
          <a:ln/>
        </p:spPr>
      </p:sp>
      <p:sp>
        <p:nvSpPr>
          <p:cNvPr id="10" name="Shape 8"/>
          <p:cNvSpPr/>
          <p:nvPr/>
        </p:nvSpPr>
        <p:spPr>
          <a:xfrm>
            <a:off x="594360" y="3337560"/>
            <a:ext cx="4251960" cy="603504"/>
          </a:xfrm>
          <a:prstGeom prst="roundRect">
            <a:avLst>
              <a:gd name="adj" fmla="val 12121"/>
            </a:avLst>
          </a:prstGeom>
          <a:solidFill>
            <a:srgbClr val="1C7293"/>
          </a:solidFill>
          <a:ln/>
        </p:spPr>
      </p:sp>
      <p:sp>
        <p:nvSpPr>
          <p:cNvPr id="11" name="Text 9"/>
          <p:cNvSpPr/>
          <p:nvPr/>
        </p:nvSpPr>
        <p:spPr>
          <a:xfrm>
            <a:off x="685800" y="333756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Index</a:t>
            </a:r>
            <a:endParaRPr lang="en-US" sz="1300" dirty="0"/>
          </a:p>
        </p:txBody>
      </p:sp>
      <p:sp>
        <p:nvSpPr>
          <p:cNvPr id="12" name="Shape 10"/>
          <p:cNvSpPr/>
          <p:nvPr/>
        </p:nvSpPr>
        <p:spPr>
          <a:xfrm>
            <a:off x="2638044" y="3959352"/>
            <a:ext cx="164592" cy="182880"/>
          </a:xfrm>
          <a:prstGeom prst="downArrow">
            <a:avLst/>
          </a:prstGeom>
          <a:solidFill>
            <a:srgbClr val="AAB4CE"/>
          </a:solidFill>
          <a:ln/>
        </p:spPr>
      </p:sp>
      <p:sp>
        <p:nvSpPr>
          <p:cNvPr id="13" name="Shape 11"/>
          <p:cNvSpPr/>
          <p:nvPr/>
        </p:nvSpPr>
        <p:spPr>
          <a:xfrm>
            <a:off x="594360" y="4160520"/>
            <a:ext cx="4251960" cy="603504"/>
          </a:xfrm>
          <a:prstGeom prst="roundRect">
            <a:avLst>
              <a:gd name="adj" fmla="val 12121"/>
            </a:avLst>
          </a:prstGeom>
          <a:solidFill>
            <a:srgbClr val="1C7293"/>
          </a:solidFill>
          <a:ln/>
        </p:spPr>
      </p:sp>
      <p:sp>
        <p:nvSpPr>
          <p:cNvPr id="14" name="Text 12"/>
          <p:cNvSpPr/>
          <p:nvPr/>
        </p:nvSpPr>
        <p:spPr>
          <a:xfrm>
            <a:off x="685800" y="416052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Retrieve</a:t>
            </a:r>
            <a:endParaRPr lang="en-US" sz="1300" dirty="0"/>
          </a:p>
        </p:txBody>
      </p:sp>
      <p:sp>
        <p:nvSpPr>
          <p:cNvPr id="15" name="Shape 13"/>
          <p:cNvSpPr/>
          <p:nvPr/>
        </p:nvSpPr>
        <p:spPr>
          <a:xfrm>
            <a:off x="2638044" y="4782312"/>
            <a:ext cx="164592" cy="182880"/>
          </a:xfrm>
          <a:prstGeom prst="downArrow">
            <a:avLst/>
          </a:prstGeom>
          <a:solidFill>
            <a:srgbClr val="AAB4CE"/>
          </a:solidFill>
          <a:ln/>
        </p:spPr>
      </p:sp>
      <p:sp>
        <p:nvSpPr>
          <p:cNvPr id="16" name="Shape 14"/>
          <p:cNvSpPr/>
          <p:nvPr/>
        </p:nvSpPr>
        <p:spPr>
          <a:xfrm>
            <a:off x="594360" y="4983480"/>
            <a:ext cx="4251960" cy="603504"/>
          </a:xfrm>
          <a:prstGeom prst="roundRect">
            <a:avLst>
              <a:gd name="adj" fmla="val 12121"/>
            </a:avLst>
          </a:prstGeom>
          <a:solidFill>
            <a:srgbClr val="1C7293"/>
          </a:solidFill>
          <a:ln/>
        </p:spPr>
      </p:sp>
      <p:sp>
        <p:nvSpPr>
          <p:cNvPr id="17" name="Text 15"/>
          <p:cNvSpPr/>
          <p:nvPr/>
        </p:nvSpPr>
        <p:spPr>
          <a:xfrm>
            <a:off x="685800" y="498348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Vision-Language Model</a:t>
            </a:r>
            <a:endParaRPr lang="en-US" sz="1300" dirty="0"/>
          </a:p>
        </p:txBody>
      </p:sp>
      <p:sp>
        <p:nvSpPr>
          <p:cNvPr id="18" name="Shape 16"/>
          <p:cNvSpPr/>
          <p:nvPr/>
        </p:nvSpPr>
        <p:spPr>
          <a:xfrm>
            <a:off x="2638044" y="5605272"/>
            <a:ext cx="164592" cy="182880"/>
          </a:xfrm>
          <a:prstGeom prst="downArrow">
            <a:avLst/>
          </a:prstGeom>
          <a:solidFill>
            <a:srgbClr val="AAB4CE"/>
          </a:solidFill>
          <a:ln/>
        </p:spPr>
      </p:sp>
      <p:sp>
        <p:nvSpPr>
          <p:cNvPr id="19" name="Shape 17"/>
          <p:cNvSpPr/>
          <p:nvPr/>
        </p:nvSpPr>
        <p:spPr>
          <a:xfrm>
            <a:off x="594360" y="5806440"/>
            <a:ext cx="4251960" cy="603504"/>
          </a:xfrm>
          <a:prstGeom prst="roundRect">
            <a:avLst>
              <a:gd name="adj" fmla="val 12121"/>
            </a:avLst>
          </a:prstGeom>
          <a:solidFill>
            <a:srgbClr val="FF6B35"/>
          </a:solidFill>
          <a:ln/>
        </p:spPr>
      </p:sp>
      <p:sp>
        <p:nvSpPr>
          <p:cNvPr id="20" name="Text 18"/>
          <p:cNvSpPr/>
          <p:nvPr/>
        </p:nvSpPr>
        <p:spPr>
          <a:xfrm>
            <a:off x="685800" y="5806440"/>
            <a:ext cx="4069080" cy="60350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p>
        </p:txBody>
      </p:sp>
      <p:pic>
        <p:nvPicPr>
          <p:cNvPr id="21" name="Image 0" descr="/home/claude/mrag/assets/mockups/chart_closeup.png">    </p:cNvPr>
          <p:cNvPicPr>
            <a:picLocks noChangeAspect="1"/>
          </p:cNvPicPr>
          <p:nvPr/>
        </p:nvPicPr>
        <p:blipFill>
          <a:blip r:embed="rId1"/>
          <a:stretch>
            <a:fillRect/>
          </a:stretch>
        </p:blipFill>
        <p:spPr>
          <a:xfrm>
            <a:off x="5349240" y="1600200"/>
            <a:ext cx="6309360" cy="4301836"/>
          </a:xfrm>
          <a:prstGeom prst="rect">
            <a:avLst/>
          </a:prstGeom>
        </p:spPr>
      </p:pic>
      <p:sp>
        <p:nvSpPr>
          <p:cNvPr id="22" name="Text 19"/>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23" name="Text 20"/>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09 / 22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SECTION 4 — ARCHITECTURE</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Happens to a Video?</a:t>
            </a:r>
            <a:endParaRPr lang="en-US" sz="3200" dirty="0"/>
          </a:p>
        </p:txBody>
      </p:sp>
      <p:pic>
        <p:nvPicPr>
          <p:cNvPr id="4" name="Image 0" descr="/home/claude/mrag/assets/mockups/video_frame.png">    </p:cNvPr>
          <p:cNvPicPr>
            <a:picLocks noChangeAspect="1"/>
          </p:cNvPicPr>
          <p:nvPr/>
        </p:nvPicPr>
        <p:blipFill>
          <a:blip r:embed="rId1"/>
          <a:stretch>
            <a:fillRect/>
          </a:stretch>
        </p:blipFill>
        <p:spPr>
          <a:xfrm>
            <a:off x="6309360" y="1645920"/>
            <a:ext cx="5394960" cy="3034665"/>
          </a:xfrm>
          <a:prstGeom prst="rect">
            <a:avLst/>
          </a:prstGeom>
        </p:spPr>
      </p:pic>
      <p:sp>
        <p:nvSpPr>
          <p:cNvPr id="5" name="Shape 2"/>
          <p:cNvSpPr/>
          <p:nvPr/>
        </p:nvSpPr>
        <p:spPr>
          <a:xfrm>
            <a:off x="594360" y="1417320"/>
            <a:ext cx="5212080" cy="502920"/>
          </a:xfrm>
          <a:prstGeom prst="roundRect">
            <a:avLst>
              <a:gd name="adj" fmla="val 14545"/>
            </a:avLst>
          </a:prstGeom>
          <a:solidFill>
            <a:srgbClr val="1C7293"/>
          </a:solidFill>
          <a:ln/>
        </p:spPr>
      </p:sp>
      <p:sp>
        <p:nvSpPr>
          <p:cNvPr id="6" name="Text 3"/>
          <p:cNvSpPr/>
          <p:nvPr/>
        </p:nvSpPr>
        <p:spPr>
          <a:xfrm>
            <a:off x="685800" y="1417320"/>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Video</a:t>
            </a:r>
            <a:endParaRPr lang="en-US" sz="1300" dirty="0"/>
          </a:p>
        </p:txBody>
      </p:sp>
      <p:sp>
        <p:nvSpPr>
          <p:cNvPr id="7" name="Shape 4"/>
          <p:cNvSpPr/>
          <p:nvPr/>
        </p:nvSpPr>
        <p:spPr>
          <a:xfrm>
            <a:off x="3118104" y="1938528"/>
            <a:ext cx="164592" cy="82296"/>
          </a:xfrm>
          <a:prstGeom prst="downArrow">
            <a:avLst/>
          </a:prstGeom>
          <a:solidFill>
            <a:srgbClr val="AAB4CE"/>
          </a:solidFill>
          <a:ln/>
        </p:spPr>
      </p:sp>
      <p:sp>
        <p:nvSpPr>
          <p:cNvPr id="8" name="Shape 5"/>
          <p:cNvSpPr/>
          <p:nvPr/>
        </p:nvSpPr>
        <p:spPr>
          <a:xfrm>
            <a:off x="594360" y="2039112"/>
            <a:ext cx="5212080" cy="502920"/>
          </a:xfrm>
          <a:prstGeom prst="roundRect">
            <a:avLst>
              <a:gd name="adj" fmla="val 14545"/>
            </a:avLst>
          </a:prstGeom>
          <a:solidFill>
            <a:srgbClr val="1C7293"/>
          </a:solidFill>
          <a:ln/>
        </p:spPr>
      </p:sp>
      <p:sp>
        <p:nvSpPr>
          <p:cNvPr id="9" name="Text 6"/>
          <p:cNvSpPr/>
          <p:nvPr/>
        </p:nvSpPr>
        <p:spPr>
          <a:xfrm>
            <a:off x="685800" y="2039112"/>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Frames</a:t>
            </a:r>
            <a:endParaRPr lang="en-US" sz="1300" dirty="0"/>
          </a:p>
        </p:txBody>
      </p:sp>
      <p:sp>
        <p:nvSpPr>
          <p:cNvPr id="10" name="Shape 7"/>
          <p:cNvSpPr/>
          <p:nvPr/>
        </p:nvSpPr>
        <p:spPr>
          <a:xfrm>
            <a:off x="3118104" y="2560320"/>
            <a:ext cx="164592" cy="82296"/>
          </a:xfrm>
          <a:prstGeom prst="downArrow">
            <a:avLst/>
          </a:prstGeom>
          <a:solidFill>
            <a:srgbClr val="AAB4CE"/>
          </a:solidFill>
          <a:ln/>
        </p:spPr>
      </p:sp>
      <p:sp>
        <p:nvSpPr>
          <p:cNvPr id="11" name="Shape 8"/>
          <p:cNvSpPr/>
          <p:nvPr/>
        </p:nvSpPr>
        <p:spPr>
          <a:xfrm>
            <a:off x="594360" y="2660904"/>
            <a:ext cx="5212080" cy="502920"/>
          </a:xfrm>
          <a:prstGeom prst="roundRect">
            <a:avLst>
              <a:gd name="adj" fmla="val 14545"/>
            </a:avLst>
          </a:prstGeom>
          <a:solidFill>
            <a:srgbClr val="1C7293"/>
          </a:solidFill>
          <a:ln/>
        </p:spPr>
      </p:sp>
      <p:sp>
        <p:nvSpPr>
          <p:cNvPr id="12" name="Text 9"/>
          <p:cNvSpPr/>
          <p:nvPr/>
        </p:nvSpPr>
        <p:spPr>
          <a:xfrm>
            <a:off x="685800" y="2660904"/>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Audio</a:t>
            </a:r>
            <a:endParaRPr lang="en-US" sz="1300" dirty="0"/>
          </a:p>
        </p:txBody>
      </p:sp>
      <p:sp>
        <p:nvSpPr>
          <p:cNvPr id="13" name="Shape 10"/>
          <p:cNvSpPr/>
          <p:nvPr/>
        </p:nvSpPr>
        <p:spPr>
          <a:xfrm>
            <a:off x="3118104" y="3182112"/>
            <a:ext cx="164592" cy="82296"/>
          </a:xfrm>
          <a:prstGeom prst="downArrow">
            <a:avLst/>
          </a:prstGeom>
          <a:solidFill>
            <a:srgbClr val="AAB4CE"/>
          </a:solidFill>
          <a:ln/>
        </p:spPr>
      </p:sp>
      <p:sp>
        <p:nvSpPr>
          <p:cNvPr id="14" name="Shape 11"/>
          <p:cNvSpPr/>
          <p:nvPr/>
        </p:nvSpPr>
        <p:spPr>
          <a:xfrm>
            <a:off x="594360" y="3282696"/>
            <a:ext cx="5212080" cy="502920"/>
          </a:xfrm>
          <a:prstGeom prst="roundRect">
            <a:avLst>
              <a:gd name="adj" fmla="val 14545"/>
            </a:avLst>
          </a:prstGeom>
          <a:solidFill>
            <a:srgbClr val="1C7293"/>
          </a:solidFill>
          <a:ln/>
        </p:spPr>
      </p:sp>
      <p:sp>
        <p:nvSpPr>
          <p:cNvPr id="15" name="Text 12"/>
          <p:cNvSpPr/>
          <p:nvPr/>
        </p:nvSpPr>
        <p:spPr>
          <a:xfrm>
            <a:off x="685800" y="3282696"/>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Transcript</a:t>
            </a:r>
            <a:endParaRPr lang="en-US" sz="1300" dirty="0"/>
          </a:p>
        </p:txBody>
      </p:sp>
      <p:sp>
        <p:nvSpPr>
          <p:cNvPr id="16" name="Shape 13"/>
          <p:cNvSpPr/>
          <p:nvPr/>
        </p:nvSpPr>
        <p:spPr>
          <a:xfrm>
            <a:off x="3118104" y="3803904"/>
            <a:ext cx="164592" cy="82296"/>
          </a:xfrm>
          <a:prstGeom prst="downArrow">
            <a:avLst/>
          </a:prstGeom>
          <a:solidFill>
            <a:srgbClr val="AAB4CE"/>
          </a:solidFill>
          <a:ln/>
        </p:spPr>
      </p:sp>
      <p:sp>
        <p:nvSpPr>
          <p:cNvPr id="17" name="Shape 14"/>
          <p:cNvSpPr/>
          <p:nvPr/>
        </p:nvSpPr>
        <p:spPr>
          <a:xfrm>
            <a:off x="594360" y="3904488"/>
            <a:ext cx="5212080" cy="502920"/>
          </a:xfrm>
          <a:prstGeom prst="roundRect">
            <a:avLst>
              <a:gd name="adj" fmla="val 14545"/>
            </a:avLst>
          </a:prstGeom>
          <a:solidFill>
            <a:srgbClr val="1C7293"/>
          </a:solidFill>
          <a:ln/>
        </p:spPr>
      </p:sp>
      <p:sp>
        <p:nvSpPr>
          <p:cNvPr id="18" name="Text 15"/>
          <p:cNvSpPr/>
          <p:nvPr/>
        </p:nvSpPr>
        <p:spPr>
          <a:xfrm>
            <a:off x="685800" y="3904488"/>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Representations</a:t>
            </a:r>
            <a:endParaRPr lang="en-US" sz="1300" dirty="0"/>
          </a:p>
        </p:txBody>
      </p:sp>
      <p:sp>
        <p:nvSpPr>
          <p:cNvPr id="19" name="Shape 16"/>
          <p:cNvSpPr/>
          <p:nvPr/>
        </p:nvSpPr>
        <p:spPr>
          <a:xfrm>
            <a:off x="3118104" y="4425696"/>
            <a:ext cx="164592" cy="82296"/>
          </a:xfrm>
          <a:prstGeom prst="downArrow">
            <a:avLst/>
          </a:prstGeom>
          <a:solidFill>
            <a:srgbClr val="AAB4CE"/>
          </a:solidFill>
          <a:ln/>
        </p:spPr>
      </p:sp>
      <p:sp>
        <p:nvSpPr>
          <p:cNvPr id="20" name="Shape 17"/>
          <p:cNvSpPr/>
          <p:nvPr/>
        </p:nvSpPr>
        <p:spPr>
          <a:xfrm>
            <a:off x="594360" y="4526280"/>
            <a:ext cx="5212080" cy="502920"/>
          </a:xfrm>
          <a:prstGeom prst="roundRect">
            <a:avLst>
              <a:gd name="adj" fmla="val 14545"/>
            </a:avLst>
          </a:prstGeom>
          <a:solidFill>
            <a:srgbClr val="1C7293"/>
          </a:solidFill>
          <a:ln/>
        </p:spPr>
      </p:sp>
      <p:sp>
        <p:nvSpPr>
          <p:cNvPr id="21" name="Text 18"/>
          <p:cNvSpPr/>
          <p:nvPr/>
        </p:nvSpPr>
        <p:spPr>
          <a:xfrm>
            <a:off x="685800" y="4526280"/>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Retrieval</a:t>
            </a:r>
            <a:endParaRPr lang="en-US" sz="1300" dirty="0"/>
          </a:p>
        </p:txBody>
      </p:sp>
      <p:sp>
        <p:nvSpPr>
          <p:cNvPr id="22" name="Shape 19"/>
          <p:cNvSpPr/>
          <p:nvPr/>
        </p:nvSpPr>
        <p:spPr>
          <a:xfrm>
            <a:off x="3118104" y="5047488"/>
            <a:ext cx="164592" cy="82296"/>
          </a:xfrm>
          <a:prstGeom prst="downArrow">
            <a:avLst/>
          </a:prstGeom>
          <a:solidFill>
            <a:srgbClr val="AAB4CE"/>
          </a:solidFill>
          <a:ln/>
        </p:spPr>
      </p:sp>
      <p:sp>
        <p:nvSpPr>
          <p:cNvPr id="23" name="Shape 20"/>
          <p:cNvSpPr/>
          <p:nvPr/>
        </p:nvSpPr>
        <p:spPr>
          <a:xfrm>
            <a:off x="594360" y="5148072"/>
            <a:ext cx="5212080" cy="502920"/>
          </a:xfrm>
          <a:prstGeom prst="roundRect">
            <a:avLst>
              <a:gd name="adj" fmla="val 14545"/>
            </a:avLst>
          </a:prstGeom>
          <a:solidFill>
            <a:srgbClr val="1C7293"/>
          </a:solidFill>
          <a:ln/>
        </p:spPr>
      </p:sp>
      <p:sp>
        <p:nvSpPr>
          <p:cNvPr id="24" name="Text 21"/>
          <p:cNvSpPr/>
          <p:nvPr/>
        </p:nvSpPr>
        <p:spPr>
          <a:xfrm>
            <a:off x="685800" y="5148072"/>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Relevant Frame / Context</a:t>
            </a:r>
            <a:endParaRPr lang="en-US" sz="1300" dirty="0"/>
          </a:p>
        </p:txBody>
      </p:sp>
      <p:sp>
        <p:nvSpPr>
          <p:cNvPr id="25" name="Shape 22"/>
          <p:cNvSpPr/>
          <p:nvPr/>
        </p:nvSpPr>
        <p:spPr>
          <a:xfrm>
            <a:off x="3118104" y="5669280"/>
            <a:ext cx="164592" cy="82296"/>
          </a:xfrm>
          <a:prstGeom prst="downArrow">
            <a:avLst/>
          </a:prstGeom>
          <a:solidFill>
            <a:srgbClr val="AAB4CE"/>
          </a:solidFill>
          <a:ln/>
        </p:spPr>
      </p:sp>
      <p:sp>
        <p:nvSpPr>
          <p:cNvPr id="26" name="Shape 23"/>
          <p:cNvSpPr/>
          <p:nvPr/>
        </p:nvSpPr>
        <p:spPr>
          <a:xfrm>
            <a:off x="594360" y="5769864"/>
            <a:ext cx="5212080" cy="502920"/>
          </a:xfrm>
          <a:prstGeom prst="roundRect">
            <a:avLst>
              <a:gd name="adj" fmla="val 14545"/>
            </a:avLst>
          </a:prstGeom>
          <a:solidFill>
            <a:srgbClr val="FF6B35"/>
          </a:solidFill>
          <a:ln/>
        </p:spPr>
      </p:sp>
      <p:sp>
        <p:nvSpPr>
          <p:cNvPr id="27" name="Text 24"/>
          <p:cNvSpPr/>
          <p:nvPr/>
        </p:nvSpPr>
        <p:spPr>
          <a:xfrm>
            <a:off x="685800" y="5769864"/>
            <a:ext cx="50292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Answer</a:t>
            </a:r>
            <a:endParaRPr lang="en-US" sz="1300" dirty="0"/>
          </a:p>
        </p:txBody>
      </p:sp>
      <p:sp>
        <p:nvSpPr>
          <p:cNvPr id="28" name="Text 25"/>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5A6699"/>
                </a:solidFill>
                <a:latin typeface="Calibri" pitchFamily="34" charset="0"/>
                <a:ea typeface="Calibri" pitchFamily="34" charset="-122"/>
                <a:cs typeface="Calibri" pitchFamily="34" charset="-120"/>
              </a:rPr>
              <a:t>Beyond Text RAG</a:t>
            </a:r>
            <a:endParaRPr lang="en-US" sz="1000" dirty="0"/>
          </a:p>
        </p:txBody>
      </p:sp>
      <p:sp>
        <p:nvSpPr>
          <p:cNvPr id="29" name="Text 26"/>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8892B0"/>
                </a:solidFill>
                <a:latin typeface="Calibri" pitchFamily="34" charset="0"/>
                <a:ea typeface="Calibri" pitchFamily="34" charset="-122"/>
                <a:cs typeface="Calibri" pitchFamily="34" charset="-120"/>
              </a:rPr>
              <a:t>10 / 22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5 — TECHNOLOGY</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Can We Build This Without API Keys?</a:t>
            </a:r>
            <a:endParaRPr lang="en-US" sz="3200" dirty="0"/>
          </a:p>
        </p:txBody>
      </p:sp>
      <p:sp>
        <p:nvSpPr>
          <p:cNvPr id="4" name="Shape 2"/>
          <p:cNvSpPr/>
          <p:nvPr/>
        </p:nvSpPr>
        <p:spPr>
          <a:xfrm>
            <a:off x="548640" y="1600200"/>
            <a:ext cx="3291840" cy="960120"/>
          </a:xfrm>
          <a:prstGeom prst="roundRect">
            <a:avLst>
              <a:gd name="adj" fmla="val 9524"/>
            </a:avLst>
          </a:prstGeom>
          <a:solidFill>
            <a:srgbClr val="2E8B57"/>
          </a:solidFill>
          <a:ln/>
        </p:spPr>
      </p:sp>
      <p:pic>
        <p:nvPicPr>
          <p:cNvPr id="5" name="Image 0" descr="/home/claude/mrag/assets/icons/free.png">    </p:cNvPr>
          <p:cNvPicPr>
            <a:picLocks noChangeAspect="1"/>
          </p:cNvPicPr>
          <p:nvPr/>
        </p:nvPicPr>
        <p:blipFill>
          <a:blip r:embed="rId1"/>
          <a:stretch>
            <a:fillRect/>
          </a:stretch>
        </p:blipFill>
        <p:spPr>
          <a:xfrm>
            <a:off x="777240" y="1810512"/>
            <a:ext cx="502920" cy="502920"/>
          </a:xfrm>
          <a:prstGeom prst="rect">
            <a:avLst/>
          </a:prstGeom>
        </p:spPr>
      </p:pic>
      <p:sp>
        <p:nvSpPr>
          <p:cNvPr id="6" name="Text 3"/>
          <p:cNvSpPr/>
          <p:nvPr/>
        </p:nvSpPr>
        <p:spPr>
          <a:xfrm>
            <a:off x="1417320" y="1600200"/>
            <a:ext cx="2286000" cy="9601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YES.</a:t>
            </a:r>
            <a:endParaRPr lang="en-US" sz="3000" dirty="0"/>
          </a:p>
        </p:txBody>
      </p:sp>
      <p:sp>
        <p:nvSpPr>
          <p:cNvPr id="7" name="Text 4"/>
          <p:cNvSpPr/>
          <p:nvPr/>
        </p:nvSpPr>
        <p:spPr>
          <a:xfrm>
            <a:off x="4023360" y="1645920"/>
            <a:ext cx="7498080" cy="868680"/>
          </a:xfrm>
          <a:prstGeom prst="rect">
            <a:avLst/>
          </a:prstGeom>
          <a:noFill/>
          <a:ln/>
        </p:spPr>
        <p:txBody>
          <a:bodyPr wrap="square" rtlCol="0" anchor="ctr"/>
          <a:lstStyle/>
          <a:p>
            <a:pPr indent="0" marL="0">
              <a:buNone/>
            </a:pPr>
            <a:r>
              <a:rPr lang="en-US" sz="1500" i="1" dirty="0">
                <a:solidFill>
                  <a:srgbClr val="6B7280"/>
                </a:solidFill>
                <a:latin typeface="Calibri" pitchFamily="34" charset="0"/>
                <a:ea typeface="Calibri" pitchFamily="34" charset="-122"/>
                <a:cs typeface="Calibri" pitchFamily="34" charset="-120"/>
              </a:rPr>
              <a:t>A fully local, free, open-source stack — no OpenAI / Gemini / Claude / Groq API key required for the core demo.</a:t>
            </a:r>
            <a:endParaRPr lang="en-US" sz="1500" dirty="0"/>
          </a:p>
        </p:txBody>
      </p:sp>
      <p:sp>
        <p:nvSpPr>
          <p:cNvPr id="8" name="Shape 5"/>
          <p:cNvSpPr/>
          <p:nvPr/>
        </p:nvSpPr>
        <p:spPr>
          <a:xfrm>
            <a:off x="548640" y="2834640"/>
            <a:ext cx="3520440" cy="1051560"/>
          </a:xfrm>
          <a:prstGeom prst="roundRect">
            <a:avLst>
              <a:gd name="adj" fmla="val 6957"/>
            </a:avLst>
          </a:prstGeom>
          <a:solidFill>
            <a:srgbClr val="FFFFFF"/>
          </a:solidFill>
          <a:ln w="12700">
            <a:solidFill>
              <a:srgbClr val="E4E7F0"/>
            </a:solidFill>
            <a:prstDash val="solid"/>
          </a:ln>
        </p:spPr>
      </p:sp>
      <p:sp>
        <p:nvSpPr>
          <p:cNvPr id="9" name="Shape 6"/>
          <p:cNvSpPr/>
          <p:nvPr/>
        </p:nvSpPr>
        <p:spPr>
          <a:xfrm>
            <a:off x="713232" y="3113532"/>
            <a:ext cx="493776" cy="493776"/>
          </a:xfrm>
          <a:prstGeom prst="ellipse">
            <a:avLst/>
          </a:prstGeom>
          <a:solidFill>
            <a:srgbClr val="1E2761"/>
          </a:solidFill>
          <a:ln/>
        </p:spPr>
      </p:sp>
      <p:pic>
        <p:nvPicPr>
          <p:cNvPr id="10" name="Image 1" descr="/home/claude/mrag/assets/icons/code.png">    </p:cNvPr>
          <p:cNvPicPr>
            <a:picLocks noChangeAspect="1"/>
          </p:cNvPicPr>
          <p:nvPr/>
        </p:nvPicPr>
        <p:blipFill>
          <a:blip r:embed="rId2"/>
          <a:stretch>
            <a:fillRect/>
          </a:stretch>
        </p:blipFill>
        <p:spPr>
          <a:xfrm>
            <a:off x="859536" y="3259836"/>
            <a:ext cx="201168" cy="201168"/>
          </a:xfrm>
          <a:prstGeom prst="rect">
            <a:avLst/>
          </a:prstGeom>
        </p:spPr>
      </p:pic>
      <p:sp>
        <p:nvSpPr>
          <p:cNvPr id="11" name="Text 7"/>
          <p:cNvSpPr/>
          <p:nvPr/>
        </p:nvSpPr>
        <p:spPr>
          <a:xfrm>
            <a:off x="1325880" y="283464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Python</a:t>
            </a:r>
            <a:endParaRPr lang="en-US" sz="1500" dirty="0"/>
          </a:p>
        </p:txBody>
      </p:sp>
      <p:sp>
        <p:nvSpPr>
          <p:cNvPr id="12" name="Shape 8"/>
          <p:cNvSpPr/>
          <p:nvPr/>
        </p:nvSpPr>
        <p:spPr>
          <a:xfrm>
            <a:off x="4297680" y="2834640"/>
            <a:ext cx="3520440" cy="1051560"/>
          </a:xfrm>
          <a:prstGeom prst="roundRect">
            <a:avLst>
              <a:gd name="adj" fmla="val 6957"/>
            </a:avLst>
          </a:prstGeom>
          <a:solidFill>
            <a:srgbClr val="FFFFFF"/>
          </a:solidFill>
          <a:ln w="12700">
            <a:solidFill>
              <a:srgbClr val="E4E7F0"/>
            </a:solidFill>
            <a:prstDash val="solid"/>
          </a:ln>
        </p:spPr>
      </p:sp>
      <p:sp>
        <p:nvSpPr>
          <p:cNvPr id="13" name="Shape 9"/>
          <p:cNvSpPr/>
          <p:nvPr/>
        </p:nvSpPr>
        <p:spPr>
          <a:xfrm>
            <a:off x="4462272" y="3113532"/>
            <a:ext cx="493776" cy="493776"/>
          </a:xfrm>
          <a:prstGeom prst="ellipse">
            <a:avLst/>
          </a:prstGeom>
          <a:solidFill>
            <a:srgbClr val="1E2761"/>
          </a:solidFill>
          <a:ln/>
        </p:spPr>
      </p:sp>
      <p:pic>
        <p:nvPicPr>
          <p:cNvPr id="14" name="Image 2" descr="/home/claude/mrag/assets/icons/cpu.png">    </p:cNvPr>
          <p:cNvPicPr>
            <a:picLocks noChangeAspect="1"/>
          </p:cNvPicPr>
          <p:nvPr/>
        </p:nvPicPr>
        <p:blipFill>
          <a:blip r:embed="rId3"/>
          <a:stretch>
            <a:fillRect/>
          </a:stretch>
        </p:blipFill>
        <p:spPr>
          <a:xfrm>
            <a:off x="4608576" y="3259836"/>
            <a:ext cx="201168" cy="201168"/>
          </a:xfrm>
          <a:prstGeom prst="rect">
            <a:avLst/>
          </a:prstGeom>
        </p:spPr>
      </p:pic>
      <p:sp>
        <p:nvSpPr>
          <p:cNvPr id="15" name="Text 10"/>
          <p:cNvSpPr/>
          <p:nvPr/>
        </p:nvSpPr>
        <p:spPr>
          <a:xfrm>
            <a:off x="5074920" y="283464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Ollama</a:t>
            </a:r>
            <a:endParaRPr lang="en-US" sz="1500" dirty="0"/>
          </a:p>
        </p:txBody>
      </p:sp>
      <p:sp>
        <p:nvSpPr>
          <p:cNvPr id="16" name="Shape 11"/>
          <p:cNvSpPr/>
          <p:nvPr/>
        </p:nvSpPr>
        <p:spPr>
          <a:xfrm>
            <a:off x="8046720" y="2834640"/>
            <a:ext cx="3520440" cy="1051560"/>
          </a:xfrm>
          <a:prstGeom prst="roundRect">
            <a:avLst>
              <a:gd name="adj" fmla="val 6957"/>
            </a:avLst>
          </a:prstGeom>
          <a:solidFill>
            <a:srgbClr val="FFFFFF"/>
          </a:solidFill>
          <a:ln w="12700">
            <a:solidFill>
              <a:srgbClr val="E4E7F0"/>
            </a:solidFill>
            <a:prstDash val="solid"/>
          </a:ln>
        </p:spPr>
      </p:sp>
      <p:sp>
        <p:nvSpPr>
          <p:cNvPr id="17" name="Shape 12"/>
          <p:cNvSpPr/>
          <p:nvPr/>
        </p:nvSpPr>
        <p:spPr>
          <a:xfrm>
            <a:off x="8211312" y="3113532"/>
            <a:ext cx="493776" cy="493776"/>
          </a:xfrm>
          <a:prstGeom prst="ellipse">
            <a:avLst/>
          </a:prstGeom>
          <a:solidFill>
            <a:srgbClr val="1E2761"/>
          </a:solidFill>
          <a:ln/>
        </p:spPr>
      </p:sp>
      <p:pic>
        <p:nvPicPr>
          <p:cNvPr id="18" name="Image 3" descr="/home/claude/mrag/assets/icons/brain.png">    </p:cNvPr>
          <p:cNvPicPr>
            <a:picLocks noChangeAspect="1"/>
          </p:cNvPicPr>
          <p:nvPr/>
        </p:nvPicPr>
        <p:blipFill>
          <a:blip r:embed="rId4"/>
          <a:stretch>
            <a:fillRect/>
          </a:stretch>
        </p:blipFill>
        <p:spPr>
          <a:xfrm>
            <a:off x="8357616" y="3259836"/>
            <a:ext cx="201168" cy="201168"/>
          </a:xfrm>
          <a:prstGeom prst="rect">
            <a:avLst/>
          </a:prstGeom>
        </p:spPr>
      </p:pic>
      <p:sp>
        <p:nvSpPr>
          <p:cNvPr id="19" name="Text 13"/>
          <p:cNvSpPr/>
          <p:nvPr/>
        </p:nvSpPr>
        <p:spPr>
          <a:xfrm>
            <a:off x="8823960" y="283464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Local LLM / VLM</a:t>
            </a:r>
            <a:endParaRPr lang="en-US" sz="1500" dirty="0"/>
          </a:p>
        </p:txBody>
      </p:sp>
      <p:sp>
        <p:nvSpPr>
          <p:cNvPr id="20" name="Shape 14"/>
          <p:cNvSpPr/>
          <p:nvPr/>
        </p:nvSpPr>
        <p:spPr>
          <a:xfrm>
            <a:off x="548640" y="4114800"/>
            <a:ext cx="3520440" cy="1051560"/>
          </a:xfrm>
          <a:prstGeom prst="roundRect">
            <a:avLst>
              <a:gd name="adj" fmla="val 6957"/>
            </a:avLst>
          </a:prstGeom>
          <a:solidFill>
            <a:srgbClr val="FFFFFF"/>
          </a:solidFill>
          <a:ln w="12700">
            <a:solidFill>
              <a:srgbClr val="E4E7F0"/>
            </a:solidFill>
            <a:prstDash val="solid"/>
          </a:ln>
        </p:spPr>
      </p:sp>
      <p:sp>
        <p:nvSpPr>
          <p:cNvPr id="21" name="Shape 15"/>
          <p:cNvSpPr/>
          <p:nvPr/>
        </p:nvSpPr>
        <p:spPr>
          <a:xfrm>
            <a:off x="713232" y="4393692"/>
            <a:ext cx="493776" cy="493776"/>
          </a:xfrm>
          <a:prstGeom prst="ellipse">
            <a:avLst/>
          </a:prstGeom>
          <a:solidFill>
            <a:srgbClr val="1E2761"/>
          </a:solidFill>
          <a:ln/>
        </p:spPr>
      </p:sp>
      <p:pic>
        <p:nvPicPr>
          <p:cNvPr id="22" name="Image 4" descr="/home/claude/mrag/assets/icons/layers.png">    </p:cNvPr>
          <p:cNvPicPr>
            <a:picLocks noChangeAspect="1"/>
          </p:cNvPicPr>
          <p:nvPr/>
        </p:nvPicPr>
        <p:blipFill>
          <a:blip r:embed="rId5"/>
          <a:stretch>
            <a:fillRect/>
          </a:stretch>
        </p:blipFill>
        <p:spPr>
          <a:xfrm>
            <a:off x="859536" y="4539996"/>
            <a:ext cx="201168" cy="201168"/>
          </a:xfrm>
          <a:prstGeom prst="rect">
            <a:avLst/>
          </a:prstGeom>
        </p:spPr>
      </p:pic>
      <p:sp>
        <p:nvSpPr>
          <p:cNvPr id="23" name="Text 16"/>
          <p:cNvSpPr/>
          <p:nvPr/>
        </p:nvSpPr>
        <p:spPr>
          <a:xfrm>
            <a:off x="1325880" y="411480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Sentence Transformers</a:t>
            </a:r>
            <a:endParaRPr lang="en-US" sz="1500" dirty="0"/>
          </a:p>
        </p:txBody>
      </p:sp>
      <p:sp>
        <p:nvSpPr>
          <p:cNvPr id="24" name="Shape 17"/>
          <p:cNvSpPr/>
          <p:nvPr/>
        </p:nvSpPr>
        <p:spPr>
          <a:xfrm>
            <a:off x="4297680" y="4114800"/>
            <a:ext cx="3520440" cy="1051560"/>
          </a:xfrm>
          <a:prstGeom prst="roundRect">
            <a:avLst>
              <a:gd name="adj" fmla="val 6957"/>
            </a:avLst>
          </a:prstGeom>
          <a:solidFill>
            <a:srgbClr val="FFFFFF"/>
          </a:solidFill>
          <a:ln w="12700">
            <a:solidFill>
              <a:srgbClr val="E4E7F0"/>
            </a:solidFill>
            <a:prstDash val="solid"/>
          </a:ln>
        </p:spPr>
      </p:sp>
      <p:sp>
        <p:nvSpPr>
          <p:cNvPr id="25" name="Shape 18"/>
          <p:cNvSpPr/>
          <p:nvPr/>
        </p:nvSpPr>
        <p:spPr>
          <a:xfrm>
            <a:off x="4462272" y="4393692"/>
            <a:ext cx="493776" cy="493776"/>
          </a:xfrm>
          <a:prstGeom prst="ellipse">
            <a:avLst/>
          </a:prstGeom>
          <a:solidFill>
            <a:srgbClr val="1E2761"/>
          </a:solidFill>
          <a:ln/>
        </p:spPr>
      </p:sp>
      <p:pic>
        <p:nvPicPr>
          <p:cNvPr id="26" name="Image 5" descr="/home/claude/mrag/assets/icons/database.png">    </p:cNvPr>
          <p:cNvPicPr>
            <a:picLocks noChangeAspect="1"/>
          </p:cNvPicPr>
          <p:nvPr/>
        </p:nvPicPr>
        <p:blipFill>
          <a:blip r:embed="rId6"/>
          <a:stretch>
            <a:fillRect/>
          </a:stretch>
        </p:blipFill>
        <p:spPr>
          <a:xfrm>
            <a:off x="4608576" y="4539996"/>
            <a:ext cx="201168" cy="201168"/>
          </a:xfrm>
          <a:prstGeom prst="rect">
            <a:avLst/>
          </a:prstGeom>
        </p:spPr>
      </p:pic>
      <p:sp>
        <p:nvSpPr>
          <p:cNvPr id="27" name="Text 19"/>
          <p:cNvSpPr/>
          <p:nvPr/>
        </p:nvSpPr>
        <p:spPr>
          <a:xfrm>
            <a:off x="5074920" y="411480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FAISS</a:t>
            </a:r>
            <a:endParaRPr lang="en-US" sz="1500" dirty="0"/>
          </a:p>
        </p:txBody>
      </p:sp>
      <p:sp>
        <p:nvSpPr>
          <p:cNvPr id="28" name="Shape 20"/>
          <p:cNvSpPr/>
          <p:nvPr/>
        </p:nvSpPr>
        <p:spPr>
          <a:xfrm>
            <a:off x="8046720" y="4114800"/>
            <a:ext cx="3520440" cy="1051560"/>
          </a:xfrm>
          <a:prstGeom prst="roundRect">
            <a:avLst>
              <a:gd name="adj" fmla="val 6957"/>
            </a:avLst>
          </a:prstGeom>
          <a:solidFill>
            <a:srgbClr val="FFFFFF"/>
          </a:solidFill>
          <a:ln w="12700">
            <a:solidFill>
              <a:srgbClr val="E4E7F0"/>
            </a:solidFill>
            <a:prstDash val="solid"/>
          </a:ln>
        </p:spPr>
      </p:sp>
      <p:sp>
        <p:nvSpPr>
          <p:cNvPr id="29" name="Shape 21"/>
          <p:cNvSpPr/>
          <p:nvPr/>
        </p:nvSpPr>
        <p:spPr>
          <a:xfrm>
            <a:off x="8211312" y="4393692"/>
            <a:ext cx="493776" cy="493776"/>
          </a:xfrm>
          <a:prstGeom prst="ellipse">
            <a:avLst/>
          </a:prstGeom>
          <a:solidFill>
            <a:srgbClr val="1E2761"/>
          </a:solidFill>
          <a:ln/>
        </p:spPr>
      </p:sp>
      <p:pic>
        <p:nvPicPr>
          <p:cNvPr id="30" name="Image 6" descr="/home/claude/mrag/assets/icons/file_text.png">    </p:cNvPr>
          <p:cNvPicPr>
            <a:picLocks noChangeAspect="1"/>
          </p:cNvPicPr>
          <p:nvPr/>
        </p:nvPicPr>
        <p:blipFill>
          <a:blip r:embed="rId7"/>
          <a:stretch>
            <a:fillRect/>
          </a:stretch>
        </p:blipFill>
        <p:spPr>
          <a:xfrm>
            <a:off x="8357616" y="4539996"/>
            <a:ext cx="201168" cy="201168"/>
          </a:xfrm>
          <a:prstGeom prst="rect">
            <a:avLst/>
          </a:prstGeom>
        </p:spPr>
      </p:pic>
      <p:sp>
        <p:nvSpPr>
          <p:cNvPr id="31" name="Text 22"/>
          <p:cNvSpPr/>
          <p:nvPr/>
        </p:nvSpPr>
        <p:spPr>
          <a:xfrm>
            <a:off x="8823960" y="411480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PyMuPDF</a:t>
            </a:r>
            <a:endParaRPr lang="en-US" sz="1500" dirty="0"/>
          </a:p>
        </p:txBody>
      </p:sp>
      <p:sp>
        <p:nvSpPr>
          <p:cNvPr id="32" name="Shape 23"/>
          <p:cNvSpPr/>
          <p:nvPr/>
        </p:nvSpPr>
        <p:spPr>
          <a:xfrm>
            <a:off x="548640" y="5394960"/>
            <a:ext cx="3520440" cy="1051560"/>
          </a:xfrm>
          <a:prstGeom prst="roundRect">
            <a:avLst>
              <a:gd name="adj" fmla="val 6957"/>
            </a:avLst>
          </a:prstGeom>
          <a:solidFill>
            <a:srgbClr val="FFFFFF"/>
          </a:solidFill>
          <a:ln w="12700">
            <a:solidFill>
              <a:srgbClr val="E4E7F0"/>
            </a:solidFill>
            <a:prstDash val="solid"/>
          </a:ln>
        </p:spPr>
      </p:sp>
      <p:sp>
        <p:nvSpPr>
          <p:cNvPr id="33" name="Shape 24"/>
          <p:cNvSpPr/>
          <p:nvPr/>
        </p:nvSpPr>
        <p:spPr>
          <a:xfrm>
            <a:off x="713232" y="5673852"/>
            <a:ext cx="493776" cy="493776"/>
          </a:xfrm>
          <a:prstGeom prst="ellipse">
            <a:avLst/>
          </a:prstGeom>
          <a:solidFill>
            <a:srgbClr val="1E2761"/>
          </a:solidFill>
          <a:ln/>
        </p:spPr>
      </p:sp>
      <p:pic>
        <p:nvPicPr>
          <p:cNvPr id="34" name="Image 7" descr="/home/claude/mrag/assets/icons/image.png">    </p:cNvPr>
          <p:cNvPicPr>
            <a:picLocks noChangeAspect="1"/>
          </p:cNvPicPr>
          <p:nvPr/>
        </p:nvPicPr>
        <p:blipFill>
          <a:blip r:embed="rId8"/>
          <a:stretch>
            <a:fillRect/>
          </a:stretch>
        </p:blipFill>
        <p:spPr>
          <a:xfrm>
            <a:off x="859536" y="5820156"/>
            <a:ext cx="201168" cy="201168"/>
          </a:xfrm>
          <a:prstGeom prst="rect">
            <a:avLst/>
          </a:prstGeom>
        </p:spPr>
      </p:pic>
      <p:sp>
        <p:nvSpPr>
          <p:cNvPr id="35" name="Text 25"/>
          <p:cNvSpPr/>
          <p:nvPr/>
        </p:nvSpPr>
        <p:spPr>
          <a:xfrm>
            <a:off x="1325880" y="539496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Pillow</a:t>
            </a:r>
            <a:endParaRPr lang="en-US" sz="1500" dirty="0"/>
          </a:p>
        </p:txBody>
      </p:sp>
      <p:sp>
        <p:nvSpPr>
          <p:cNvPr id="36" name="Shape 26"/>
          <p:cNvSpPr/>
          <p:nvPr/>
        </p:nvSpPr>
        <p:spPr>
          <a:xfrm>
            <a:off x="4297680" y="5394960"/>
            <a:ext cx="3520440" cy="1051560"/>
          </a:xfrm>
          <a:prstGeom prst="roundRect">
            <a:avLst>
              <a:gd name="adj" fmla="val 6957"/>
            </a:avLst>
          </a:prstGeom>
          <a:solidFill>
            <a:srgbClr val="FFFFFF"/>
          </a:solidFill>
          <a:ln w="12700">
            <a:solidFill>
              <a:srgbClr val="E4E7F0"/>
            </a:solidFill>
            <a:prstDash val="solid"/>
          </a:ln>
        </p:spPr>
      </p:sp>
      <p:sp>
        <p:nvSpPr>
          <p:cNvPr id="37" name="Shape 27"/>
          <p:cNvSpPr/>
          <p:nvPr/>
        </p:nvSpPr>
        <p:spPr>
          <a:xfrm>
            <a:off x="4462272" y="5673852"/>
            <a:ext cx="493776" cy="493776"/>
          </a:xfrm>
          <a:prstGeom prst="ellipse">
            <a:avLst/>
          </a:prstGeom>
          <a:solidFill>
            <a:srgbClr val="1E2761"/>
          </a:solidFill>
          <a:ln/>
        </p:spPr>
      </p:sp>
      <p:pic>
        <p:nvPicPr>
          <p:cNvPr id="38" name="Image 8" descr="/home/claude/mrag/assets/icons/eye.png">    </p:cNvPr>
          <p:cNvPicPr>
            <a:picLocks noChangeAspect="1"/>
          </p:cNvPicPr>
          <p:nvPr/>
        </p:nvPicPr>
        <p:blipFill>
          <a:blip r:embed="rId9"/>
          <a:stretch>
            <a:fillRect/>
          </a:stretch>
        </p:blipFill>
        <p:spPr>
          <a:xfrm>
            <a:off x="4608576" y="5820156"/>
            <a:ext cx="201168" cy="201168"/>
          </a:xfrm>
          <a:prstGeom prst="rect">
            <a:avLst/>
          </a:prstGeom>
        </p:spPr>
      </p:pic>
      <p:sp>
        <p:nvSpPr>
          <p:cNvPr id="39" name="Text 28"/>
          <p:cNvSpPr/>
          <p:nvPr/>
        </p:nvSpPr>
        <p:spPr>
          <a:xfrm>
            <a:off x="5074920" y="539496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OpenCV</a:t>
            </a:r>
            <a:endParaRPr lang="en-US" sz="1500" dirty="0"/>
          </a:p>
        </p:txBody>
      </p:sp>
      <p:sp>
        <p:nvSpPr>
          <p:cNvPr id="40" name="Shape 29"/>
          <p:cNvSpPr/>
          <p:nvPr/>
        </p:nvSpPr>
        <p:spPr>
          <a:xfrm>
            <a:off x="8046720" y="5394960"/>
            <a:ext cx="3520440" cy="1051560"/>
          </a:xfrm>
          <a:prstGeom prst="roundRect">
            <a:avLst>
              <a:gd name="adj" fmla="val 6957"/>
            </a:avLst>
          </a:prstGeom>
          <a:solidFill>
            <a:srgbClr val="FFFFFF"/>
          </a:solidFill>
          <a:ln w="12700">
            <a:solidFill>
              <a:srgbClr val="E4E7F0"/>
            </a:solidFill>
            <a:prstDash val="solid"/>
          </a:ln>
        </p:spPr>
      </p:sp>
      <p:sp>
        <p:nvSpPr>
          <p:cNvPr id="41" name="Shape 30"/>
          <p:cNvSpPr/>
          <p:nvPr/>
        </p:nvSpPr>
        <p:spPr>
          <a:xfrm>
            <a:off x="8211312" y="5673852"/>
            <a:ext cx="493776" cy="493776"/>
          </a:xfrm>
          <a:prstGeom prst="ellipse">
            <a:avLst/>
          </a:prstGeom>
          <a:solidFill>
            <a:srgbClr val="1E2761"/>
          </a:solidFill>
          <a:ln/>
        </p:spPr>
      </p:sp>
      <p:pic>
        <p:nvPicPr>
          <p:cNvPr id="42" name="Image 9" descr="/home/claude/mrag/assets/icons/mic.png">    </p:cNvPr>
          <p:cNvPicPr>
            <a:picLocks noChangeAspect="1"/>
          </p:cNvPicPr>
          <p:nvPr/>
        </p:nvPicPr>
        <p:blipFill>
          <a:blip r:embed="rId10"/>
          <a:stretch>
            <a:fillRect/>
          </a:stretch>
        </p:blipFill>
        <p:spPr>
          <a:xfrm>
            <a:off x="8357616" y="5820156"/>
            <a:ext cx="201168" cy="201168"/>
          </a:xfrm>
          <a:prstGeom prst="rect">
            <a:avLst/>
          </a:prstGeom>
        </p:spPr>
      </p:pic>
      <p:sp>
        <p:nvSpPr>
          <p:cNvPr id="43" name="Text 31"/>
          <p:cNvSpPr/>
          <p:nvPr/>
        </p:nvSpPr>
        <p:spPr>
          <a:xfrm>
            <a:off x="8823960" y="5394960"/>
            <a:ext cx="2606040" cy="1051560"/>
          </a:xfrm>
          <a:prstGeom prst="rect">
            <a:avLst/>
          </a:prstGeom>
          <a:noFill/>
          <a:ln/>
        </p:spPr>
        <p:txBody>
          <a:bodyPr wrap="square" rtlCol="0" anchor="ctr"/>
          <a:lstStyle/>
          <a:p>
            <a:pPr indent="0" marL="0">
              <a:buNone/>
            </a:pPr>
            <a:r>
              <a:rPr lang="en-US" sz="1500" b="1" dirty="0">
                <a:solidFill>
                  <a:srgbClr val="222A42"/>
                </a:solidFill>
                <a:latin typeface="Calibri" pitchFamily="34" charset="0"/>
                <a:ea typeface="Calibri" pitchFamily="34" charset="-122"/>
                <a:cs typeface="Calibri" pitchFamily="34" charset="-120"/>
              </a:rPr>
              <a:t>Whisper</a:t>
            </a:r>
            <a:endParaRPr lang="en-US" sz="1500" dirty="0"/>
          </a:p>
        </p:txBody>
      </p:sp>
      <p:sp>
        <p:nvSpPr>
          <p:cNvPr id="44" name="Text 32"/>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45" name="Text 33"/>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11 / 22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5 — TECHNOLOGY</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Ollama &amp; Local Models, Simply</a:t>
            </a:r>
            <a:endParaRPr lang="en-US" sz="3200" dirty="0"/>
          </a:p>
        </p:txBody>
      </p:sp>
      <p:sp>
        <p:nvSpPr>
          <p:cNvPr id="4" name="Text 2"/>
          <p:cNvSpPr/>
          <p:nvPr/>
        </p:nvSpPr>
        <p:spPr>
          <a:xfrm>
            <a:off x="548640" y="1508760"/>
            <a:ext cx="10789920" cy="502920"/>
          </a:xfrm>
          <a:prstGeom prst="rect">
            <a:avLst/>
          </a:prstGeom>
          <a:noFill/>
          <a:ln/>
        </p:spPr>
        <p:txBody>
          <a:bodyPr wrap="square" rtlCol="0" anchor="ctr"/>
          <a:lstStyle/>
          <a:p>
            <a:pPr indent="0" marL="0">
              <a:buNone/>
            </a:pPr>
            <a:r>
              <a:rPr lang="en-US" sz="1500" dirty="0">
                <a:solidFill>
                  <a:srgbClr val="6B7280"/>
                </a:solidFill>
                <a:latin typeface="Calibri" pitchFamily="34" charset="0"/>
                <a:ea typeface="Calibri" pitchFamily="34" charset="-122"/>
                <a:cs typeface="Calibri" pitchFamily="34" charset="-120"/>
              </a:rPr>
              <a:t>Ollama runs open-weight models directly on your machine — your application talks to it like a local API.</a:t>
            </a:r>
            <a:endParaRPr lang="en-US" sz="1500" dirty="0"/>
          </a:p>
        </p:txBody>
      </p:sp>
      <p:sp>
        <p:nvSpPr>
          <p:cNvPr id="5" name="Shape 3"/>
          <p:cNvSpPr/>
          <p:nvPr/>
        </p:nvSpPr>
        <p:spPr>
          <a:xfrm>
            <a:off x="1463040" y="2286000"/>
            <a:ext cx="2773680" cy="1280160"/>
          </a:xfrm>
          <a:prstGeom prst="roundRect">
            <a:avLst>
              <a:gd name="adj" fmla="val 714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6" name="Shape 4"/>
          <p:cNvSpPr/>
          <p:nvPr/>
        </p:nvSpPr>
        <p:spPr>
          <a:xfrm>
            <a:off x="2612136" y="2404872"/>
            <a:ext cx="475488" cy="475488"/>
          </a:xfrm>
          <a:prstGeom prst="ellipse">
            <a:avLst/>
          </a:prstGeom>
          <a:solidFill>
            <a:srgbClr val="1C7293"/>
          </a:solidFill>
          <a:ln/>
        </p:spPr>
      </p:sp>
      <p:pic>
        <p:nvPicPr>
          <p:cNvPr id="7" name="Image 0" descr="/home/claude/mrag/assets/icons/code.png">    </p:cNvPr>
          <p:cNvPicPr>
            <a:picLocks noChangeAspect="1"/>
          </p:cNvPicPr>
          <p:nvPr/>
        </p:nvPicPr>
        <p:blipFill>
          <a:blip r:embed="rId1"/>
          <a:stretch>
            <a:fillRect/>
          </a:stretch>
        </p:blipFill>
        <p:spPr>
          <a:xfrm>
            <a:off x="2697724" y="2490460"/>
            <a:ext cx="304312" cy="304312"/>
          </a:xfrm>
          <a:prstGeom prst="rect">
            <a:avLst/>
          </a:prstGeom>
        </p:spPr>
      </p:pic>
      <p:sp>
        <p:nvSpPr>
          <p:cNvPr id="8" name="Text 5"/>
          <p:cNvSpPr/>
          <p:nvPr/>
        </p:nvSpPr>
        <p:spPr>
          <a:xfrm>
            <a:off x="1499616" y="2953512"/>
            <a:ext cx="2700528" cy="59436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Your Application</a:t>
            </a:r>
            <a:endParaRPr lang="en-US" sz="1300" dirty="0"/>
          </a:p>
        </p:txBody>
      </p:sp>
      <p:sp>
        <p:nvSpPr>
          <p:cNvPr id="9" name="Shape 6"/>
          <p:cNvSpPr/>
          <p:nvPr/>
        </p:nvSpPr>
        <p:spPr>
          <a:xfrm>
            <a:off x="4273296" y="2852928"/>
            <a:ext cx="384048" cy="146304"/>
          </a:xfrm>
          <a:prstGeom prst="rightArrow">
            <a:avLst/>
          </a:prstGeom>
          <a:solidFill>
            <a:srgbClr val="AAB4CE"/>
          </a:solidFill>
          <a:ln/>
        </p:spPr>
      </p:sp>
      <p:sp>
        <p:nvSpPr>
          <p:cNvPr id="10" name="Shape 7"/>
          <p:cNvSpPr/>
          <p:nvPr/>
        </p:nvSpPr>
        <p:spPr>
          <a:xfrm>
            <a:off x="4693920" y="2286000"/>
            <a:ext cx="2773680" cy="1280160"/>
          </a:xfrm>
          <a:prstGeom prst="roundRect">
            <a:avLst>
              <a:gd name="adj" fmla="val 714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1" name="Shape 8"/>
          <p:cNvSpPr/>
          <p:nvPr/>
        </p:nvSpPr>
        <p:spPr>
          <a:xfrm>
            <a:off x="5843016" y="2404872"/>
            <a:ext cx="475488" cy="475488"/>
          </a:xfrm>
          <a:prstGeom prst="ellipse">
            <a:avLst/>
          </a:prstGeom>
          <a:solidFill>
            <a:srgbClr val="1C7293"/>
          </a:solidFill>
          <a:ln/>
        </p:spPr>
      </p:sp>
      <p:pic>
        <p:nvPicPr>
          <p:cNvPr id="12" name="Image 1" descr="/home/claude/mrag/assets/icons/cpu.png">    </p:cNvPr>
          <p:cNvPicPr>
            <a:picLocks noChangeAspect="1"/>
          </p:cNvPicPr>
          <p:nvPr/>
        </p:nvPicPr>
        <p:blipFill>
          <a:blip r:embed="rId2"/>
          <a:stretch>
            <a:fillRect/>
          </a:stretch>
        </p:blipFill>
        <p:spPr>
          <a:xfrm>
            <a:off x="5928604" y="2490460"/>
            <a:ext cx="304312" cy="304312"/>
          </a:xfrm>
          <a:prstGeom prst="rect">
            <a:avLst/>
          </a:prstGeom>
        </p:spPr>
      </p:pic>
      <p:sp>
        <p:nvSpPr>
          <p:cNvPr id="13" name="Text 9"/>
          <p:cNvSpPr/>
          <p:nvPr/>
        </p:nvSpPr>
        <p:spPr>
          <a:xfrm>
            <a:off x="4730496" y="2953512"/>
            <a:ext cx="2700528" cy="59436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Ollama</a:t>
            </a:r>
            <a:endParaRPr lang="en-US" sz="1300" dirty="0"/>
          </a:p>
        </p:txBody>
      </p:sp>
      <p:sp>
        <p:nvSpPr>
          <p:cNvPr id="14" name="Shape 10"/>
          <p:cNvSpPr/>
          <p:nvPr/>
        </p:nvSpPr>
        <p:spPr>
          <a:xfrm>
            <a:off x="7504176" y="2852928"/>
            <a:ext cx="384048" cy="146304"/>
          </a:xfrm>
          <a:prstGeom prst="rightArrow">
            <a:avLst/>
          </a:prstGeom>
          <a:solidFill>
            <a:srgbClr val="AAB4CE"/>
          </a:solidFill>
          <a:ln/>
        </p:spPr>
      </p:sp>
      <p:sp>
        <p:nvSpPr>
          <p:cNvPr id="15" name="Shape 11"/>
          <p:cNvSpPr/>
          <p:nvPr/>
        </p:nvSpPr>
        <p:spPr>
          <a:xfrm>
            <a:off x="7924800" y="2286000"/>
            <a:ext cx="2773680" cy="1280160"/>
          </a:xfrm>
          <a:prstGeom prst="roundRect">
            <a:avLst>
              <a:gd name="adj" fmla="val 714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6" name="Shape 12"/>
          <p:cNvSpPr/>
          <p:nvPr/>
        </p:nvSpPr>
        <p:spPr>
          <a:xfrm>
            <a:off x="9073896" y="2404872"/>
            <a:ext cx="475488" cy="475488"/>
          </a:xfrm>
          <a:prstGeom prst="ellipse">
            <a:avLst/>
          </a:prstGeom>
          <a:solidFill>
            <a:srgbClr val="1C7293"/>
          </a:solidFill>
          <a:ln/>
        </p:spPr>
      </p:sp>
      <p:pic>
        <p:nvPicPr>
          <p:cNvPr id="17" name="Image 2" descr="/home/claude/mrag/assets/icons/brain.png">    </p:cNvPr>
          <p:cNvPicPr>
            <a:picLocks noChangeAspect="1"/>
          </p:cNvPicPr>
          <p:nvPr/>
        </p:nvPicPr>
        <p:blipFill>
          <a:blip r:embed="rId3"/>
          <a:stretch>
            <a:fillRect/>
          </a:stretch>
        </p:blipFill>
        <p:spPr>
          <a:xfrm>
            <a:off x="9159484" y="2490460"/>
            <a:ext cx="304312" cy="304312"/>
          </a:xfrm>
          <a:prstGeom prst="rect">
            <a:avLst/>
          </a:prstGeom>
        </p:spPr>
      </p:pic>
      <p:sp>
        <p:nvSpPr>
          <p:cNvPr id="18" name="Text 13"/>
          <p:cNvSpPr/>
          <p:nvPr/>
        </p:nvSpPr>
        <p:spPr>
          <a:xfrm>
            <a:off x="7961376" y="2953512"/>
            <a:ext cx="2700528" cy="59436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Local Model</a:t>
            </a:r>
            <a:endParaRPr lang="en-US" sz="1300" dirty="0"/>
          </a:p>
        </p:txBody>
      </p:sp>
      <p:sp>
        <p:nvSpPr>
          <p:cNvPr id="19" name="Shape 14"/>
          <p:cNvSpPr/>
          <p:nvPr/>
        </p:nvSpPr>
        <p:spPr>
          <a:xfrm>
            <a:off x="548640" y="3977640"/>
            <a:ext cx="11064240" cy="2103120"/>
          </a:xfrm>
          <a:prstGeom prst="roundRect">
            <a:avLst>
              <a:gd name="adj" fmla="val 3478"/>
            </a:avLst>
          </a:prstGeom>
          <a:solidFill>
            <a:srgbClr val="F7F8FC"/>
          </a:solidFill>
          <a:ln w="12700">
            <a:solidFill>
              <a:srgbClr val="E4E7F0"/>
            </a:solidFill>
            <a:prstDash val="solid"/>
          </a:ln>
        </p:spPr>
      </p:sp>
      <p:sp>
        <p:nvSpPr>
          <p:cNvPr id="20" name="Text 15"/>
          <p:cNvSpPr/>
          <p:nvPr/>
        </p:nvSpPr>
        <p:spPr>
          <a:xfrm>
            <a:off x="868680" y="4160520"/>
            <a:ext cx="731520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Lightweight vision-language models</a:t>
            </a:r>
            <a:endParaRPr lang="en-US" sz="1500" dirty="0"/>
          </a:p>
        </p:txBody>
      </p:sp>
      <p:sp>
        <p:nvSpPr>
          <p:cNvPr id="21" name="Text 16"/>
          <p:cNvSpPr/>
          <p:nvPr/>
        </p:nvSpPr>
        <p:spPr>
          <a:xfrm>
            <a:off x="868680" y="4526280"/>
            <a:ext cx="7315200" cy="822960"/>
          </a:xfrm>
          <a:prstGeom prst="rect">
            <a:avLst/>
          </a:prstGeom>
          <a:noFill/>
          <a:ln/>
        </p:spPr>
        <p:txBody>
          <a:bodyPr wrap="square" rtlCol="0" anchor="t"/>
          <a:lstStyle/>
          <a:p>
            <a:pPr indent="0" marL="0">
              <a:buNone/>
            </a:pPr>
            <a:r>
              <a:rPr lang="en-US" sz="1400" dirty="0">
                <a:solidFill>
                  <a:srgbClr val="222A42"/>
                </a:solidFill>
                <a:latin typeface="Calibri" pitchFamily="34" charset="0"/>
                <a:ea typeface="Calibri" pitchFamily="34" charset="-122"/>
                <a:cs typeface="Calibri" pitchFamily="34" charset="-120"/>
              </a:rPr>
              <a:t>Models such as </a:t>
            </a:r>
            <a:pPr indent="0" marL="0">
              <a:buNone/>
            </a:pPr>
            <a:r>
              <a:rPr lang="en-US" sz="1400" b="1" dirty="0">
                <a:solidFill>
                  <a:srgbClr val="FF6B35"/>
                </a:solidFill>
                <a:latin typeface="Calibri" pitchFamily="34" charset="0"/>
                <a:ea typeface="Calibri" pitchFamily="34" charset="-122"/>
                <a:cs typeface="Calibri" pitchFamily="34" charset="-120"/>
              </a:rPr>
              <a:t>Qwen2.5-VL</a:t>
            </a:r>
            <a:pPr indent="0" marL="0">
              <a:buNone/>
            </a:pPr>
            <a:r>
              <a:rPr lang="en-US" sz="1400" dirty="0">
                <a:solidFill>
                  <a:srgbClr val="222A42"/>
                </a:solidFill>
                <a:latin typeface="Calibri" pitchFamily="34" charset="0"/>
                <a:ea typeface="Calibri" pitchFamily="34" charset="-122"/>
                <a:cs typeface="Calibri" pitchFamily="34" charset="-120"/>
              </a:rPr>
              <a:t> are suitable where image/chart understanding is needed, run locally through Ollama.</a:t>
            </a:r>
            <a:endParaRPr lang="en-US" sz="1400" dirty="0"/>
          </a:p>
        </p:txBody>
      </p:sp>
      <p:sp>
        <p:nvSpPr>
          <p:cNvPr id="22" name="Shape 17"/>
          <p:cNvSpPr/>
          <p:nvPr/>
        </p:nvSpPr>
        <p:spPr>
          <a:xfrm>
            <a:off x="8229600" y="4160520"/>
            <a:ext cx="3108960" cy="1691640"/>
          </a:xfrm>
          <a:prstGeom prst="roundRect">
            <a:avLst>
              <a:gd name="adj" fmla="val 4324"/>
            </a:avLst>
          </a:prstGeom>
          <a:solidFill>
            <a:srgbClr val="1E2761"/>
          </a:solidFill>
          <a:ln/>
        </p:spPr>
      </p:sp>
      <p:pic>
        <p:nvPicPr>
          <p:cNvPr id="23" name="Image 3" descr="/home/claude/mrag/assets/icons/question.png">    </p:cNvPr>
          <p:cNvPicPr>
            <a:picLocks noChangeAspect="1"/>
          </p:cNvPicPr>
          <p:nvPr/>
        </p:nvPicPr>
        <p:blipFill>
          <a:blip r:embed="rId4"/>
          <a:stretch>
            <a:fillRect/>
          </a:stretch>
        </p:blipFill>
        <p:spPr>
          <a:xfrm>
            <a:off x="8458200" y="4343400"/>
            <a:ext cx="320040" cy="320040"/>
          </a:xfrm>
          <a:prstGeom prst="rect">
            <a:avLst/>
          </a:prstGeom>
        </p:spPr>
      </p:pic>
      <p:sp>
        <p:nvSpPr>
          <p:cNvPr id="24" name="Text 18"/>
          <p:cNvSpPr/>
          <p:nvPr/>
        </p:nvSpPr>
        <p:spPr>
          <a:xfrm>
            <a:off x="8887968" y="4315968"/>
            <a:ext cx="22860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note on hardware</a:t>
            </a:r>
            <a:endParaRPr lang="en-US" sz="1300" dirty="0"/>
          </a:p>
        </p:txBody>
      </p:sp>
      <p:sp>
        <p:nvSpPr>
          <p:cNvPr id="25" name="Text 19"/>
          <p:cNvSpPr/>
          <p:nvPr/>
        </p:nvSpPr>
        <p:spPr>
          <a:xfrm>
            <a:off x="8458200" y="4681728"/>
            <a:ext cx="2651760" cy="1097280"/>
          </a:xfrm>
          <a:prstGeom prst="rect">
            <a:avLst/>
          </a:prstGeom>
          <a:noFill/>
          <a:ln/>
        </p:spPr>
        <p:txBody>
          <a:bodyPr wrap="square" rtlCol="0" anchor="t"/>
          <a:lstStyle/>
          <a:p>
            <a:pPr indent="0" marL="0">
              <a:buNone/>
            </a:pPr>
            <a:r>
              <a:rPr lang="en-US" sz="1150" dirty="0">
                <a:solidFill>
                  <a:srgbClr val="CADCFC"/>
                </a:solidFill>
                <a:latin typeface="Calibri" pitchFamily="34" charset="0"/>
                <a:ea typeface="Calibri" pitchFamily="34" charset="-122"/>
                <a:cs typeface="Calibri" pitchFamily="34" charset="-120"/>
              </a:rPr>
              <a:t>Requirements depend on model size — larger models need more RAM/VRAM. Start small, scale up as needed.</a:t>
            </a:r>
            <a:endParaRPr lang="en-US" sz="1150" dirty="0"/>
          </a:p>
        </p:txBody>
      </p:sp>
      <p:sp>
        <p:nvSpPr>
          <p:cNvPr id="26" name="Text 20"/>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27" name="Text 21"/>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12 / 22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SECTION 6 — LIVE DEMO</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Let's Build It</a:t>
            </a:r>
            <a:endParaRPr lang="en-US" sz="3200" dirty="0"/>
          </a:p>
        </p:txBody>
      </p:sp>
      <p:sp>
        <p:nvSpPr>
          <p:cNvPr id="4" name="Text 2"/>
          <p:cNvSpPr/>
          <p:nvPr/>
        </p:nvSpPr>
        <p:spPr>
          <a:xfrm>
            <a:off x="548640" y="1417320"/>
            <a:ext cx="1078992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Our input: a single PDF that mixes narrative text, a data table, and a chart.</a:t>
            </a:r>
            <a:endParaRPr lang="en-US" sz="1600" dirty="0"/>
          </a:p>
        </p:txBody>
      </p:sp>
      <p:pic>
        <p:nvPicPr>
          <p:cNvPr id="5" name="Image 0" descr="/home/claude/mrag/assets/mockups/annual_report_page.png">    </p:cNvPr>
          <p:cNvPicPr>
            <a:picLocks noChangeAspect="1"/>
          </p:cNvPicPr>
          <p:nvPr/>
        </p:nvPicPr>
        <p:blipFill>
          <a:blip r:embed="rId1"/>
          <a:stretch>
            <a:fillRect/>
          </a:stretch>
        </p:blipFill>
        <p:spPr>
          <a:xfrm>
            <a:off x="822960" y="2011680"/>
            <a:ext cx="3285469" cy="3958438"/>
          </a:xfrm>
          <a:prstGeom prst="rect">
            <a:avLst/>
          </a:prstGeom>
        </p:spPr>
      </p:pic>
      <p:sp>
        <p:nvSpPr>
          <p:cNvPr id="6" name="Shape 3"/>
          <p:cNvSpPr/>
          <p:nvPr/>
        </p:nvSpPr>
        <p:spPr>
          <a:xfrm>
            <a:off x="6675120" y="2331720"/>
            <a:ext cx="4846320" cy="868680"/>
          </a:xfrm>
          <a:prstGeom prst="roundRect">
            <a:avLst>
              <a:gd name="adj" fmla="val 8421"/>
            </a:avLst>
          </a:prstGeom>
          <a:solidFill>
            <a:srgbClr val="1B2450"/>
          </a:solidFill>
          <a:ln w="12700">
            <a:solidFill>
              <a:srgbClr val="2E3868"/>
            </a:solidFill>
            <a:prstDash val="solid"/>
          </a:ln>
        </p:spPr>
      </p:sp>
      <p:sp>
        <p:nvSpPr>
          <p:cNvPr id="7" name="Shape 4"/>
          <p:cNvSpPr/>
          <p:nvPr/>
        </p:nvSpPr>
        <p:spPr>
          <a:xfrm>
            <a:off x="6858000" y="2487168"/>
            <a:ext cx="548640" cy="548640"/>
          </a:xfrm>
          <a:prstGeom prst="ellipse">
            <a:avLst/>
          </a:prstGeom>
          <a:solidFill>
            <a:srgbClr val="FF6B35"/>
          </a:solidFill>
          <a:ln/>
        </p:spPr>
      </p:sp>
      <p:pic>
        <p:nvPicPr>
          <p:cNvPr id="8" name="Image 1" descr="/home/claude/mrag/assets/icons/file_text.png">    </p:cNvPr>
          <p:cNvPicPr>
            <a:picLocks noChangeAspect="1"/>
          </p:cNvPicPr>
          <p:nvPr/>
        </p:nvPicPr>
        <p:blipFill>
          <a:blip r:embed="rId2"/>
          <a:stretch>
            <a:fillRect/>
          </a:stretch>
        </p:blipFill>
        <p:spPr>
          <a:xfrm>
            <a:off x="7004304" y="2633472"/>
            <a:ext cx="256032" cy="256032"/>
          </a:xfrm>
          <a:prstGeom prst="rect">
            <a:avLst/>
          </a:prstGeom>
        </p:spPr>
      </p:pic>
      <p:sp>
        <p:nvSpPr>
          <p:cNvPr id="9" name="Text 5"/>
          <p:cNvSpPr/>
          <p:nvPr/>
        </p:nvSpPr>
        <p:spPr>
          <a:xfrm>
            <a:off x="7589520" y="2331720"/>
            <a:ext cx="3749040" cy="8686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Text content present in the PDF</a:t>
            </a:r>
            <a:endParaRPr lang="en-US" sz="1500" dirty="0"/>
          </a:p>
        </p:txBody>
      </p:sp>
      <p:sp>
        <p:nvSpPr>
          <p:cNvPr id="10" name="Shape 6"/>
          <p:cNvSpPr/>
          <p:nvPr/>
        </p:nvSpPr>
        <p:spPr>
          <a:xfrm>
            <a:off x="6675120" y="3429000"/>
            <a:ext cx="4846320" cy="868680"/>
          </a:xfrm>
          <a:prstGeom prst="roundRect">
            <a:avLst>
              <a:gd name="adj" fmla="val 8421"/>
            </a:avLst>
          </a:prstGeom>
          <a:solidFill>
            <a:srgbClr val="1B2450"/>
          </a:solidFill>
          <a:ln w="12700">
            <a:solidFill>
              <a:srgbClr val="2E3868"/>
            </a:solidFill>
            <a:prstDash val="solid"/>
          </a:ln>
        </p:spPr>
      </p:sp>
      <p:sp>
        <p:nvSpPr>
          <p:cNvPr id="11" name="Shape 7"/>
          <p:cNvSpPr/>
          <p:nvPr/>
        </p:nvSpPr>
        <p:spPr>
          <a:xfrm>
            <a:off x="6858000" y="3584448"/>
            <a:ext cx="548640" cy="548640"/>
          </a:xfrm>
          <a:prstGeom prst="ellipse">
            <a:avLst/>
          </a:prstGeom>
          <a:solidFill>
            <a:srgbClr val="FF6B35"/>
          </a:solidFill>
          <a:ln/>
        </p:spPr>
      </p:sp>
      <p:pic>
        <p:nvPicPr>
          <p:cNvPr id="12" name="Image 2" descr="/home/claude/mrag/assets/icons/table.png">    </p:cNvPr>
          <p:cNvPicPr>
            <a:picLocks noChangeAspect="1"/>
          </p:cNvPicPr>
          <p:nvPr/>
        </p:nvPicPr>
        <p:blipFill>
          <a:blip r:embed="rId3"/>
          <a:stretch>
            <a:fillRect/>
          </a:stretch>
        </p:blipFill>
        <p:spPr>
          <a:xfrm>
            <a:off x="7004304" y="3730752"/>
            <a:ext cx="256032" cy="256032"/>
          </a:xfrm>
          <a:prstGeom prst="rect">
            <a:avLst/>
          </a:prstGeom>
        </p:spPr>
      </p:pic>
      <p:sp>
        <p:nvSpPr>
          <p:cNvPr id="13" name="Text 8"/>
          <p:cNvSpPr/>
          <p:nvPr/>
        </p:nvSpPr>
        <p:spPr>
          <a:xfrm>
            <a:off x="7589520" y="3429000"/>
            <a:ext cx="3749040" cy="8686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Table content present in the PDF</a:t>
            </a:r>
            <a:endParaRPr lang="en-US" sz="1500" dirty="0"/>
          </a:p>
        </p:txBody>
      </p:sp>
      <p:sp>
        <p:nvSpPr>
          <p:cNvPr id="14" name="Shape 9"/>
          <p:cNvSpPr/>
          <p:nvPr/>
        </p:nvSpPr>
        <p:spPr>
          <a:xfrm>
            <a:off x="6675120" y="4526280"/>
            <a:ext cx="4846320" cy="868680"/>
          </a:xfrm>
          <a:prstGeom prst="roundRect">
            <a:avLst>
              <a:gd name="adj" fmla="val 8421"/>
            </a:avLst>
          </a:prstGeom>
          <a:solidFill>
            <a:srgbClr val="1B2450"/>
          </a:solidFill>
          <a:ln w="12700">
            <a:solidFill>
              <a:srgbClr val="2E3868"/>
            </a:solidFill>
            <a:prstDash val="solid"/>
          </a:ln>
        </p:spPr>
      </p:sp>
      <p:sp>
        <p:nvSpPr>
          <p:cNvPr id="15" name="Shape 10"/>
          <p:cNvSpPr/>
          <p:nvPr/>
        </p:nvSpPr>
        <p:spPr>
          <a:xfrm>
            <a:off x="6858000" y="4681728"/>
            <a:ext cx="548640" cy="548640"/>
          </a:xfrm>
          <a:prstGeom prst="ellipse">
            <a:avLst/>
          </a:prstGeom>
          <a:solidFill>
            <a:srgbClr val="FF6B35"/>
          </a:solidFill>
          <a:ln/>
        </p:spPr>
      </p:sp>
      <p:pic>
        <p:nvPicPr>
          <p:cNvPr id="16" name="Image 3" descr="/home/claude/mrag/assets/icons/chart.png">    </p:cNvPr>
          <p:cNvPicPr>
            <a:picLocks noChangeAspect="1"/>
          </p:cNvPicPr>
          <p:nvPr/>
        </p:nvPicPr>
        <p:blipFill>
          <a:blip r:embed="rId4"/>
          <a:stretch>
            <a:fillRect/>
          </a:stretch>
        </p:blipFill>
        <p:spPr>
          <a:xfrm>
            <a:off x="7004304" y="4828032"/>
            <a:ext cx="256032" cy="256032"/>
          </a:xfrm>
          <a:prstGeom prst="rect">
            <a:avLst/>
          </a:prstGeom>
        </p:spPr>
      </p:pic>
      <p:sp>
        <p:nvSpPr>
          <p:cNvPr id="17" name="Text 11"/>
          <p:cNvSpPr/>
          <p:nvPr/>
        </p:nvSpPr>
        <p:spPr>
          <a:xfrm>
            <a:off x="7589520" y="4526280"/>
            <a:ext cx="3749040" cy="8686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Chart / Image content present in the PDF</a:t>
            </a:r>
            <a:endParaRPr lang="en-US" sz="1500" dirty="0"/>
          </a:p>
        </p:txBody>
      </p:sp>
      <p:sp>
        <p:nvSpPr>
          <p:cNvPr id="18" name="Text 12"/>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5A6699"/>
                </a:solidFill>
                <a:latin typeface="Calibri" pitchFamily="34" charset="0"/>
                <a:ea typeface="Calibri" pitchFamily="34" charset="-122"/>
                <a:cs typeface="Calibri" pitchFamily="34" charset="-120"/>
              </a:rPr>
              <a:t>Beyond Text RAG</a:t>
            </a:r>
            <a:endParaRPr lang="en-US" sz="1000" dirty="0"/>
          </a:p>
        </p:txBody>
      </p:sp>
      <p:sp>
        <p:nvSpPr>
          <p:cNvPr id="19" name="Text 13"/>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8892B0"/>
                </a:solidFill>
                <a:latin typeface="Calibri" pitchFamily="34" charset="0"/>
                <a:ea typeface="Calibri" pitchFamily="34" charset="-122"/>
                <a:cs typeface="Calibri" pitchFamily="34" charset="-120"/>
              </a:rPr>
              <a:t>13 / 22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6 — LIVE DEMO</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Stage 1 — Extraction</a:t>
            </a:r>
            <a:endParaRPr lang="en-US" sz="3200" dirty="0"/>
          </a:p>
        </p:txBody>
      </p:sp>
      <p:sp>
        <p:nvSpPr>
          <p:cNvPr id="4" name="Shape 2"/>
          <p:cNvSpPr/>
          <p:nvPr/>
        </p:nvSpPr>
        <p:spPr>
          <a:xfrm>
            <a:off x="1188720" y="2377440"/>
            <a:ext cx="210312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5" name="Shape 3"/>
          <p:cNvSpPr/>
          <p:nvPr/>
        </p:nvSpPr>
        <p:spPr>
          <a:xfrm>
            <a:off x="2002536" y="2496312"/>
            <a:ext cx="475488" cy="475488"/>
          </a:xfrm>
          <a:prstGeom prst="ellipse">
            <a:avLst/>
          </a:prstGeom>
          <a:solidFill>
            <a:srgbClr val="1C7293"/>
          </a:solidFill>
          <a:ln/>
        </p:spPr>
      </p:sp>
      <p:pic>
        <p:nvPicPr>
          <p:cNvPr id="6" name="Image 0" descr="/home/claude/mrag/assets/icons/file_text.png">    </p:cNvPr>
          <p:cNvPicPr>
            <a:picLocks noChangeAspect="1"/>
          </p:cNvPicPr>
          <p:nvPr/>
        </p:nvPicPr>
        <p:blipFill>
          <a:blip r:embed="rId1"/>
          <a:stretch>
            <a:fillRect/>
          </a:stretch>
        </p:blipFill>
        <p:spPr>
          <a:xfrm>
            <a:off x="2088124" y="2581900"/>
            <a:ext cx="304312" cy="304312"/>
          </a:xfrm>
          <a:prstGeom prst="rect">
            <a:avLst/>
          </a:prstGeom>
        </p:spPr>
      </p:pic>
      <p:sp>
        <p:nvSpPr>
          <p:cNvPr id="7" name="Text 4"/>
          <p:cNvSpPr/>
          <p:nvPr/>
        </p:nvSpPr>
        <p:spPr>
          <a:xfrm>
            <a:off x="1225296" y="3044952"/>
            <a:ext cx="202996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PDF</a:t>
            </a:r>
            <a:endParaRPr lang="en-US" sz="1300" dirty="0"/>
          </a:p>
        </p:txBody>
      </p:sp>
      <p:sp>
        <p:nvSpPr>
          <p:cNvPr id="8" name="Shape 5"/>
          <p:cNvSpPr/>
          <p:nvPr/>
        </p:nvSpPr>
        <p:spPr>
          <a:xfrm>
            <a:off x="3328416" y="2990088"/>
            <a:ext cx="384048" cy="146304"/>
          </a:xfrm>
          <a:prstGeom prst="rightArrow">
            <a:avLst/>
          </a:prstGeom>
          <a:solidFill>
            <a:srgbClr val="AAB4CE"/>
          </a:solidFill>
          <a:ln/>
        </p:spPr>
      </p:sp>
      <p:sp>
        <p:nvSpPr>
          <p:cNvPr id="9" name="Shape 6"/>
          <p:cNvSpPr/>
          <p:nvPr/>
        </p:nvSpPr>
        <p:spPr>
          <a:xfrm>
            <a:off x="3749040" y="2377440"/>
            <a:ext cx="210312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0" name="Shape 7"/>
          <p:cNvSpPr/>
          <p:nvPr/>
        </p:nvSpPr>
        <p:spPr>
          <a:xfrm>
            <a:off x="4562856" y="2496312"/>
            <a:ext cx="475488" cy="475488"/>
          </a:xfrm>
          <a:prstGeom prst="ellipse">
            <a:avLst/>
          </a:prstGeom>
          <a:solidFill>
            <a:srgbClr val="1C7293"/>
          </a:solidFill>
          <a:ln/>
        </p:spPr>
      </p:sp>
      <p:pic>
        <p:nvPicPr>
          <p:cNvPr id="11" name="Image 1" descr="/home/claude/mrag/assets/icons/layers.png">    </p:cNvPr>
          <p:cNvPicPr>
            <a:picLocks noChangeAspect="1"/>
          </p:cNvPicPr>
          <p:nvPr/>
        </p:nvPicPr>
        <p:blipFill>
          <a:blip r:embed="rId2"/>
          <a:stretch>
            <a:fillRect/>
          </a:stretch>
        </p:blipFill>
        <p:spPr>
          <a:xfrm>
            <a:off x="4648444" y="2581900"/>
            <a:ext cx="304312" cy="304312"/>
          </a:xfrm>
          <a:prstGeom prst="rect">
            <a:avLst/>
          </a:prstGeom>
        </p:spPr>
      </p:pic>
      <p:sp>
        <p:nvSpPr>
          <p:cNvPr id="12" name="Text 8"/>
          <p:cNvSpPr/>
          <p:nvPr/>
        </p:nvSpPr>
        <p:spPr>
          <a:xfrm>
            <a:off x="3785616" y="3044952"/>
            <a:ext cx="202996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Text</a:t>
            </a:r>
            <a:endParaRPr lang="en-US" sz="1300" dirty="0"/>
          </a:p>
        </p:txBody>
      </p:sp>
      <p:sp>
        <p:nvSpPr>
          <p:cNvPr id="13" name="Shape 9"/>
          <p:cNvSpPr/>
          <p:nvPr/>
        </p:nvSpPr>
        <p:spPr>
          <a:xfrm>
            <a:off x="5888736" y="2990088"/>
            <a:ext cx="384048" cy="146304"/>
          </a:xfrm>
          <a:prstGeom prst="rightArrow">
            <a:avLst/>
          </a:prstGeom>
          <a:solidFill>
            <a:srgbClr val="AAB4CE"/>
          </a:solidFill>
          <a:ln/>
        </p:spPr>
      </p:sp>
      <p:sp>
        <p:nvSpPr>
          <p:cNvPr id="14" name="Shape 10"/>
          <p:cNvSpPr/>
          <p:nvPr/>
        </p:nvSpPr>
        <p:spPr>
          <a:xfrm>
            <a:off x="6309360" y="2377440"/>
            <a:ext cx="210312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5" name="Shape 11"/>
          <p:cNvSpPr/>
          <p:nvPr/>
        </p:nvSpPr>
        <p:spPr>
          <a:xfrm>
            <a:off x="7123176" y="2496312"/>
            <a:ext cx="475488" cy="475488"/>
          </a:xfrm>
          <a:prstGeom prst="ellipse">
            <a:avLst/>
          </a:prstGeom>
          <a:solidFill>
            <a:srgbClr val="1C7293"/>
          </a:solidFill>
          <a:ln/>
        </p:spPr>
      </p:sp>
      <p:pic>
        <p:nvPicPr>
          <p:cNvPr id="16" name="Image 2" descr="/home/claude/mrag/assets/icons/table.png">    </p:cNvPr>
          <p:cNvPicPr>
            <a:picLocks noChangeAspect="1"/>
          </p:cNvPicPr>
          <p:nvPr/>
        </p:nvPicPr>
        <p:blipFill>
          <a:blip r:embed="rId3"/>
          <a:stretch>
            <a:fillRect/>
          </a:stretch>
        </p:blipFill>
        <p:spPr>
          <a:xfrm>
            <a:off x="7208764" y="2581900"/>
            <a:ext cx="304312" cy="304312"/>
          </a:xfrm>
          <a:prstGeom prst="rect">
            <a:avLst/>
          </a:prstGeom>
        </p:spPr>
      </p:pic>
      <p:sp>
        <p:nvSpPr>
          <p:cNvPr id="17" name="Text 12"/>
          <p:cNvSpPr/>
          <p:nvPr/>
        </p:nvSpPr>
        <p:spPr>
          <a:xfrm>
            <a:off x="6345936" y="3044952"/>
            <a:ext cx="202996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Tables</a:t>
            </a:r>
            <a:endParaRPr lang="en-US" sz="1300" dirty="0"/>
          </a:p>
        </p:txBody>
      </p:sp>
      <p:sp>
        <p:nvSpPr>
          <p:cNvPr id="18" name="Shape 13"/>
          <p:cNvSpPr/>
          <p:nvPr/>
        </p:nvSpPr>
        <p:spPr>
          <a:xfrm>
            <a:off x="8449056" y="2990088"/>
            <a:ext cx="384048" cy="146304"/>
          </a:xfrm>
          <a:prstGeom prst="rightArrow">
            <a:avLst/>
          </a:prstGeom>
          <a:solidFill>
            <a:srgbClr val="AAB4CE"/>
          </a:solidFill>
          <a:ln/>
        </p:spPr>
      </p:sp>
      <p:sp>
        <p:nvSpPr>
          <p:cNvPr id="19" name="Shape 14"/>
          <p:cNvSpPr/>
          <p:nvPr/>
        </p:nvSpPr>
        <p:spPr>
          <a:xfrm>
            <a:off x="8869680" y="2377440"/>
            <a:ext cx="210312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0" name="Shape 15"/>
          <p:cNvSpPr/>
          <p:nvPr/>
        </p:nvSpPr>
        <p:spPr>
          <a:xfrm>
            <a:off x="9683496" y="2496312"/>
            <a:ext cx="475488" cy="475488"/>
          </a:xfrm>
          <a:prstGeom prst="ellipse">
            <a:avLst/>
          </a:prstGeom>
          <a:solidFill>
            <a:srgbClr val="1C7293"/>
          </a:solidFill>
          <a:ln/>
        </p:spPr>
      </p:sp>
      <p:pic>
        <p:nvPicPr>
          <p:cNvPr id="21" name="Image 3" descr="/home/claude/mrag/assets/icons/image.png">    </p:cNvPr>
          <p:cNvPicPr>
            <a:picLocks noChangeAspect="1"/>
          </p:cNvPicPr>
          <p:nvPr/>
        </p:nvPicPr>
        <p:blipFill>
          <a:blip r:embed="rId4"/>
          <a:stretch>
            <a:fillRect/>
          </a:stretch>
        </p:blipFill>
        <p:spPr>
          <a:xfrm>
            <a:off x="9769084" y="2581900"/>
            <a:ext cx="304312" cy="304312"/>
          </a:xfrm>
          <a:prstGeom prst="rect">
            <a:avLst/>
          </a:prstGeom>
        </p:spPr>
      </p:pic>
      <p:sp>
        <p:nvSpPr>
          <p:cNvPr id="22" name="Text 16"/>
          <p:cNvSpPr/>
          <p:nvPr/>
        </p:nvSpPr>
        <p:spPr>
          <a:xfrm>
            <a:off x="8906256" y="3044952"/>
            <a:ext cx="202996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Images</a:t>
            </a:r>
            <a:endParaRPr lang="en-US" sz="1300" dirty="0"/>
          </a:p>
        </p:txBody>
      </p:sp>
      <p:sp>
        <p:nvSpPr>
          <p:cNvPr id="23" name="Text 17"/>
          <p:cNvSpPr/>
          <p:nvPr/>
        </p:nvSpPr>
        <p:spPr>
          <a:xfrm>
            <a:off x="822960" y="4297680"/>
            <a:ext cx="10515600" cy="822960"/>
          </a:xfrm>
          <a:prstGeom prst="rect">
            <a:avLst/>
          </a:prstGeom>
          <a:noFill/>
          <a:ln/>
        </p:spPr>
        <p:txBody>
          <a:bodyPr wrap="square" rtlCol="0" anchor="t"/>
          <a:lstStyle/>
          <a:p>
            <a:pPr indent="0" marL="0">
              <a:buNone/>
            </a:pPr>
            <a:r>
              <a:rPr lang="en-US" sz="1500" i="1" dirty="0">
                <a:solidFill>
                  <a:srgbClr val="6B7280"/>
                </a:solidFill>
                <a:latin typeface="Calibri" pitchFamily="34" charset="0"/>
                <a:ea typeface="Calibri" pitchFamily="34" charset="-122"/>
                <a:cs typeface="Calibri" pitchFamily="34" charset="-120"/>
              </a:rPr>
              <a:t>PyMuPDF pulls out each modality separately — plain paragraphs, detected table regions, and embedded images/charts — instead of flattening the page into one text blob.</a:t>
            </a:r>
            <a:endParaRPr lang="en-US" sz="1500" dirty="0"/>
          </a:p>
        </p:txBody>
      </p:sp>
      <p:sp>
        <p:nvSpPr>
          <p:cNvPr id="24" name="Text 18"/>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25" name="Text 19"/>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14 / 22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6 — LIVE DEMO</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Stage 2 — Indexing</a:t>
            </a:r>
            <a:endParaRPr lang="en-US" sz="3200" dirty="0"/>
          </a:p>
        </p:txBody>
      </p:sp>
      <p:sp>
        <p:nvSpPr>
          <p:cNvPr id="4" name="Shape 2"/>
          <p:cNvSpPr/>
          <p:nvPr/>
        </p:nvSpPr>
        <p:spPr>
          <a:xfrm>
            <a:off x="914400" y="2377440"/>
            <a:ext cx="224028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5" name="Shape 3"/>
          <p:cNvSpPr/>
          <p:nvPr/>
        </p:nvSpPr>
        <p:spPr>
          <a:xfrm>
            <a:off x="1796796" y="2496312"/>
            <a:ext cx="475488" cy="475488"/>
          </a:xfrm>
          <a:prstGeom prst="ellipse">
            <a:avLst/>
          </a:prstGeom>
          <a:solidFill>
            <a:srgbClr val="1E2761"/>
          </a:solidFill>
          <a:ln/>
        </p:spPr>
      </p:sp>
      <p:pic>
        <p:nvPicPr>
          <p:cNvPr id="6" name="Image 0" descr="/home/claude/mrag/assets/icons/cube.png">    </p:cNvPr>
          <p:cNvPicPr>
            <a:picLocks noChangeAspect="1"/>
          </p:cNvPicPr>
          <p:nvPr/>
        </p:nvPicPr>
        <p:blipFill>
          <a:blip r:embed="rId1"/>
          <a:stretch>
            <a:fillRect/>
          </a:stretch>
        </p:blipFill>
        <p:spPr>
          <a:xfrm>
            <a:off x="1882384" y="2581900"/>
            <a:ext cx="304312" cy="304312"/>
          </a:xfrm>
          <a:prstGeom prst="rect">
            <a:avLst/>
          </a:prstGeom>
        </p:spPr>
      </p:pic>
      <p:sp>
        <p:nvSpPr>
          <p:cNvPr id="7" name="Text 4"/>
          <p:cNvSpPr/>
          <p:nvPr/>
        </p:nvSpPr>
        <p:spPr>
          <a:xfrm>
            <a:off x="950976" y="3044952"/>
            <a:ext cx="216712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Content</a:t>
            </a:r>
            <a:endParaRPr lang="en-US" sz="1300" dirty="0"/>
          </a:p>
          <a:p>
            <a:pPr algn="ctr" indent="0" marL="0">
              <a:buNone/>
            </a:pPr>
            <a:r>
              <a:rPr lang="en-US" sz="1300" b="1" dirty="0">
                <a:solidFill>
                  <a:srgbClr val="222A42"/>
                </a:solidFill>
                <a:latin typeface="Calibri" pitchFamily="34" charset="0"/>
                <a:ea typeface="Calibri" pitchFamily="34" charset="-122"/>
                <a:cs typeface="Calibri" pitchFamily="34" charset="-120"/>
              </a:rPr>
              <a:t>(Text/Table/Image)</a:t>
            </a:r>
            <a:endParaRPr lang="en-US" sz="1300" dirty="0"/>
          </a:p>
        </p:txBody>
      </p:sp>
      <p:sp>
        <p:nvSpPr>
          <p:cNvPr id="8" name="Shape 5"/>
          <p:cNvSpPr/>
          <p:nvPr/>
        </p:nvSpPr>
        <p:spPr>
          <a:xfrm>
            <a:off x="3191256" y="2990088"/>
            <a:ext cx="384048" cy="146304"/>
          </a:xfrm>
          <a:prstGeom prst="rightArrow">
            <a:avLst/>
          </a:prstGeom>
          <a:solidFill>
            <a:srgbClr val="AAB4CE"/>
          </a:solidFill>
          <a:ln/>
        </p:spPr>
      </p:sp>
      <p:sp>
        <p:nvSpPr>
          <p:cNvPr id="9" name="Shape 6"/>
          <p:cNvSpPr/>
          <p:nvPr/>
        </p:nvSpPr>
        <p:spPr>
          <a:xfrm>
            <a:off x="3611880" y="2377440"/>
            <a:ext cx="224028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0" name="Shape 7"/>
          <p:cNvSpPr/>
          <p:nvPr/>
        </p:nvSpPr>
        <p:spPr>
          <a:xfrm>
            <a:off x="4494276" y="2496312"/>
            <a:ext cx="475488" cy="475488"/>
          </a:xfrm>
          <a:prstGeom prst="ellipse">
            <a:avLst/>
          </a:prstGeom>
          <a:solidFill>
            <a:srgbClr val="1E2761"/>
          </a:solidFill>
          <a:ln/>
        </p:spPr>
      </p:sp>
      <p:pic>
        <p:nvPicPr>
          <p:cNvPr id="11" name="Image 1" descr="/home/claude/mrag/assets/icons/chip.png">    </p:cNvPr>
          <p:cNvPicPr>
            <a:picLocks noChangeAspect="1"/>
          </p:cNvPicPr>
          <p:nvPr/>
        </p:nvPicPr>
        <p:blipFill>
          <a:blip r:embed="rId2"/>
          <a:stretch>
            <a:fillRect/>
          </a:stretch>
        </p:blipFill>
        <p:spPr>
          <a:xfrm>
            <a:off x="4579864" y="2581900"/>
            <a:ext cx="304312" cy="304312"/>
          </a:xfrm>
          <a:prstGeom prst="rect">
            <a:avLst/>
          </a:prstGeom>
        </p:spPr>
      </p:pic>
      <p:sp>
        <p:nvSpPr>
          <p:cNvPr id="12" name="Text 8"/>
          <p:cNvSpPr/>
          <p:nvPr/>
        </p:nvSpPr>
        <p:spPr>
          <a:xfrm>
            <a:off x="3648456" y="3044952"/>
            <a:ext cx="216712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Embeddings</a:t>
            </a:r>
            <a:endParaRPr lang="en-US" sz="1300" dirty="0"/>
          </a:p>
        </p:txBody>
      </p:sp>
      <p:sp>
        <p:nvSpPr>
          <p:cNvPr id="13" name="Shape 9"/>
          <p:cNvSpPr/>
          <p:nvPr/>
        </p:nvSpPr>
        <p:spPr>
          <a:xfrm>
            <a:off x="5888736" y="2990088"/>
            <a:ext cx="384048" cy="146304"/>
          </a:xfrm>
          <a:prstGeom prst="rightArrow">
            <a:avLst/>
          </a:prstGeom>
          <a:solidFill>
            <a:srgbClr val="AAB4CE"/>
          </a:solidFill>
          <a:ln/>
        </p:spPr>
      </p:sp>
      <p:sp>
        <p:nvSpPr>
          <p:cNvPr id="14" name="Shape 10"/>
          <p:cNvSpPr/>
          <p:nvPr/>
        </p:nvSpPr>
        <p:spPr>
          <a:xfrm>
            <a:off x="6309360" y="2377440"/>
            <a:ext cx="224028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5" name="Shape 11"/>
          <p:cNvSpPr/>
          <p:nvPr/>
        </p:nvSpPr>
        <p:spPr>
          <a:xfrm>
            <a:off x="7191756" y="2496312"/>
            <a:ext cx="475488" cy="475488"/>
          </a:xfrm>
          <a:prstGeom prst="ellipse">
            <a:avLst/>
          </a:prstGeom>
          <a:solidFill>
            <a:srgbClr val="1E2761"/>
          </a:solidFill>
          <a:ln/>
        </p:spPr>
      </p:sp>
      <p:pic>
        <p:nvPicPr>
          <p:cNvPr id="16" name="Image 2" descr="/home/claude/mrag/assets/icons/database.png">    </p:cNvPr>
          <p:cNvPicPr>
            <a:picLocks noChangeAspect="1"/>
          </p:cNvPicPr>
          <p:nvPr/>
        </p:nvPicPr>
        <p:blipFill>
          <a:blip r:embed="rId3"/>
          <a:stretch>
            <a:fillRect/>
          </a:stretch>
        </p:blipFill>
        <p:spPr>
          <a:xfrm>
            <a:off x="7277344" y="2581900"/>
            <a:ext cx="304312" cy="304312"/>
          </a:xfrm>
          <a:prstGeom prst="rect">
            <a:avLst/>
          </a:prstGeom>
        </p:spPr>
      </p:pic>
      <p:sp>
        <p:nvSpPr>
          <p:cNvPr id="17" name="Text 12"/>
          <p:cNvSpPr/>
          <p:nvPr/>
        </p:nvSpPr>
        <p:spPr>
          <a:xfrm>
            <a:off x="6345936" y="3044952"/>
            <a:ext cx="216712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FAISS</a:t>
            </a:r>
            <a:endParaRPr lang="en-US" sz="1300" dirty="0"/>
          </a:p>
        </p:txBody>
      </p:sp>
      <p:sp>
        <p:nvSpPr>
          <p:cNvPr id="18" name="Shape 13"/>
          <p:cNvSpPr/>
          <p:nvPr/>
        </p:nvSpPr>
        <p:spPr>
          <a:xfrm>
            <a:off x="8586216" y="2990088"/>
            <a:ext cx="384048" cy="146304"/>
          </a:xfrm>
          <a:prstGeom prst="rightArrow">
            <a:avLst/>
          </a:prstGeom>
          <a:solidFill>
            <a:srgbClr val="AAB4CE"/>
          </a:solidFill>
          <a:ln/>
        </p:spPr>
      </p:sp>
      <p:sp>
        <p:nvSpPr>
          <p:cNvPr id="19" name="Shape 14"/>
          <p:cNvSpPr/>
          <p:nvPr/>
        </p:nvSpPr>
        <p:spPr>
          <a:xfrm>
            <a:off x="9006840" y="2377440"/>
            <a:ext cx="2240280" cy="1371600"/>
          </a:xfrm>
          <a:prstGeom prst="roundRect">
            <a:avLst>
              <a:gd name="adj" fmla="val 6667"/>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0" name="Shape 15"/>
          <p:cNvSpPr/>
          <p:nvPr/>
        </p:nvSpPr>
        <p:spPr>
          <a:xfrm>
            <a:off x="9889236" y="2496312"/>
            <a:ext cx="475488" cy="475488"/>
          </a:xfrm>
          <a:prstGeom prst="ellipse">
            <a:avLst/>
          </a:prstGeom>
          <a:solidFill>
            <a:srgbClr val="1E2761"/>
          </a:solidFill>
          <a:ln/>
        </p:spPr>
      </p:sp>
      <p:pic>
        <p:nvPicPr>
          <p:cNvPr id="21" name="Image 3" descr="/home/claude/mrag/assets/icons/search.png">    </p:cNvPr>
          <p:cNvPicPr>
            <a:picLocks noChangeAspect="1"/>
          </p:cNvPicPr>
          <p:nvPr/>
        </p:nvPicPr>
        <p:blipFill>
          <a:blip r:embed="rId4"/>
          <a:stretch>
            <a:fillRect/>
          </a:stretch>
        </p:blipFill>
        <p:spPr>
          <a:xfrm>
            <a:off x="9974824" y="2581900"/>
            <a:ext cx="304312" cy="304312"/>
          </a:xfrm>
          <a:prstGeom prst="rect">
            <a:avLst/>
          </a:prstGeom>
        </p:spPr>
      </p:pic>
      <p:sp>
        <p:nvSpPr>
          <p:cNvPr id="22" name="Text 16"/>
          <p:cNvSpPr/>
          <p:nvPr/>
        </p:nvSpPr>
        <p:spPr>
          <a:xfrm>
            <a:off x="9043416" y="3044952"/>
            <a:ext cx="2167128" cy="685800"/>
          </a:xfrm>
          <a:prstGeom prst="rect">
            <a:avLst/>
          </a:prstGeom>
          <a:noFill/>
          <a:ln/>
        </p:spPr>
        <p:txBody>
          <a:bodyPr wrap="square" rtlCol="0" anchor="t"/>
          <a:lstStyle/>
          <a:p>
            <a:pPr algn="ctr" indent="0" marL="0">
              <a:buNone/>
            </a:pPr>
            <a:r>
              <a:rPr lang="en-US" sz="1300" b="1" dirty="0">
                <a:solidFill>
                  <a:srgbClr val="222A42"/>
                </a:solidFill>
                <a:latin typeface="Calibri" pitchFamily="34" charset="0"/>
                <a:ea typeface="Calibri" pitchFamily="34" charset="-122"/>
                <a:cs typeface="Calibri" pitchFamily="34" charset="-120"/>
              </a:rPr>
              <a:t>Searchable</a:t>
            </a:r>
            <a:endParaRPr lang="en-US" sz="1300" dirty="0"/>
          </a:p>
          <a:p>
            <a:pPr algn="ctr" indent="0" marL="0">
              <a:buNone/>
            </a:pPr>
            <a:r>
              <a:rPr lang="en-US" sz="1300" b="1" dirty="0">
                <a:solidFill>
                  <a:srgbClr val="222A42"/>
                </a:solidFill>
                <a:latin typeface="Calibri" pitchFamily="34" charset="0"/>
                <a:ea typeface="Calibri" pitchFamily="34" charset="-122"/>
                <a:cs typeface="Calibri" pitchFamily="34" charset="-120"/>
              </a:rPr>
              <a:t>Knowledge Base</a:t>
            </a:r>
            <a:endParaRPr lang="en-US" sz="1300" dirty="0"/>
          </a:p>
        </p:txBody>
      </p:sp>
      <p:sp>
        <p:nvSpPr>
          <p:cNvPr id="23" name="Text 17"/>
          <p:cNvSpPr/>
          <p:nvPr/>
        </p:nvSpPr>
        <p:spPr>
          <a:xfrm>
            <a:off x="822960" y="4297680"/>
            <a:ext cx="10515600" cy="822960"/>
          </a:xfrm>
          <a:prstGeom prst="rect">
            <a:avLst/>
          </a:prstGeom>
          <a:noFill/>
          <a:ln/>
        </p:spPr>
        <p:txBody>
          <a:bodyPr wrap="square" rtlCol="0" anchor="t"/>
          <a:lstStyle/>
          <a:p>
            <a:pPr indent="0" marL="0">
              <a:buNone/>
            </a:pPr>
            <a:r>
              <a:rPr lang="en-US" sz="1500" i="1" dirty="0">
                <a:solidFill>
                  <a:srgbClr val="6B7280"/>
                </a:solidFill>
                <a:latin typeface="Calibri" pitchFamily="34" charset="0"/>
                <a:ea typeface="Calibri" pitchFamily="34" charset="-122"/>
                <a:cs typeface="Calibri" pitchFamily="34" charset="-120"/>
              </a:rPr>
              <a:t>Sentence Transformers embed the text &amp; table content; an image embedding step handles the chart. All vectors are stored together in a single FAISS index.</a:t>
            </a:r>
            <a:endParaRPr lang="en-US" sz="1500" dirty="0"/>
          </a:p>
        </p:txBody>
      </p:sp>
      <p:sp>
        <p:nvSpPr>
          <p:cNvPr id="24" name="Text 18"/>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25" name="Text 19"/>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15 / 22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6 — LIVE DEMO</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Student Question — Text</a:t>
            </a:r>
            <a:endParaRPr lang="en-US" sz="3200" dirty="0"/>
          </a:p>
        </p:txBody>
      </p:sp>
      <p:sp>
        <p:nvSpPr>
          <p:cNvPr id="4" name="Shape 2"/>
          <p:cNvSpPr/>
          <p:nvPr/>
        </p:nvSpPr>
        <p:spPr>
          <a:xfrm>
            <a:off x="548640" y="1600200"/>
            <a:ext cx="10881360" cy="868680"/>
          </a:xfrm>
          <a:prstGeom prst="roundRect">
            <a:avLst>
              <a:gd name="adj" fmla="val 9474"/>
            </a:avLst>
          </a:prstGeom>
          <a:solidFill>
            <a:srgbClr val="1E2761"/>
          </a:solidFill>
          <a:ln/>
        </p:spPr>
      </p:sp>
      <p:pic>
        <p:nvPicPr>
          <p:cNvPr id="5" name="Image 0" descr="/home/claude/mrag/assets/icons/question.png">    </p:cNvPr>
          <p:cNvPicPr>
            <a:picLocks noChangeAspect="1"/>
          </p:cNvPicPr>
          <p:nvPr/>
        </p:nvPicPr>
        <p:blipFill>
          <a:blip r:embed="rId1"/>
          <a:stretch>
            <a:fillRect/>
          </a:stretch>
        </p:blipFill>
        <p:spPr>
          <a:xfrm>
            <a:off x="822960" y="1810512"/>
            <a:ext cx="457200" cy="457200"/>
          </a:xfrm>
          <a:prstGeom prst="rect">
            <a:avLst/>
          </a:prstGeom>
        </p:spPr>
      </p:pic>
      <p:sp>
        <p:nvSpPr>
          <p:cNvPr id="6" name="Text 3"/>
          <p:cNvSpPr/>
          <p:nvPr/>
        </p:nvSpPr>
        <p:spPr>
          <a:xfrm>
            <a:off x="1463040" y="1600200"/>
            <a:ext cx="9692640" cy="868680"/>
          </a:xfrm>
          <a:prstGeom prst="rect">
            <a:avLst/>
          </a:prstGeom>
          <a:noFill/>
          <a:ln/>
        </p:spPr>
        <p:txBody>
          <a:bodyPr wrap="square" rtlCol="0" anchor="ctr"/>
          <a:lstStyle/>
          <a:p>
            <a:pPr indent="0" marL="0">
              <a:buNone/>
            </a:pPr>
            <a:r>
              <a:rPr lang="en-US" sz="2200" b="1" i="1" dirty="0">
                <a:solidFill>
                  <a:srgbClr val="FFFFFF"/>
                </a:solidFill>
                <a:latin typeface="Cambria" pitchFamily="34" charset="0"/>
                <a:ea typeface="Cambria" pitchFamily="34" charset="-122"/>
                <a:cs typeface="Cambria" pitchFamily="34" charset="-120"/>
              </a:rPr>
              <a:t>"What was the revenue in 2024?"</a:t>
            </a:r>
            <a:endParaRPr lang="en-US" sz="2200" dirty="0"/>
          </a:p>
        </p:txBody>
      </p:sp>
      <p:sp>
        <p:nvSpPr>
          <p:cNvPr id="7" name="Shape 4"/>
          <p:cNvSpPr/>
          <p:nvPr/>
        </p:nvSpPr>
        <p:spPr>
          <a:xfrm>
            <a:off x="457200"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8" name="Shape 5"/>
          <p:cNvSpPr/>
          <p:nvPr/>
        </p:nvSpPr>
        <p:spPr>
          <a:xfrm>
            <a:off x="1197864" y="2999232"/>
            <a:ext cx="402336" cy="402336"/>
          </a:xfrm>
          <a:prstGeom prst="ellipse">
            <a:avLst/>
          </a:prstGeom>
          <a:solidFill>
            <a:srgbClr val="1C7293"/>
          </a:solidFill>
          <a:ln/>
        </p:spPr>
      </p:sp>
      <p:pic>
        <p:nvPicPr>
          <p:cNvPr id="9" name="Image 1" descr="/home/claude/mrag/assets/icons/question.png">    </p:cNvPr>
          <p:cNvPicPr>
            <a:picLocks noChangeAspect="1"/>
          </p:cNvPicPr>
          <p:nvPr/>
        </p:nvPicPr>
        <p:blipFill>
          <a:blip r:embed="rId2"/>
          <a:stretch>
            <a:fillRect/>
          </a:stretch>
        </p:blipFill>
        <p:spPr>
          <a:xfrm>
            <a:off x="1270284" y="3071652"/>
            <a:ext cx="257495" cy="257495"/>
          </a:xfrm>
          <a:prstGeom prst="rect">
            <a:avLst/>
          </a:prstGeom>
        </p:spPr>
      </p:pic>
      <p:sp>
        <p:nvSpPr>
          <p:cNvPr id="10" name="Text 6"/>
          <p:cNvSpPr/>
          <p:nvPr/>
        </p:nvSpPr>
        <p:spPr>
          <a:xfrm>
            <a:off x="493776"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Question</a:t>
            </a:r>
            <a:endParaRPr lang="en-US" sz="1250" dirty="0"/>
          </a:p>
        </p:txBody>
      </p:sp>
      <p:sp>
        <p:nvSpPr>
          <p:cNvPr id="11" name="Shape 7"/>
          <p:cNvSpPr/>
          <p:nvPr/>
        </p:nvSpPr>
        <p:spPr>
          <a:xfrm>
            <a:off x="2377440" y="3378708"/>
            <a:ext cx="384048" cy="146304"/>
          </a:xfrm>
          <a:prstGeom prst="rightArrow">
            <a:avLst/>
          </a:prstGeom>
          <a:solidFill>
            <a:srgbClr val="AAB4CE"/>
          </a:solidFill>
          <a:ln/>
        </p:spPr>
      </p:sp>
      <p:sp>
        <p:nvSpPr>
          <p:cNvPr id="12" name="Shape 8"/>
          <p:cNvSpPr/>
          <p:nvPr/>
        </p:nvSpPr>
        <p:spPr>
          <a:xfrm>
            <a:off x="2798064"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3" name="Shape 9"/>
          <p:cNvSpPr/>
          <p:nvPr/>
        </p:nvSpPr>
        <p:spPr>
          <a:xfrm>
            <a:off x="3538728" y="2999232"/>
            <a:ext cx="402336" cy="402336"/>
          </a:xfrm>
          <a:prstGeom prst="ellipse">
            <a:avLst/>
          </a:prstGeom>
          <a:solidFill>
            <a:srgbClr val="1C7293"/>
          </a:solidFill>
          <a:ln/>
        </p:spPr>
      </p:sp>
      <p:pic>
        <p:nvPicPr>
          <p:cNvPr id="14" name="Image 2" descr="/home/claude/mrag/assets/icons/search.png">    </p:cNvPr>
          <p:cNvPicPr>
            <a:picLocks noChangeAspect="1"/>
          </p:cNvPicPr>
          <p:nvPr/>
        </p:nvPicPr>
        <p:blipFill>
          <a:blip r:embed="rId3"/>
          <a:stretch>
            <a:fillRect/>
          </a:stretch>
        </p:blipFill>
        <p:spPr>
          <a:xfrm>
            <a:off x="3611148" y="3071652"/>
            <a:ext cx="257495" cy="257495"/>
          </a:xfrm>
          <a:prstGeom prst="rect">
            <a:avLst/>
          </a:prstGeom>
        </p:spPr>
      </p:pic>
      <p:sp>
        <p:nvSpPr>
          <p:cNvPr id="15" name="Text 10"/>
          <p:cNvSpPr/>
          <p:nvPr/>
        </p:nvSpPr>
        <p:spPr>
          <a:xfrm>
            <a:off x="2834640"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Retriever</a:t>
            </a:r>
            <a:endParaRPr lang="en-US" sz="1250" dirty="0"/>
          </a:p>
        </p:txBody>
      </p:sp>
      <p:sp>
        <p:nvSpPr>
          <p:cNvPr id="16" name="Shape 11"/>
          <p:cNvSpPr/>
          <p:nvPr/>
        </p:nvSpPr>
        <p:spPr>
          <a:xfrm>
            <a:off x="4718304" y="3378708"/>
            <a:ext cx="384048" cy="146304"/>
          </a:xfrm>
          <a:prstGeom prst="rightArrow">
            <a:avLst/>
          </a:prstGeom>
          <a:solidFill>
            <a:srgbClr val="AAB4CE"/>
          </a:solidFill>
          <a:ln/>
        </p:spPr>
      </p:sp>
      <p:sp>
        <p:nvSpPr>
          <p:cNvPr id="17" name="Shape 12"/>
          <p:cNvSpPr/>
          <p:nvPr/>
        </p:nvSpPr>
        <p:spPr>
          <a:xfrm>
            <a:off x="5138928"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8" name="Shape 13"/>
          <p:cNvSpPr/>
          <p:nvPr/>
        </p:nvSpPr>
        <p:spPr>
          <a:xfrm>
            <a:off x="5879592" y="2999232"/>
            <a:ext cx="402336" cy="402336"/>
          </a:xfrm>
          <a:prstGeom prst="ellipse">
            <a:avLst/>
          </a:prstGeom>
          <a:solidFill>
            <a:srgbClr val="1C7293"/>
          </a:solidFill>
          <a:ln/>
        </p:spPr>
      </p:sp>
      <p:pic>
        <p:nvPicPr>
          <p:cNvPr id="19" name="Image 3" descr="/home/claude/mrag/assets/icons/file_text.png">    </p:cNvPr>
          <p:cNvPicPr>
            <a:picLocks noChangeAspect="1"/>
          </p:cNvPicPr>
          <p:nvPr/>
        </p:nvPicPr>
        <p:blipFill>
          <a:blip r:embed="rId4"/>
          <a:stretch>
            <a:fillRect/>
          </a:stretch>
        </p:blipFill>
        <p:spPr>
          <a:xfrm>
            <a:off x="5952012" y="3071652"/>
            <a:ext cx="257495" cy="257495"/>
          </a:xfrm>
          <a:prstGeom prst="rect">
            <a:avLst/>
          </a:prstGeom>
        </p:spPr>
      </p:pic>
      <p:sp>
        <p:nvSpPr>
          <p:cNvPr id="20" name="Text 14"/>
          <p:cNvSpPr/>
          <p:nvPr/>
        </p:nvSpPr>
        <p:spPr>
          <a:xfrm>
            <a:off x="5175504"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Relevant Text Chunk</a:t>
            </a:r>
            <a:endParaRPr lang="en-US" sz="1250" dirty="0"/>
          </a:p>
        </p:txBody>
      </p:sp>
      <p:sp>
        <p:nvSpPr>
          <p:cNvPr id="21" name="Shape 15"/>
          <p:cNvSpPr/>
          <p:nvPr/>
        </p:nvSpPr>
        <p:spPr>
          <a:xfrm>
            <a:off x="7059168" y="3378708"/>
            <a:ext cx="384048" cy="146304"/>
          </a:xfrm>
          <a:prstGeom prst="rightArrow">
            <a:avLst/>
          </a:prstGeom>
          <a:solidFill>
            <a:srgbClr val="AAB4CE"/>
          </a:solidFill>
          <a:ln/>
        </p:spPr>
      </p:sp>
      <p:sp>
        <p:nvSpPr>
          <p:cNvPr id="22" name="Shape 16"/>
          <p:cNvSpPr/>
          <p:nvPr/>
        </p:nvSpPr>
        <p:spPr>
          <a:xfrm>
            <a:off x="7479792"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3" name="Shape 17"/>
          <p:cNvSpPr/>
          <p:nvPr/>
        </p:nvSpPr>
        <p:spPr>
          <a:xfrm>
            <a:off x="8220456" y="2999232"/>
            <a:ext cx="402336" cy="402336"/>
          </a:xfrm>
          <a:prstGeom prst="ellipse">
            <a:avLst/>
          </a:prstGeom>
          <a:solidFill>
            <a:srgbClr val="1C7293"/>
          </a:solidFill>
          <a:ln/>
        </p:spPr>
      </p:sp>
      <p:pic>
        <p:nvPicPr>
          <p:cNvPr id="24" name="Image 4" descr="/home/claude/mrag/assets/icons/robot.png">    </p:cNvPr>
          <p:cNvPicPr>
            <a:picLocks noChangeAspect="1"/>
          </p:cNvPicPr>
          <p:nvPr/>
        </p:nvPicPr>
        <p:blipFill>
          <a:blip r:embed="rId5"/>
          <a:stretch>
            <a:fillRect/>
          </a:stretch>
        </p:blipFill>
        <p:spPr>
          <a:xfrm>
            <a:off x="8292876" y="3071652"/>
            <a:ext cx="257495" cy="257495"/>
          </a:xfrm>
          <a:prstGeom prst="rect">
            <a:avLst/>
          </a:prstGeom>
        </p:spPr>
      </p:pic>
      <p:sp>
        <p:nvSpPr>
          <p:cNvPr id="25" name="Text 18"/>
          <p:cNvSpPr/>
          <p:nvPr/>
        </p:nvSpPr>
        <p:spPr>
          <a:xfrm>
            <a:off x="7516368"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LLM</a:t>
            </a:r>
            <a:endParaRPr lang="en-US" sz="1250" dirty="0"/>
          </a:p>
        </p:txBody>
      </p:sp>
      <p:sp>
        <p:nvSpPr>
          <p:cNvPr id="26" name="Shape 19"/>
          <p:cNvSpPr/>
          <p:nvPr/>
        </p:nvSpPr>
        <p:spPr>
          <a:xfrm>
            <a:off x="9400032" y="3378708"/>
            <a:ext cx="384048" cy="146304"/>
          </a:xfrm>
          <a:prstGeom prst="rightArrow">
            <a:avLst/>
          </a:prstGeom>
          <a:solidFill>
            <a:srgbClr val="AAB4CE"/>
          </a:solidFill>
          <a:ln/>
        </p:spPr>
      </p:sp>
      <p:sp>
        <p:nvSpPr>
          <p:cNvPr id="27" name="Shape 20"/>
          <p:cNvSpPr/>
          <p:nvPr/>
        </p:nvSpPr>
        <p:spPr>
          <a:xfrm>
            <a:off x="9820656"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8" name="Shape 21"/>
          <p:cNvSpPr/>
          <p:nvPr/>
        </p:nvSpPr>
        <p:spPr>
          <a:xfrm>
            <a:off x="10561320" y="2999232"/>
            <a:ext cx="402336" cy="402336"/>
          </a:xfrm>
          <a:prstGeom prst="ellipse">
            <a:avLst/>
          </a:prstGeom>
          <a:solidFill>
            <a:srgbClr val="1C7293"/>
          </a:solidFill>
          <a:ln/>
        </p:spPr>
      </p:sp>
      <p:pic>
        <p:nvPicPr>
          <p:cNvPr id="29" name="Image 5" descr="/home/claude/mrag/assets/icons/check.png">    </p:cNvPr>
          <p:cNvPicPr>
            <a:picLocks noChangeAspect="1"/>
          </p:cNvPicPr>
          <p:nvPr/>
        </p:nvPicPr>
        <p:blipFill>
          <a:blip r:embed="rId6"/>
          <a:stretch>
            <a:fillRect/>
          </a:stretch>
        </p:blipFill>
        <p:spPr>
          <a:xfrm>
            <a:off x="10633740" y="3071652"/>
            <a:ext cx="257495" cy="257495"/>
          </a:xfrm>
          <a:prstGeom prst="rect">
            <a:avLst/>
          </a:prstGeom>
        </p:spPr>
      </p:pic>
      <p:sp>
        <p:nvSpPr>
          <p:cNvPr id="30" name="Text 22"/>
          <p:cNvSpPr/>
          <p:nvPr/>
        </p:nvSpPr>
        <p:spPr>
          <a:xfrm>
            <a:off x="9857232"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Answer</a:t>
            </a:r>
            <a:endParaRPr lang="en-US" sz="1250" dirty="0"/>
          </a:p>
        </p:txBody>
      </p:sp>
      <p:sp>
        <p:nvSpPr>
          <p:cNvPr id="31" name="Shape 23"/>
          <p:cNvSpPr/>
          <p:nvPr/>
        </p:nvSpPr>
        <p:spPr>
          <a:xfrm>
            <a:off x="2651760" y="4434840"/>
            <a:ext cx="6858000" cy="960120"/>
          </a:xfrm>
          <a:prstGeom prst="roundRect">
            <a:avLst>
              <a:gd name="adj" fmla="val 7619"/>
            </a:avLst>
          </a:prstGeom>
          <a:solidFill>
            <a:srgbClr val="EAF5EE"/>
          </a:solidFill>
          <a:ln w="12700">
            <a:solidFill>
              <a:srgbClr val="2E8B57"/>
            </a:solidFill>
            <a:prstDash val="solid"/>
          </a:ln>
        </p:spPr>
      </p:sp>
      <p:sp>
        <p:nvSpPr>
          <p:cNvPr id="32" name="Text 24"/>
          <p:cNvSpPr/>
          <p:nvPr/>
        </p:nvSpPr>
        <p:spPr>
          <a:xfrm>
            <a:off x="2926080" y="4434840"/>
            <a:ext cx="6309360" cy="960120"/>
          </a:xfrm>
          <a:prstGeom prst="rect">
            <a:avLst/>
          </a:prstGeom>
          <a:noFill/>
          <a:ln/>
        </p:spPr>
        <p:txBody>
          <a:bodyPr wrap="square" rtlCol="0" anchor="ctr"/>
          <a:lstStyle/>
          <a:p>
            <a:pPr indent="0" marL="0">
              <a:buNone/>
            </a:pPr>
            <a:r>
              <a:rPr lang="en-US" sz="1500" b="1" dirty="0">
                <a:solidFill>
                  <a:srgbClr val="1E5631"/>
                </a:solidFill>
                <a:latin typeface="Calibri" pitchFamily="34" charset="0"/>
                <a:ea typeface="Calibri" pitchFamily="34" charset="-122"/>
                <a:cs typeface="Calibri" pitchFamily="34" charset="-120"/>
              </a:rPr>
              <a:t>Answer: North America generated $498M in revenue in 2024.</a:t>
            </a:r>
            <a:endParaRPr lang="en-US" sz="1500" dirty="0"/>
          </a:p>
        </p:txBody>
      </p:sp>
      <p:sp>
        <p:nvSpPr>
          <p:cNvPr id="33" name="Text 25"/>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34" name="Text 26"/>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16 / 22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6 — LIVE DEMO</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 Multimodal Question</a:t>
            </a:r>
            <a:endParaRPr lang="en-US" sz="3200" dirty="0"/>
          </a:p>
        </p:txBody>
      </p:sp>
      <p:sp>
        <p:nvSpPr>
          <p:cNvPr id="4" name="Shape 2"/>
          <p:cNvSpPr/>
          <p:nvPr/>
        </p:nvSpPr>
        <p:spPr>
          <a:xfrm>
            <a:off x="548640" y="1600200"/>
            <a:ext cx="10881360" cy="868680"/>
          </a:xfrm>
          <a:prstGeom prst="roundRect">
            <a:avLst>
              <a:gd name="adj" fmla="val 9474"/>
            </a:avLst>
          </a:prstGeom>
          <a:solidFill>
            <a:srgbClr val="FF6B35"/>
          </a:solidFill>
          <a:ln/>
        </p:spPr>
      </p:sp>
      <p:pic>
        <p:nvPicPr>
          <p:cNvPr id="5" name="Image 0" descr="/home/claude/mrag/assets/icons/question.png">    </p:cNvPr>
          <p:cNvPicPr>
            <a:picLocks noChangeAspect="1"/>
          </p:cNvPicPr>
          <p:nvPr/>
        </p:nvPicPr>
        <p:blipFill>
          <a:blip r:embed="rId1"/>
          <a:stretch>
            <a:fillRect/>
          </a:stretch>
        </p:blipFill>
        <p:spPr>
          <a:xfrm>
            <a:off x="822960" y="1810512"/>
            <a:ext cx="457200" cy="457200"/>
          </a:xfrm>
          <a:prstGeom prst="rect">
            <a:avLst/>
          </a:prstGeom>
        </p:spPr>
      </p:pic>
      <p:sp>
        <p:nvSpPr>
          <p:cNvPr id="6" name="Text 3"/>
          <p:cNvSpPr/>
          <p:nvPr/>
        </p:nvSpPr>
        <p:spPr>
          <a:xfrm>
            <a:off x="1463040" y="1600200"/>
            <a:ext cx="9692640" cy="868680"/>
          </a:xfrm>
          <a:prstGeom prst="rect">
            <a:avLst/>
          </a:prstGeom>
          <a:noFill/>
          <a:ln/>
        </p:spPr>
        <p:txBody>
          <a:bodyPr wrap="square" rtlCol="0" anchor="ctr"/>
          <a:lstStyle/>
          <a:p>
            <a:pPr indent="0" marL="0">
              <a:buNone/>
            </a:pPr>
            <a:r>
              <a:rPr lang="en-US" sz="2200" b="1" i="1" dirty="0">
                <a:solidFill>
                  <a:srgbClr val="FFFFFF"/>
                </a:solidFill>
                <a:latin typeface="Cambria" pitchFamily="34" charset="0"/>
                <a:ea typeface="Cambria" pitchFamily="34" charset="-122"/>
                <a:cs typeface="Cambria" pitchFamily="34" charset="-120"/>
              </a:rPr>
              <a:t>"What does the chart on page 5 indicate?"</a:t>
            </a:r>
            <a:endParaRPr lang="en-US" sz="2200" dirty="0"/>
          </a:p>
        </p:txBody>
      </p:sp>
      <p:sp>
        <p:nvSpPr>
          <p:cNvPr id="7" name="Shape 4"/>
          <p:cNvSpPr/>
          <p:nvPr/>
        </p:nvSpPr>
        <p:spPr>
          <a:xfrm>
            <a:off x="457200"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8" name="Shape 5"/>
          <p:cNvSpPr/>
          <p:nvPr/>
        </p:nvSpPr>
        <p:spPr>
          <a:xfrm>
            <a:off x="1197864" y="2999232"/>
            <a:ext cx="402336" cy="402336"/>
          </a:xfrm>
          <a:prstGeom prst="ellipse">
            <a:avLst/>
          </a:prstGeom>
          <a:solidFill>
            <a:srgbClr val="1E2761"/>
          </a:solidFill>
          <a:ln/>
        </p:spPr>
      </p:sp>
      <p:pic>
        <p:nvPicPr>
          <p:cNvPr id="9" name="Image 1" descr="/home/claude/mrag/assets/icons/question.png">    </p:cNvPr>
          <p:cNvPicPr>
            <a:picLocks noChangeAspect="1"/>
          </p:cNvPicPr>
          <p:nvPr/>
        </p:nvPicPr>
        <p:blipFill>
          <a:blip r:embed="rId2"/>
          <a:stretch>
            <a:fillRect/>
          </a:stretch>
        </p:blipFill>
        <p:spPr>
          <a:xfrm>
            <a:off x="1270284" y="3071652"/>
            <a:ext cx="257495" cy="257495"/>
          </a:xfrm>
          <a:prstGeom prst="rect">
            <a:avLst/>
          </a:prstGeom>
        </p:spPr>
      </p:pic>
      <p:sp>
        <p:nvSpPr>
          <p:cNvPr id="10" name="Text 6"/>
          <p:cNvSpPr/>
          <p:nvPr/>
        </p:nvSpPr>
        <p:spPr>
          <a:xfrm>
            <a:off x="493776"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Question</a:t>
            </a:r>
            <a:endParaRPr lang="en-US" sz="1250" dirty="0"/>
          </a:p>
        </p:txBody>
      </p:sp>
      <p:sp>
        <p:nvSpPr>
          <p:cNvPr id="11" name="Shape 7"/>
          <p:cNvSpPr/>
          <p:nvPr/>
        </p:nvSpPr>
        <p:spPr>
          <a:xfrm>
            <a:off x="2377440" y="3378708"/>
            <a:ext cx="384048" cy="146304"/>
          </a:xfrm>
          <a:prstGeom prst="rightArrow">
            <a:avLst/>
          </a:prstGeom>
          <a:solidFill>
            <a:srgbClr val="AAB4CE"/>
          </a:solidFill>
          <a:ln/>
        </p:spPr>
      </p:sp>
      <p:sp>
        <p:nvSpPr>
          <p:cNvPr id="12" name="Shape 8"/>
          <p:cNvSpPr/>
          <p:nvPr/>
        </p:nvSpPr>
        <p:spPr>
          <a:xfrm>
            <a:off x="2798064"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3" name="Shape 9"/>
          <p:cNvSpPr/>
          <p:nvPr/>
        </p:nvSpPr>
        <p:spPr>
          <a:xfrm>
            <a:off x="3538728" y="2999232"/>
            <a:ext cx="402336" cy="402336"/>
          </a:xfrm>
          <a:prstGeom prst="ellipse">
            <a:avLst/>
          </a:prstGeom>
          <a:solidFill>
            <a:srgbClr val="1E2761"/>
          </a:solidFill>
          <a:ln/>
        </p:spPr>
      </p:sp>
      <p:pic>
        <p:nvPicPr>
          <p:cNvPr id="14" name="Image 2" descr="/home/claude/mrag/assets/icons/search.png">    </p:cNvPr>
          <p:cNvPicPr>
            <a:picLocks noChangeAspect="1"/>
          </p:cNvPicPr>
          <p:nvPr/>
        </p:nvPicPr>
        <p:blipFill>
          <a:blip r:embed="rId3"/>
          <a:stretch>
            <a:fillRect/>
          </a:stretch>
        </p:blipFill>
        <p:spPr>
          <a:xfrm>
            <a:off x="3611148" y="3071652"/>
            <a:ext cx="257495" cy="257495"/>
          </a:xfrm>
          <a:prstGeom prst="rect">
            <a:avLst/>
          </a:prstGeom>
        </p:spPr>
      </p:pic>
      <p:sp>
        <p:nvSpPr>
          <p:cNvPr id="15" name="Text 10"/>
          <p:cNvSpPr/>
          <p:nvPr/>
        </p:nvSpPr>
        <p:spPr>
          <a:xfrm>
            <a:off x="2834640"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Retriever</a:t>
            </a:r>
            <a:endParaRPr lang="en-US" sz="1250" dirty="0"/>
          </a:p>
        </p:txBody>
      </p:sp>
      <p:sp>
        <p:nvSpPr>
          <p:cNvPr id="16" name="Shape 11"/>
          <p:cNvSpPr/>
          <p:nvPr/>
        </p:nvSpPr>
        <p:spPr>
          <a:xfrm>
            <a:off x="4718304" y="3378708"/>
            <a:ext cx="384048" cy="146304"/>
          </a:xfrm>
          <a:prstGeom prst="rightArrow">
            <a:avLst/>
          </a:prstGeom>
          <a:solidFill>
            <a:srgbClr val="AAB4CE"/>
          </a:solidFill>
          <a:ln/>
        </p:spPr>
      </p:sp>
      <p:sp>
        <p:nvSpPr>
          <p:cNvPr id="17" name="Shape 12"/>
          <p:cNvSpPr/>
          <p:nvPr/>
        </p:nvSpPr>
        <p:spPr>
          <a:xfrm>
            <a:off x="5138928"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8" name="Shape 13"/>
          <p:cNvSpPr/>
          <p:nvPr/>
        </p:nvSpPr>
        <p:spPr>
          <a:xfrm>
            <a:off x="5879592" y="2999232"/>
            <a:ext cx="402336" cy="402336"/>
          </a:xfrm>
          <a:prstGeom prst="ellipse">
            <a:avLst/>
          </a:prstGeom>
          <a:solidFill>
            <a:srgbClr val="1E2761"/>
          </a:solidFill>
          <a:ln/>
        </p:spPr>
      </p:sp>
      <p:pic>
        <p:nvPicPr>
          <p:cNvPr id="19" name="Image 3" descr="/home/claude/mrag/assets/icons/image.png">    </p:cNvPr>
          <p:cNvPicPr>
            <a:picLocks noChangeAspect="1"/>
          </p:cNvPicPr>
          <p:nvPr/>
        </p:nvPicPr>
        <p:blipFill>
          <a:blip r:embed="rId4"/>
          <a:stretch>
            <a:fillRect/>
          </a:stretch>
        </p:blipFill>
        <p:spPr>
          <a:xfrm>
            <a:off x="5952012" y="3071652"/>
            <a:ext cx="257495" cy="257495"/>
          </a:xfrm>
          <a:prstGeom prst="rect">
            <a:avLst/>
          </a:prstGeom>
        </p:spPr>
      </p:pic>
      <p:sp>
        <p:nvSpPr>
          <p:cNvPr id="20" name="Text 14"/>
          <p:cNvSpPr/>
          <p:nvPr/>
        </p:nvSpPr>
        <p:spPr>
          <a:xfrm>
            <a:off x="5175504"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Relevant Image</a:t>
            </a:r>
            <a:endParaRPr lang="en-US" sz="1250" dirty="0"/>
          </a:p>
        </p:txBody>
      </p:sp>
      <p:sp>
        <p:nvSpPr>
          <p:cNvPr id="21" name="Shape 15"/>
          <p:cNvSpPr/>
          <p:nvPr/>
        </p:nvSpPr>
        <p:spPr>
          <a:xfrm>
            <a:off x="7059168" y="3378708"/>
            <a:ext cx="384048" cy="146304"/>
          </a:xfrm>
          <a:prstGeom prst="rightArrow">
            <a:avLst/>
          </a:prstGeom>
          <a:solidFill>
            <a:srgbClr val="AAB4CE"/>
          </a:solidFill>
          <a:ln/>
        </p:spPr>
      </p:sp>
      <p:sp>
        <p:nvSpPr>
          <p:cNvPr id="22" name="Shape 16"/>
          <p:cNvSpPr/>
          <p:nvPr/>
        </p:nvSpPr>
        <p:spPr>
          <a:xfrm>
            <a:off x="7479792"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3" name="Shape 17"/>
          <p:cNvSpPr/>
          <p:nvPr/>
        </p:nvSpPr>
        <p:spPr>
          <a:xfrm>
            <a:off x="8220456" y="2999232"/>
            <a:ext cx="402336" cy="402336"/>
          </a:xfrm>
          <a:prstGeom prst="ellipse">
            <a:avLst/>
          </a:prstGeom>
          <a:solidFill>
            <a:srgbClr val="1E2761"/>
          </a:solidFill>
          <a:ln/>
        </p:spPr>
      </p:sp>
      <p:pic>
        <p:nvPicPr>
          <p:cNvPr id="24" name="Image 4" descr="/home/claude/mrag/assets/icons/eye.png">    </p:cNvPr>
          <p:cNvPicPr>
            <a:picLocks noChangeAspect="1"/>
          </p:cNvPicPr>
          <p:nvPr/>
        </p:nvPicPr>
        <p:blipFill>
          <a:blip r:embed="rId5"/>
          <a:stretch>
            <a:fillRect/>
          </a:stretch>
        </p:blipFill>
        <p:spPr>
          <a:xfrm>
            <a:off x="8292876" y="3071652"/>
            <a:ext cx="257495" cy="257495"/>
          </a:xfrm>
          <a:prstGeom prst="rect">
            <a:avLst/>
          </a:prstGeom>
        </p:spPr>
      </p:pic>
      <p:sp>
        <p:nvSpPr>
          <p:cNvPr id="25" name="Text 18"/>
          <p:cNvSpPr/>
          <p:nvPr/>
        </p:nvSpPr>
        <p:spPr>
          <a:xfrm>
            <a:off x="7516368"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Vision-Language Model</a:t>
            </a:r>
            <a:endParaRPr lang="en-US" sz="1250" dirty="0"/>
          </a:p>
        </p:txBody>
      </p:sp>
      <p:sp>
        <p:nvSpPr>
          <p:cNvPr id="26" name="Shape 19"/>
          <p:cNvSpPr/>
          <p:nvPr/>
        </p:nvSpPr>
        <p:spPr>
          <a:xfrm>
            <a:off x="9400032" y="3378708"/>
            <a:ext cx="384048" cy="146304"/>
          </a:xfrm>
          <a:prstGeom prst="rightArrow">
            <a:avLst/>
          </a:prstGeom>
          <a:solidFill>
            <a:srgbClr val="AAB4CE"/>
          </a:solidFill>
          <a:ln/>
        </p:spPr>
      </p:sp>
      <p:sp>
        <p:nvSpPr>
          <p:cNvPr id="27" name="Shape 20"/>
          <p:cNvSpPr/>
          <p:nvPr/>
        </p:nvSpPr>
        <p:spPr>
          <a:xfrm>
            <a:off x="9820656" y="2880360"/>
            <a:ext cx="1883664" cy="1143000"/>
          </a:xfrm>
          <a:prstGeom prst="roundRect">
            <a:avLst>
              <a:gd name="adj" fmla="val 8000"/>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8" name="Shape 21"/>
          <p:cNvSpPr/>
          <p:nvPr/>
        </p:nvSpPr>
        <p:spPr>
          <a:xfrm>
            <a:off x="10561320" y="2999232"/>
            <a:ext cx="402336" cy="402336"/>
          </a:xfrm>
          <a:prstGeom prst="ellipse">
            <a:avLst/>
          </a:prstGeom>
          <a:solidFill>
            <a:srgbClr val="1E2761"/>
          </a:solidFill>
          <a:ln/>
        </p:spPr>
      </p:sp>
      <p:pic>
        <p:nvPicPr>
          <p:cNvPr id="29" name="Image 5" descr="/home/claude/mrag/assets/icons/check.png">    </p:cNvPr>
          <p:cNvPicPr>
            <a:picLocks noChangeAspect="1"/>
          </p:cNvPicPr>
          <p:nvPr/>
        </p:nvPicPr>
        <p:blipFill>
          <a:blip r:embed="rId6"/>
          <a:stretch>
            <a:fillRect/>
          </a:stretch>
        </p:blipFill>
        <p:spPr>
          <a:xfrm>
            <a:off x="10633740" y="3071652"/>
            <a:ext cx="257495" cy="257495"/>
          </a:xfrm>
          <a:prstGeom prst="rect">
            <a:avLst/>
          </a:prstGeom>
        </p:spPr>
      </p:pic>
      <p:sp>
        <p:nvSpPr>
          <p:cNvPr id="30" name="Text 22"/>
          <p:cNvSpPr/>
          <p:nvPr/>
        </p:nvSpPr>
        <p:spPr>
          <a:xfrm>
            <a:off x="9857232" y="3474720"/>
            <a:ext cx="1810512" cy="530352"/>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Answer</a:t>
            </a:r>
            <a:endParaRPr lang="en-US" sz="1250" dirty="0"/>
          </a:p>
        </p:txBody>
      </p:sp>
      <p:sp>
        <p:nvSpPr>
          <p:cNvPr id="31" name="Shape 23"/>
          <p:cNvSpPr/>
          <p:nvPr/>
        </p:nvSpPr>
        <p:spPr>
          <a:xfrm>
            <a:off x="1920240" y="4434840"/>
            <a:ext cx="8321040" cy="960120"/>
          </a:xfrm>
          <a:prstGeom prst="roundRect">
            <a:avLst>
              <a:gd name="adj" fmla="val 7619"/>
            </a:avLst>
          </a:prstGeom>
          <a:solidFill>
            <a:srgbClr val="FFF1EA"/>
          </a:solidFill>
          <a:ln w="12700">
            <a:solidFill>
              <a:srgbClr val="FF6B35"/>
            </a:solidFill>
            <a:prstDash val="solid"/>
          </a:ln>
        </p:spPr>
      </p:sp>
      <p:sp>
        <p:nvSpPr>
          <p:cNvPr id="32" name="Text 24"/>
          <p:cNvSpPr/>
          <p:nvPr/>
        </p:nvSpPr>
        <p:spPr>
          <a:xfrm>
            <a:off x="2194560" y="4434840"/>
            <a:ext cx="7772400" cy="960120"/>
          </a:xfrm>
          <a:prstGeom prst="rect">
            <a:avLst/>
          </a:prstGeom>
          <a:noFill/>
          <a:ln/>
        </p:spPr>
        <p:txBody>
          <a:bodyPr wrap="square" rtlCol="0" anchor="ctr"/>
          <a:lstStyle/>
          <a:p>
            <a:pPr indent="0" marL="0">
              <a:buNone/>
            </a:pPr>
            <a:r>
              <a:rPr lang="en-US" sz="1500" b="1" dirty="0">
                <a:solidFill>
                  <a:srgbClr val="B4552B"/>
                </a:solidFill>
                <a:latin typeface="Calibri" pitchFamily="34" charset="0"/>
                <a:ea typeface="Calibri" pitchFamily="34" charset="-122"/>
                <a:cs typeface="Calibri" pitchFamily="34" charset="-120"/>
              </a:rPr>
              <a:t>Answer: Revenue grew every quarter, accelerating sharply from Q1 to Q4 2024.</a:t>
            </a:r>
            <a:endParaRPr lang="en-US" sz="1500" dirty="0"/>
          </a:p>
        </p:txBody>
      </p:sp>
      <p:sp>
        <p:nvSpPr>
          <p:cNvPr id="33" name="Text 25"/>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34" name="Text 26"/>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17 / 22</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6 — LIVE DEMO</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Two Kinds of Questions, Side by Side</a:t>
            </a:r>
            <a:endParaRPr lang="en-US" sz="3200" dirty="0"/>
          </a:p>
        </p:txBody>
      </p:sp>
      <p:sp>
        <p:nvSpPr>
          <p:cNvPr id="4" name="Shape 2"/>
          <p:cNvSpPr/>
          <p:nvPr/>
        </p:nvSpPr>
        <p:spPr>
          <a:xfrm>
            <a:off x="548640" y="1691640"/>
            <a:ext cx="5349240" cy="4297680"/>
          </a:xfrm>
          <a:prstGeom prst="roundRect">
            <a:avLst>
              <a:gd name="adj" fmla="val 1702"/>
            </a:avLst>
          </a:prstGeom>
          <a:solidFill>
            <a:srgbClr val="FFFFFF"/>
          </a:solidFill>
          <a:ln w="25400">
            <a:solidFill>
              <a:srgbClr val="2E8B57"/>
            </a:solidFill>
            <a:prstDash val="solid"/>
          </a:ln>
        </p:spPr>
      </p:sp>
      <p:sp>
        <p:nvSpPr>
          <p:cNvPr id="5" name="Text 3"/>
          <p:cNvSpPr/>
          <p:nvPr/>
        </p:nvSpPr>
        <p:spPr>
          <a:xfrm>
            <a:off x="822960" y="1874520"/>
            <a:ext cx="4754880" cy="320040"/>
          </a:xfrm>
          <a:prstGeom prst="rect">
            <a:avLst/>
          </a:prstGeom>
          <a:noFill/>
          <a:ln/>
        </p:spPr>
        <p:txBody>
          <a:bodyPr wrap="square" rtlCol="0" anchor="ctr"/>
          <a:lstStyle/>
          <a:p>
            <a:pPr indent="0" marL="0">
              <a:buNone/>
            </a:pPr>
            <a:r>
              <a:rPr lang="en-US" sz="1300" b="1" spc="120" kern="0" dirty="0">
                <a:solidFill>
                  <a:srgbClr val="2E8B57"/>
                </a:solidFill>
                <a:latin typeface="Calibri" pitchFamily="34" charset="0"/>
                <a:ea typeface="Calibri" pitchFamily="34" charset="-122"/>
                <a:cs typeface="Calibri" pitchFamily="34" charset="-120"/>
              </a:rPr>
              <a:t>ANSWERED USING TEXT</a:t>
            </a:r>
            <a:endParaRPr lang="en-US" sz="1300" dirty="0"/>
          </a:p>
        </p:txBody>
      </p:sp>
      <p:sp>
        <p:nvSpPr>
          <p:cNvPr id="6" name="Shape 4"/>
          <p:cNvSpPr/>
          <p:nvPr/>
        </p:nvSpPr>
        <p:spPr>
          <a:xfrm>
            <a:off x="822960" y="2286000"/>
            <a:ext cx="548640" cy="548640"/>
          </a:xfrm>
          <a:prstGeom prst="ellipse">
            <a:avLst/>
          </a:prstGeom>
          <a:solidFill>
            <a:srgbClr val="2E8B57"/>
          </a:solidFill>
          <a:ln/>
        </p:spPr>
      </p:sp>
      <p:pic>
        <p:nvPicPr>
          <p:cNvPr id="7" name="Image 0" descr="/home/claude/mrag/assets/icons/file_text.png">    </p:cNvPr>
          <p:cNvPicPr>
            <a:picLocks noChangeAspect="1"/>
          </p:cNvPicPr>
          <p:nvPr/>
        </p:nvPicPr>
        <p:blipFill>
          <a:blip r:embed="rId1"/>
          <a:stretch>
            <a:fillRect/>
          </a:stretch>
        </p:blipFill>
        <p:spPr>
          <a:xfrm>
            <a:off x="969264" y="2432304"/>
            <a:ext cx="256032" cy="256032"/>
          </a:xfrm>
          <a:prstGeom prst="rect">
            <a:avLst/>
          </a:prstGeom>
        </p:spPr>
      </p:pic>
      <p:sp>
        <p:nvSpPr>
          <p:cNvPr id="8" name="Text 5"/>
          <p:cNvSpPr/>
          <p:nvPr/>
        </p:nvSpPr>
        <p:spPr>
          <a:xfrm>
            <a:off x="1554480" y="2286000"/>
            <a:ext cx="4114800" cy="548640"/>
          </a:xfrm>
          <a:prstGeom prst="rect">
            <a:avLst/>
          </a:prstGeom>
          <a:noFill/>
          <a:ln/>
        </p:spPr>
        <p:txBody>
          <a:bodyPr wrap="square" rtlCol="0" anchor="ctr"/>
          <a:lstStyle/>
          <a:p>
            <a:pPr indent="0" marL="0">
              <a:buNone/>
            </a:pPr>
            <a:r>
              <a:rPr lang="en-US" sz="1400" b="1" i="1" dirty="0">
                <a:solidFill>
                  <a:srgbClr val="222A42"/>
                </a:solidFill>
                <a:latin typeface="Calibri" pitchFamily="34" charset="0"/>
                <a:ea typeface="Calibri" pitchFamily="34" charset="-122"/>
                <a:cs typeface="Calibri" pitchFamily="34" charset="-120"/>
              </a:rPr>
              <a:t>"What was the revenue in 2024?"</a:t>
            </a:r>
            <a:endParaRPr lang="en-US" sz="1400" dirty="0"/>
          </a:p>
        </p:txBody>
      </p:sp>
      <p:sp>
        <p:nvSpPr>
          <p:cNvPr id="9" name="Text 6"/>
          <p:cNvSpPr/>
          <p:nvPr/>
        </p:nvSpPr>
        <p:spPr>
          <a:xfrm>
            <a:off x="822960" y="3108960"/>
            <a:ext cx="4754880" cy="2651760"/>
          </a:xfrm>
          <a:prstGeom prst="rect">
            <a:avLst/>
          </a:prstGeom>
          <a:noFill/>
          <a:ln/>
        </p:spPr>
        <p:txBody>
          <a:bodyPr wrap="square" rtlCol="0" anchor="t"/>
          <a:lstStyle/>
          <a:p>
            <a:pPr indent="0" marL="0">
              <a:lnSpc>
                <a:spcPct val="130000"/>
              </a:lnSpc>
              <a:buNone/>
            </a:pPr>
            <a:r>
              <a:rPr lang="en-US" sz="1450" b="1" dirty="0">
                <a:solidFill>
                  <a:srgbClr val="222A42"/>
                </a:solidFill>
                <a:latin typeface="Calibri" pitchFamily="34" charset="0"/>
                <a:ea typeface="Calibri" pitchFamily="34" charset="-122"/>
                <a:cs typeface="Calibri" pitchFamily="34" charset="-120"/>
              </a:rPr>
              <a:t>• Needs: </a:t>
            </a:r>
            <a:endParaRPr lang="en-US" sz="1450" dirty="0"/>
          </a:p>
          <a:p>
            <a:pPr indent="0" marL="0">
              <a:lnSpc>
                <a:spcPct val="130000"/>
              </a:lnSpc>
              <a:buNone/>
            </a:pPr>
            <a:r>
              <a:rPr lang="en-US" sz="1450" dirty="0">
                <a:solidFill>
                  <a:srgbClr val="6B7280"/>
                </a:solidFill>
                <a:latin typeface="Calibri" pitchFamily="34" charset="0"/>
                <a:ea typeface="Calibri" pitchFamily="34" charset="-122"/>
                <a:cs typeface="Calibri" pitchFamily="34" charset="-120"/>
              </a:rPr>
              <a:t>text / table extraction only
</a:t>
            </a:r>
            <a:endParaRPr lang="en-US" sz="1450" dirty="0"/>
          </a:p>
          <a:p>
            <a:pPr indent="0" marL="0">
              <a:lnSpc>
                <a:spcPct val="130000"/>
              </a:lnSpc>
              <a:buNone/>
            </a:pPr>
            <a:r>
              <a:rPr lang="en-US" sz="1450" b="1" dirty="0">
                <a:solidFill>
                  <a:srgbClr val="222A42"/>
                </a:solidFill>
                <a:latin typeface="Calibri" pitchFamily="34" charset="0"/>
                <a:ea typeface="Calibri" pitchFamily="34" charset="-122"/>
                <a:cs typeface="Calibri" pitchFamily="34" charset="-120"/>
              </a:rPr>
              <a:t>• Model: </a:t>
            </a:r>
            <a:endParaRPr lang="en-US" sz="1450" dirty="0"/>
          </a:p>
          <a:p>
            <a:pPr indent="0" marL="0">
              <a:lnSpc>
                <a:spcPct val="130000"/>
              </a:lnSpc>
              <a:buNone/>
            </a:pPr>
            <a:r>
              <a:rPr lang="en-US" sz="1450" dirty="0">
                <a:solidFill>
                  <a:srgbClr val="6B7280"/>
                </a:solidFill>
                <a:latin typeface="Calibri" pitchFamily="34" charset="0"/>
                <a:ea typeface="Calibri" pitchFamily="34" charset="-122"/>
                <a:cs typeface="Calibri" pitchFamily="34" charset="-120"/>
              </a:rPr>
              <a:t>standard LLM
</a:t>
            </a:r>
            <a:endParaRPr lang="en-US" sz="1450" dirty="0"/>
          </a:p>
          <a:p>
            <a:pPr indent="0" marL="0">
              <a:lnSpc>
                <a:spcPct val="130000"/>
              </a:lnSpc>
              <a:buNone/>
            </a:pPr>
            <a:r>
              <a:rPr lang="en-US" sz="1450" b="1" dirty="0">
                <a:solidFill>
                  <a:srgbClr val="222A42"/>
                </a:solidFill>
                <a:latin typeface="Calibri" pitchFamily="34" charset="0"/>
                <a:ea typeface="Calibri" pitchFamily="34" charset="-122"/>
                <a:cs typeface="Calibri" pitchFamily="34" charset="-120"/>
              </a:rPr>
              <a:t>• Retrieval target: </a:t>
            </a:r>
            <a:endParaRPr lang="en-US" sz="1450" dirty="0"/>
          </a:p>
          <a:p>
            <a:pPr indent="0" marL="0">
              <a:lnSpc>
                <a:spcPct val="130000"/>
              </a:lnSpc>
              <a:buNone/>
            </a:pPr>
            <a:r>
              <a:rPr lang="en-US" sz="1450" dirty="0">
                <a:solidFill>
                  <a:srgbClr val="6B7280"/>
                </a:solidFill>
                <a:latin typeface="Calibri" pitchFamily="34" charset="0"/>
                <a:ea typeface="Calibri" pitchFamily="34" charset="-122"/>
                <a:cs typeface="Calibri" pitchFamily="34" charset="-120"/>
              </a:rPr>
              <a:t>a text/table chunk</a:t>
            </a:r>
            <a:endParaRPr lang="en-US" sz="1450" dirty="0"/>
          </a:p>
        </p:txBody>
      </p:sp>
      <p:sp>
        <p:nvSpPr>
          <p:cNvPr id="10" name="Shape 7"/>
          <p:cNvSpPr/>
          <p:nvPr/>
        </p:nvSpPr>
        <p:spPr>
          <a:xfrm>
            <a:off x="6263640" y="1691640"/>
            <a:ext cx="5394960" cy="4297680"/>
          </a:xfrm>
          <a:prstGeom prst="roundRect">
            <a:avLst>
              <a:gd name="adj" fmla="val 1702"/>
            </a:avLst>
          </a:prstGeom>
          <a:solidFill>
            <a:srgbClr val="1E2761"/>
          </a:solidFill>
          <a:ln/>
        </p:spPr>
      </p:sp>
      <p:sp>
        <p:nvSpPr>
          <p:cNvPr id="11" name="Text 8"/>
          <p:cNvSpPr/>
          <p:nvPr/>
        </p:nvSpPr>
        <p:spPr>
          <a:xfrm>
            <a:off x="6537960" y="1874520"/>
            <a:ext cx="4846320" cy="320040"/>
          </a:xfrm>
          <a:prstGeom prst="rect">
            <a:avLst/>
          </a:prstGeom>
          <a:noFill/>
          <a:ln/>
        </p:spPr>
        <p:txBody>
          <a:bodyPr wrap="square" rtlCol="0" anchor="ctr"/>
          <a:lstStyle/>
          <a:p>
            <a:pPr indent="0" marL="0">
              <a:buNone/>
            </a:pPr>
            <a:r>
              <a:rPr lang="en-US" sz="1300" b="1" spc="120" kern="0" dirty="0">
                <a:solidFill>
                  <a:srgbClr val="FF6B35"/>
                </a:solidFill>
                <a:latin typeface="Calibri" pitchFamily="34" charset="0"/>
                <a:ea typeface="Calibri" pitchFamily="34" charset="-122"/>
                <a:cs typeface="Calibri" pitchFamily="34" charset="-120"/>
              </a:rPr>
              <a:t>NEEDS IMAGE / TABLE UNDERSTANDING</a:t>
            </a:r>
            <a:endParaRPr lang="en-US" sz="1300" dirty="0"/>
          </a:p>
        </p:txBody>
      </p:sp>
      <p:sp>
        <p:nvSpPr>
          <p:cNvPr id="12" name="Shape 9"/>
          <p:cNvSpPr/>
          <p:nvPr/>
        </p:nvSpPr>
        <p:spPr>
          <a:xfrm>
            <a:off x="6537960" y="2286000"/>
            <a:ext cx="548640" cy="548640"/>
          </a:xfrm>
          <a:prstGeom prst="ellipse">
            <a:avLst/>
          </a:prstGeom>
          <a:solidFill>
            <a:srgbClr val="FF6B35"/>
          </a:solidFill>
          <a:ln/>
        </p:spPr>
      </p:sp>
      <p:pic>
        <p:nvPicPr>
          <p:cNvPr id="13" name="Image 1" descr="/home/claude/mrag/assets/icons/eye.png">    </p:cNvPr>
          <p:cNvPicPr>
            <a:picLocks noChangeAspect="1"/>
          </p:cNvPicPr>
          <p:nvPr/>
        </p:nvPicPr>
        <p:blipFill>
          <a:blip r:embed="rId2"/>
          <a:stretch>
            <a:fillRect/>
          </a:stretch>
        </p:blipFill>
        <p:spPr>
          <a:xfrm>
            <a:off x="6684264" y="2432304"/>
            <a:ext cx="256032" cy="256032"/>
          </a:xfrm>
          <a:prstGeom prst="rect">
            <a:avLst/>
          </a:prstGeom>
        </p:spPr>
      </p:pic>
      <p:sp>
        <p:nvSpPr>
          <p:cNvPr id="14" name="Text 10"/>
          <p:cNvSpPr/>
          <p:nvPr/>
        </p:nvSpPr>
        <p:spPr>
          <a:xfrm>
            <a:off x="7269480" y="2286000"/>
            <a:ext cx="4206240" cy="548640"/>
          </a:xfrm>
          <a:prstGeom prst="rect">
            <a:avLst/>
          </a:prstGeom>
          <a:noFill/>
          <a:ln/>
        </p:spPr>
        <p:txBody>
          <a:bodyPr wrap="square" rtlCol="0" anchor="ctr"/>
          <a:lstStyle/>
          <a:p>
            <a:pPr indent="0" marL="0">
              <a:buNone/>
            </a:pPr>
            <a:r>
              <a:rPr lang="en-US" sz="1400" b="1" i="1" dirty="0">
                <a:solidFill>
                  <a:srgbClr val="FFFFFF"/>
                </a:solidFill>
                <a:latin typeface="Calibri" pitchFamily="34" charset="0"/>
                <a:ea typeface="Calibri" pitchFamily="34" charset="-122"/>
                <a:cs typeface="Calibri" pitchFamily="34" charset="-120"/>
              </a:rPr>
              <a:t>"What does the chart on page 5 indicate?"</a:t>
            </a:r>
            <a:endParaRPr lang="en-US" sz="1400" dirty="0"/>
          </a:p>
        </p:txBody>
      </p:sp>
      <p:sp>
        <p:nvSpPr>
          <p:cNvPr id="15" name="Text 11"/>
          <p:cNvSpPr/>
          <p:nvPr/>
        </p:nvSpPr>
        <p:spPr>
          <a:xfrm>
            <a:off x="6537960" y="3108960"/>
            <a:ext cx="4846320" cy="2651760"/>
          </a:xfrm>
          <a:prstGeom prst="rect">
            <a:avLst/>
          </a:prstGeom>
          <a:noFill/>
          <a:ln/>
        </p:spPr>
        <p:txBody>
          <a:bodyPr wrap="square" rtlCol="0" anchor="t"/>
          <a:lstStyle/>
          <a:p>
            <a:pPr indent="0" marL="0">
              <a:lnSpc>
                <a:spcPct val="130000"/>
              </a:lnSpc>
              <a:buNone/>
            </a:pPr>
            <a:r>
              <a:rPr lang="en-US" sz="1450" b="1" dirty="0">
                <a:solidFill>
                  <a:srgbClr val="FFFFFF"/>
                </a:solidFill>
                <a:latin typeface="Calibri" pitchFamily="34" charset="0"/>
                <a:ea typeface="Calibri" pitchFamily="34" charset="-122"/>
                <a:cs typeface="Calibri" pitchFamily="34" charset="-120"/>
              </a:rPr>
              <a:t>• Needs: </a:t>
            </a:r>
            <a:endParaRPr lang="en-US" sz="1450" dirty="0"/>
          </a:p>
          <a:p>
            <a:pPr indent="0" marL="0">
              <a:lnSpc>
                <a:spcPct val="130000"/>
              </a:lnSpc>
              <a:buNone/>
            </a:pPr>
            <a:r>
              <a:rPr lang="en-US" sz="1450" dirty="0">
                <a:solidFill>
                  <a:srgbClr val="CADCFC"/>
                </a:solidFill>
                <a:latin typeface="Calibri" pitchFamily="34" charset="0"/>
                <a:ea typeface="Calibri" pitchFamily="34" charset="-122"/>
                <a:cs typeface="Calibri" pitchFamily="34" charset="-120"/>
              </a:rPr>
              <a:t>image/chart retrieval + visual reasoning
</a:t>
            </a:r>
            <a:endParaRPr lang="en-US" sz="1450" dirty="0"/>
          </a:p>
          <a:p>
            <a:pPr indent="0" marL="0">
              <a:lnSpc>
                <a:spcPct val="130000"/>
              </a:lnSpc>
              <a:buNone/>
            </a:pPr>
            <a:r>
              <a:rPr lang="en-US" sz="1450" b="1" dirty="0">
                <a:solidFill>
                  <a:srgbClr val="FFFFFF"/>
                </a:solidFill>
                <a:latin typeface="Calibri" pitchFamily="34" charset="0"/>
                <a:ea typeface="Calibri" pitchFamily="34" charset="-122"/>
                <a:cs typeface="Calibri" pitchFamily="34" charset="-120"/>
              </a:rPr>
              <a:t>• Model: </a:t>
            </a:r>
            <a:endParaRPr lang="en-US" sz="1450" dirty="0"/>
          </a:p>
          <a:p>
            <a:pPr indent="0" marL="0">
              <a:lnSpc>
                <a:spcPct val="130000"/>
              </a:lnSpc>
              <a:buNone/>
            </a:pPr>
            <a:r>
              <a:rPr lang="en-US" sz="1450" dirty="0">
                <a:solidFill>
                  <a:srgbClr val="CADCFC"/>
                </a:solidFill>
                <a:latin typeface="Calibri" pitchFamily="34" charset="0"/>
                <a:ea typeface="Calibri" pitchFamily="34" charset="-122"/>
                <a:cs typeface="Calibri" pitchFamily="34" charset="-120"/>
              </a:rPr>
              <a:t>vision-language model
</a:t>
            </a:r>
            <a:endParaRPr lang="en-US" sz="1450" dirty="0"/>
          </a:p>
          <a:p>
            <a:pPr indent="0" marL="0">
              <a:lnSpc>
                <a:spcPct val="130000"/>
              </a:lnSpc>
              <a:buNone/>
            </a:pPr>
            <a:r>
              <a:rPr lang="en-US" sz="1450" b="1" dirty="0">
                <a:solidFill>
                  <a:srgbClr val="FFFFFF"/>
                </a:solidFill>
                <a:latin typeface="Calibri" pitchFamily="34" charset="0"/>
                <a:ea typeface="Calibri" pitchFamily="34" charset="-122"/>
                <a:cs typeface="Calibri" pitchFamily="34" charset="-120"/>
              </a:rPr>
              <a:t>• Retrieval target: </a:t>
            </a:r>
            <a:endParaRPr lang="en-US" sz="1450" dirty="0"/>
          </a:p>
          <a:p>
            <a:pPr indent="0" marL="0">
              <a:lnSpc>
                <a:spcPct val="130000"/>
              </a:lnSpc>
              <a:buNone/>
            </a:pPr>
            <a:r>
              <a:rPr lang="en-US" sz="1450" dirty="0">
                <a:solidFill>
                  <a:srgbClr val="CADCFC"/>
                </a:solidFill>
                <a:latin typeface="Calibri" pitchFamily="34" charset="0"/>
                <a:ea typeface="Calibri" pitchFamily="34" charset="-122"/>
                <a:cs typeface="Calibri" pitchFamily="34" charset="-120"/>
              </a:rPr>
              <a:t>an image embedding</a:t>
            </a:r>
            <a:endParaRPr lang="en-US" sz="1450" dirty="0"/>
          </a:p>
        </p:txBody>
      </p:sp>
      <p:sp>
        <p:nvSpPr>
          <p:cNvPr id="16" name="Text 12"/>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17" name="Text 13"/>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18 / 22</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SECTION 7 — VIDEO RAG</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Multimodal RAG + Video</a:t>
            </a:r>
            <a:endParaRPr lang="en-US" sz="3200" dirty="0"/>
          </a:p>
        </p:txBody>
      </p:sp>
      <p:sp>
        <p:nvSpPr>
          <p:cNvPr id="4" name="Shape 2"/>
          <p:cNvSpPr/>
          <p:nvPr/>
        </p:nvSpPr>
        <p:spPr>
          <a:xfrm>
            <a:off x="457200" y="1828800"/>
            <a:ext cx="1584960" cy="1097280"/>
          </a:xfrm>
          <a:prstGeom prst="roundRect">
            <a:avLst>
              <a:gd name="adj" fmla="val 833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5" name="Shape 3"/>
          <p:cNvSpPr/>
          <p:nvPr/>
        </p:nvSpPr>
        <p:spPr>
          <a:xfrm>
            <a:off x="1048512" y="1947672"/>
            <a:ext cx="402336" cy="402336"/>
          </a:xfrm>
          <a:prstGeom prst="ellipse">
            <a:avLst/>
          </a:prstGeom>
          <a:solidFill>
            <a:srgbClr val="1C7293"/>
          </a:solidFill>
          <a:ln/>
        </p:spPr>
      </p:sp>
      <p:pic>
        <p:nvPicPr>
          <p:cNvPr id="6" name="Image 0" descr="/home/claude/mrag/assets/icons/video.png">    </p:cNvPr>
          <p:cNvPicPr>
            <a:picLocks noChangeAspect="1"/>
          </p:cNvPicPr>
          <p:nvPr/>
        </p:nvPicPr>
        <p:blipFill>
          <a:blip r:embed="rId1"/>
          <a:stretch>
            <a:fillRect/>
          </a:stretch>
        </p:blipFill>
        <p:spPr>
          <a:xfrm>
            <a:off x="1120932" y="2020092"/>
            <a:ext cx="257495" cy="257495"/>
          </a:xfrm>
          <a:prstGeom prst="rect">
            <a:avLst/>
          </a:prstGeom>
        </p:spPr>
      </p:pic>
      <p:sp>
        <p:nvSpPr>
          <p:cNvPr id="7" name="Text 4"/>
          <p:cNvSpPr/>
          <p:nvPr/>
        </p:nvSpPr>
        <p:spPr>
          <a:xfrm>
            <a:off x="493776" y="2423160"/>
            <a:ext cx="1511808" cy="484632"/>
          </a:xfrm>
          <a:prstGeom prst="rect">
            <a:avLst/>
          </a:prstGeom>
          <a:noFill/>
          <a:ln/>
        </p:spPr>
        <p:txBody>
          <a:bodyPr wrap="square" rtlCol="0" anchor="t"/>
          <a:lstStyle/>
          <a:p>
            <a:pPr algn="ctr" indent="0" marL="0">
              <a:buNone/>
            </a:pPr>
            <a:r>
              <a:rPr lang="en-US" sz="1150" b="1" dirty="0">
                <a:solidFill>
                  <a:srgbClr val="222A42"/>
                </a:solidFill>
                <a:latin typeface="Calibri" pitchFamily="34" charset="0"/>
                <a:ea typeface="Calibri" pitchFamily="34" charset="-122"/>
                <a:cs typeface="Calibri" pitchFamily="34" charset="-120"/>
              </a:rPr>
              <a:t>Video</a:t>
            </a:r>
            <a:endParaRPr lang="en-US" sz="1150" dirty="0"/>
          </a:p>
        </p:txBody>
      </p:sp>
      <p:sp>
        <p:nvSpPr>
          <p:cNvPr id="8" name="Shape 5"/>
          <p:cNvSpPr/>
          <p:nvPr/>
        </p:nvSpPr>
        <p:spPr>
          <a:xfrm>
            <a:off x="2069958" y="2304288"/>
            <a:ext cx="291876" cy="146304"/>
          </a:xfrm>
          <a:prstGeom prst="rightArrow">
            <a:avLst/>
          </a:prstGeom>
          <a:solidFill>
            <a:srgbClr val="AAB4CE"/>
          </a:solidFill>
          <a:ln/>
        </p:spPr>
      </p:sp>
      <p:sp>
        <p:nvSpPr>
          <p:cNvPr id="9" name="Shape 6"/>
          <p:cNvSpPr/>
          <p:nvPr/>
        </p:nvSpPr>
        <p:spPr>
          <a:xfrm>
            <a:off x="2389632" y="1828800"/>
            <a:ext cx="1584960" cy="1097280"/>
          </a:xfrm>
          <a:prstGeom prst="roundRect">
            <a:avLst>
              <a:gd name="adj" fmla="val 833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0" name="Shape 7"/>
          <p:cNvSpPr/>
          <p:nvPr/>
        </p:nvSpPr>
        <p:spPr>
          <a:xfrm>
            <a:off x="2980944" y="1947672"/>
            <a:ext cx="402336" cy="402336"/>
          </a:xfrm>
          <a:prstGeom prst="ellipse">
            <a:avLst/>
          </a:prstGeom>
          <a:solidFill>
            <a:srgbClr val="1C7293"/>
          </a:solidFill>
          <a:ln/>
        </p:spPr>
      </p:sp>
      <p:pic>
        <p:nvPicPr>
          <p:cNvPr id="11" name="Image 1" descr="/home/claude/mrag/assets/icons/film.png">    </p:cNvPr>
          <p:cNvPicPr>
            <a:picLocks noChangeAspect="1"/>
          </p:cNvPicPr>
          <p:nvPr/>
        </p:nvPicPr>
        <p:blipFill>
          <a:blip r:embed="rId2"/>
          <a:stretch>
            <a:fillRect/>
          </a:stretch>
        </p:blipFill>
        <p:spPr>
          <a:xfrm>
            <a:off x="3053364" y="2020092"/>
            <a:ext cx="257495" cy="257495"/>
          </a:xfrm>
          <a:prstGeom prst="rect">
            <a:avLst/>
          </a:prstGeom>
        </p:spPr>
      </p:pic>
      <p:sp>
        <p:nvSpPr>
          <p:cNvPr id="12" name="Text 8"/>
          <p:cNvSpPr/>
          <p:nvPr/>
        </p:nvSpPr>
        <p:spPr>
          <a:xfrm>
            <a:off x="2426208" y="2423160"/>
            <a:ext cx="1511808" cy="484632"/>
          </a:xfrm>
          <a:prstGeom prst="rect">
            <a:avLst/>
          </a:prstGeom>
          <a:noFill/>
          <a:ln/>
        </p:spPr>
        <p:txBody>
          <a:bodyPr wrap="square" rtlCol="0" anchor="t"/>
          <a:lstStyle/>
          <a:p>
            <a:pPr algn="ctr" indent="0" marL="0">
              <a:buNone/>
            </a:pPr>
            <a:r>
              <a:rPr lang="en-US" sz="1150" b="1" dirty="0">
                <a:solidFill>
                  <a:srgbClr val="222A42"/>
                </a:solidFill>
                <a:latin typeface="Calibri" pitchFamily="34" charset="0"/>
                <a:ea typeface="Calibri" pitchFamily="34" charset="-122"/>
                <a:cs typeface="Calibri" pitchFamily="34" charset="-120"/>
              </a:rPr>
              <a:t>Frames + Transcript</a:t>
            </a:r>
            <a:endParaRPr lang="en-US" sz="1150" dirty="0"/>
          </a:p>
        </p:txBody>
      </p:sp>
      <p:sp>
        <p:nvSpPr>
          <p:cNvPr id="13" name="Shape 9"/>
          <p:cNvSpPr/>
          <p:nvPr/>
        </p:nvSpPr>
        <p:spPr>
          <a:xfrm>
            <a:off x="4002390" y="2304288"/>
            <a:ext cx="291876" cy="146304"/>
          </a:xfrm>
          <a:prstGeom prst="rightArrow">
            <a:avLst/>
          </a:prstGeom>
          <a:solidFill>
            <a:srgbClr val="AAB4CE"/>
          </a:solidFill>
          <a:ln/>
        </p:spPr>
      </p:sp>
      <p:sp>
        <p:nvSpPr>
          <p:cNvPr id="14" name="Shape 10"/>
          <p:cNvSpPr/>
          <p:nvPr/>
        </p:nvSpPr>
        <p:spPr>
          <a:xfrm>
            <a:off x="4322064" y="1828800"/>
            <a:ext cx="1584960" cy="1097280"/>
          </a:xfrm>
          <a:prstGeom prst="roundRect">
            <a:avLst>
              <a:gd name="adj" fmla="val 833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15" name="Shape 11"/>
          <p:cNvSpPr/>
          <p:nvPr/>
        </p:nvSpPr>
        <p:spPr>
          <a:xfrm>
            <a:off x="4913376" y="1947672"/>
            <a:ext cx="402336" cy="402336"/>
          </a:xfrm>
          <a:prstGeom prst="ellipse">
            <a:avLst/>
          </a:prstGeom>
          <a:solidFill>
            <a:srgbClr val="1C7293"/>
          </a:solidFill>
          <a:ln/>
        </p:spPr>
      </p:sp>
      <p:pic>
        <p:nvPicPr>
          <p:cNvPr id="16" name="Image 2" descr="/home/claude/mrag/assets/icons/database.png">    </p:cNvPr>
          <p:cNvPicPr>
            <a:picLocks noChangeAspect="1"/>
          </p:cNvPicPr>
          <p:nvPr/>
        </p:nvPicPr>
        <p:blipFill>
          <a:blip r:embed="rId3"/>
          <a:stretch>
            <a:fillRect/>
          </a:stretch>
        </p:blipFill>
        <p:spPr>
          <a:xfrm>
            <a:off x="4985796" y="2020092"/>
            <a:ext cx="257495" cy="257495"/>
          </a:xfrm>
          <a:prstGeom prst="rect">
            <a:avLst/>
          </a:prstGeom>
        </p:spPr>
      </p:pic>
      <p:sp>
        <p:nvSpPr>
          <p:cNvPr id="17" name="Text 12"/>
          <p:cNvSpPr/>
          <p:nvPr/>
        </p:nvSpPr>
        <p:spPr>
          <a:xfrm>
            <a:off x="4358640" y="2423160"/>
            <a:ext cx="1511808" cy="484632"/>
          </a:xfrm>
          <a:prstGeom prst="rect">
            <a:avLst/>
          </a:prstGeom>
          <a:noFill/>
          <a:ln/>
        </p:spPr>
        <p:txBody>
          <a:bodyPr wrap="square" rtlCol="0" anchor="t"/>
          <a:lstStyle/>
          <a:p>
            <a:pPr algn="ctr" indent="0" marL="0">
              <a:buNone/>
            </a:pPr>
            <a:r>
              <a:rPr lang="en-US" sz="1150" b="1" dirty="0">
                <a:solidFill>
                  <a:srgbClr val="222A42"/>
                </a:solidFill>
                <a:latin typeface="Calibri" pitchFamily="34" charset="0"/>
                <a:ea typeface="Calibri" pitchFamily="34" charset="-122"/>
                <a:cs typeface="Calibri" pitchFamily="34" charset="-120"/>
              </a:rPr>
              <a:t>Index</a:t>
            </a:r>
            <a:endParaRPr lang="en-US" sz="1150" dirty="0"/>
          </a:p>
        </p:txBody>
      </p:sp>
      <p:sp>
        <p:nvSpPr>
          <p:cNvPr id="18" name="Shape 13"/>
          <p:cNvSpPr/>
          <p:nvPr/>
        </p:nvSpPr>
        <p:spPr>
          <a:xfrm>
            <a:off x="5934822" y="2304288"/>
            <a:ext cx="291876" cy="146304"/>
          </a:xfrm>
          <a:prstGeom prst="rightArrow">
            <a:avLst/>
          </a:prstGeom>
          <a:solidFill>
            <a:srgbClr val="AAB4CE"/>
          </a:solidFill>
          <a:ln/>
        </p:spPr>
      </p:sp>
      <p:sp>
        <p:nvSpPr>
          <p:cNvPr id="19" name="Shape 14"/>
          <p:cNvSpPr/>
          <p:nvPr/>
        </p:nvSpPr>
        <p:spPr>
          <a:xfrm>
            <a:off x="6254496" y="1828800"/>
            <a:ext cx="1584960" cy="1097280"/>
          </a:xfrm>
          <a:prstGeom prst="roundRect">
            <a:avLst>
              <a:gd name="adj" fmla="val 833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0" name="Shape 15"/>
          <p:cNvSpPr/>
          <p:nvPr/>
        </p:nvSpPr>
        <p:spPr>
          <a:xfrm>
            <a:off x="6845808" y="1947672"/>
            <a:ext cx="402336" cy="402336"/>
          </a:xfrm>
          <a:prstGeom prst="ellipse">
            <a:avLst/>
          </a:prstGeom>
          <a:solidFill>
            <a:srgbClr val="1C7293"/>
          </a:solidFill>
          <a:ln/>
        </p:spPr>
      </p:sp>
      <p:pic>
        <p:nvPicPr>
          <p:cNvPr id="21" name="Image 3" descr="/home/claude/mrag/assets/icons/search.png">    </p:cNvPr>
          <p:cNvPicPr>
            <a:picLocks noChangeAspect="1"/>
          </p:cNvPicPr>
          <p:nvPr/>
        </p:nvPicPr>
        <p:blipFill>
          <a:blip r:embed="rId4"/>
          <a:stretch>
            <a:fillRect/>
          </a:stretch>
        </p:blipFill>
        <p:spPr>
          <a:xfrm>
            <a:off x="6918228" y="2020092"/>
            <a:ext cx="257495" cy="257495"/>
          </a:xfrm>
          <a:prstGeom prst="rect">
            <a:avLst/>
          </a:prstGeom>
        </p:spPr>
      </p:pic>
      <p:sp>
        <p:nvSpPr>
          <p:cNvPr id="22" name="Text 16"/>
          <p:cNvSpPr/>
          <p:nvPr/>
        </p:nvSpPr>
        <p:spPr>
          <a:xfrm>
            <a:off x="6291072" y="2423160"/>
            <a:ext cx="1511808" cy="484632"/>
          </a:xfrm>
          <a:prstGeom prst="rect">
            <a:avLst/>
          </a:prstGeom>
          <a:noFill/>
          <a:ln/>
        </p:spPr>
        <p:txBody>
          <a:bodyPr wrap="square" rtlCol="0" anchor="t"/>
          <a:lstStyle/>
          <a:p>
            <a:pPr algn="ctr" indent="0" marL="0">
              <a:buNone/>
            </a:pPr>
            <a:r>
              <a:rPr lang="en-US" sz="1150" b="1" dirty="0">
                <a:solidFill>
                  <a:srgbClr val="222A42"/>
                </a:solidFill>
                <a:latin typeface="Calibri" pitchFamily="34" charset="0"/>
                <a:ea typeface="Calibri" pitchFamily="34" charset="-122"/>
                <a:cs typeface="Calibri" pitchFamily="34" charset="-120"/>
              </a:rPr>
              <a:t>Retrieval</a:t>
            </a:r>
            <a:endParaRPr lang="en-US" sz="1150" dirty="0"/>
          </a:p>
        </p:txBody>
      </p:sp>
      <p:sp>
        <p:nvSpPr>
          <p:cNvPr id="23" name="Shape 17"/>
          <p:cNvSpPr/>
          <p:nvPr/>
        </p:nvSpPr>
        <p:spPr>
          <a:xfrm>
            <a:off x="7867254" y="2304288"/>
            <a:ext cx="291876" cy="146304"/>
          </a:xfrm>
          <a:prstGeom prst="rightArrow">
            <a:avLst/>
          </a:prstGeom>
          <a:solidFill>
            <a:srgbClr val="AAB4CE"/>
          </a:solidFill>
          <a:ln/>
        </p:spPr>
      </p:sp>
      <p:sp>
        <p:nvSpPr>
          <p:cNvPr id="24" name="Shape 18"/>
          <p:cNvSpPr/>
          <p:nvPr/>
        </p:nvSpPr>
        <p:spPr>
          <a:xfrm>
            <a:off x="8186928" y="1828800"/>
            <a:ext cx="1584960" cy="1097280"/>
          </a:xfrm>
          <a:prstGeom prst="roundRect">
            <a:avLst>
              <a:gd name="adj" fmla="val 833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25" name="Shape 19"/>
          <p:cNvSpPr/>
          <p:nvPr/>
        </p:nvSpPr>
        <p:spPr>
          <a:xfrm>
            <a:off x="8778240" y="1947672"/>
            <a:ext cx="402336" cy="402336"/>
          </a:xfrm>
          <a:prstGeom prst="ellipse">
            <a:avLst/>
          </a:prstGeom>
          <a:solidFill>
            <a:srgbClr val="1C7293"/>
          </a:solidFill>
          <a:ln/>
        </p:spPr>
      </p:sp>
      <p:pic>
        <p:nvPicPr>
          <p:cNvPr id="26" name="Image 4" descr="/home/claude/mrag/assets/icons/layers.png">    </p:cNvPr>
          <p:cNvPicPr>
            <a:picLocks noChangeAspect="1"/>
          </p:cNvPicPr>
          <p:nvPr/>
        </p:nvPicPr>
        <p:blipFill>
          <a:blip r:embed="rId5"/>
          <a:stretch>
            <a:fillRect/>
          </a:stretch>
        </p:blipFill>
        <p:spPr>
          <a:xfrm>
            <a:off x="8850660" y="2020092"/>
            <a:ext cx="257495" cy="257495"/>
          </a:xfrm>
          <a:prstGeom prst="rect">
            <a:avLst/>
          </a:prstGeom>
        </p:spPr>
      </p:pic>
      <p:sp>
        <p:nvSpPr>
          <p:cNvPr id="27" name="Text 20"/>
          <p:cNvSpPr/>
          <p:nvPr/>
        </p:nvSpPr>
        <p:spPr>
          <a:xfrm>
            <a:off x="8223504" y="2423160"/>
            <a:ext cx="1511808" cy="484632"/>
          </a:xfrm>
          <a:prstGeom prst="rect">
            <a:avLst/>
          </a:prstGeom>
          <a:noFill/>
          <a:ln/>
        </p:spPr>
        <p:txBody>
          <a:bodyPr wrap="square" rtlCol="0" anchor="t"/>
          <a:lstStyle/>
          <a:p>
            <a:pPr algn="ctr" indent="0" marL="0">
              <a:buNone/>
            </a:pPr>
            <a:r>
              <a:rPr lang="en-US" sz="1150" b="1" dirty="0">
                <a:solidFill>
                  <a:srgbClr val="222A42"/>
                </a:solidFill>
                <a:latin typeface="Calibri" pitchFamily="34" charset="0"/>
                <a:ea typeface="Calibri" pitchFamily="34" charset="-122"/>
                <a:cs typeface="Calibri" pitchFamily="34" charset="-120"/>
              </a:rPr>
              <a:t>Relevant Frame / Context</a:t>
            </a:r>
            <a:endParaRPr lang="en-US" sz="1150" dirty="0"/>
          </a:p>
        </p:txBody>
      </p:sp>
      <p:sp>
        <p:nvSpPr>
          <p:cNvPr id="28" name="Shape 21"/>
          <p:cNvSpPr/>
          <p:nvPr/>
        </p:nvSpPr>
        <p:spPr>
          <a:xfrm>
            <a:off x="9799686" y="2304288"/>
            <a:ext cx="291876" cy="146304"/>
          </a:xfrm>
          <a:prstGeom prst="rightArrow">
            <a:avLst/>
          </a:prstGeom>
          <a:solidFill>
            <a:srgbClr val="AAB4CE"/>
          </a:solidFill>
          <a:ln/>
        </p:spPr>
      </p:sp>
      <p:sp>
        <p:nvSpPr>
          <p:cNvPr id="29" name="Shape 22"/>
          <p:cNvSpPr/>
          <p:nvPr/>
        </p:nvSpPr>
        <p:spPr>
          <a:xfrm>
            <a:off x="10119360" y="1828800"/>
            <a:ext cx="1584960" cy="1097280"/>
          </a:xfrm>
          <a:prstGeom prst="roundRect">
            <a:avLst>
              <a:gd name="adj" fmla="val 8333"/>
            </a:avLst>
          </a:prstGeom>
          <a:solidFill>
            <a:srgbClr val="FFFFFF"/>
          </a:solidFill>
          <a:ln w="12700">
            <a:solidFill>
              <a:srgbClr val="E4E7F0"/>
            </a:solidFill>
            <a:prstDash val="solid"/>
          </a:ln>
          <a:effectLst>
            <a:outerShdw sx="100000" sy="100000" kx="0" ky="0" algn="bl" rotWithShape="0" blurRad="76200" dist="25400" dir="5400000">
              <a:srgbClr val="9AA3B8">
                <a:alpha val="25000"/>
              </a:srgbClr>
            </a:outerShdw>
          </a:effectLst>
        </p:spPr>
      </p:sp>
      <p:sp>
        <p:nvSpPr>
          <p:cNvPr id="30" name="Shape 23"/>
          <p:cNvSpPr/>
          <p:nvPr/>
        </p:nvSpPr>
        <p:spPr>
          <a:xfrm>
            <a:off x="10710672" y="1947672"/>
            <a:ext cx="402336" cy="402336"/>
          </a:xfrm>
          <a:prstGeom prst="ellipse">
            <a:avLst/>
          </a:prstGeom>
          <a:solidFill>
            <a:srgbClr val="1C7293"/>
          </a:solidFill>
          <a:ln/>
        </p:spPr>
      </p:sp>
      <p:pic>
        <p:nvPicPr>
          <p:cNvPr id="31" name="Image 5" descr="/home/claude/mrag/assets/icons/check.png">    </p:cNvPr>
          <p:cNvPicPr>
            <a:picLocks noChangeAspect="1"/>
          </p:cNvPicPr>
          <p:nvPr/>
        </p:nvPicPr>
        <p:blipFill>
          <a:blip r:embed="rId6"/>
          <a:stretch>
            <a:fillRect/>
          </a:stretch>
        </p:blipFill>
        <p:spPr>
          <a:xfrm>
            <a:off x="10783092" y="2020092"/>
            <a:ext cx="257495" cy="257495"/>
          </a:xfrm>
          <a:prstGeom prst="rect">
            <a:avLst/>
          </a:prstGeom>
        </p:spPr>
      </p:pic>
      <p:sp>
        <p:nvSpPr>
          <p:cNvPr id="32" name="Text 24"/>
          <p:cNvSpPr/>
          <p:nvPr/>
        </p:nvSpPr>
        <p:spPr>
          <a:xfrm>
            <a:off x="10155936" y="2423160"/>
            <a:ext cx="1511808" cy="484632"/>
          </a:xfrm>
          <a:prstGeom prst="rect">
            <a:avLst/>
          </a:prstGeom>
          <a:noFill/>
          <a:ln/>
        </p:spPr>
        <p:txBody>
          <a:bodyPr wrap="square" rtlCol="0" anchor="t"/>
          <a:lstStyle/>
          <a:p>
            <a:pPr algn="ctr" indent="0" marL="0">
              <a:buNone/>
            </a:pPr>
            <a:r>
              <a:rPr lang="en-US" sz="1150" b="1" dirty="0">
                <a:solidFill>
                  <a:srgbClr val="222A42"/>
                </a:solidFill>
                <a:latin typeface="Calibri" pitchFamily="34" charset="0"/>
                <a:ea typeface="Calibri" pitchFamily="34" charset="-122"/>
                <a:cs typeface="Calibri" pitchFamily="34" charset="-120"/>
              </a:rPr>
              <a:t>Answer</a:t>
            </a:r>
            <a:endParaRPr lang="en-US" sz="1150" dirty="0"/>
          </a:p>
        </p:txBody>
      </p:sp>
      <p:sp>
        <p:nvSpPr>
          <p:cNvPr id="33" name="Shape 25"/>
          <p:cNvSpPr/>
          <p:nvPr/>
        </p:nvSpPr>
        <p:spPr>
          <a:xfrm>
            <a:off x="1463040" y="3337560"/>
            <a:ext cx="9235440" cy="914400"/>
          </a:xfrm>
          <a:prstGeom prst="roundRect">
            <a:avLst>
              <a:gd name="adj" fmla="val 9000"/>
            </a:avLst>
          </a:prstGeom>
          <a:solidFill>
            <a:srgbClr val="1B2450"/>
          </a:solidFill>
          <a:ln w="12700">
            <a:solidFill>
              <a:srgbClr val="2E3868"/>
            </a:solidFill>
            <a:prstDash val="solid"/>
          </a:ln>
        </p:spPr>
      </p:sp>
      <p:pic>
        <p:nvPicPr>
          <p:cNvPr id="34" name="Image 6" descr="/home/claude/mrag/assets/icons/question.png">    </p:cNvPr>
          <p:cNvPicPr>
            <a:picLocks noChangeAspect="1"/>
          </p:cNvPicPr>
          <p:nvPr/>
        </p:nvPicPr>
        <p:blipFill>
          <a:blip r:embed="rId7"/>
          <a:stretch>
            <a:fillRect/>
          </a:stretch>
        </p:blipFill>
        <p:spPr>
          <a:xfrm>
            <a:off x="1737360" y="3547872"/>
            <a:ext cx="457200" cy="457200"/>
          </a:xfrm>
          <a:prstGeom prst="rect">
            <a:avLst/>
          </a:prstGeom>
        </p:spPr>
      </p:pic>
      <p:sp>
        <p:nvSpPr>
          <p:cNvPr id="35" name="Text 26"/>
          <p:cNvSpPr/>
          <p:nvPr/>
        </p:nvSpPr>
        <p:spPr>
          <a:xfrm>
            <a:off x="2377440" y="3337560"/>
            <a:ext cx="8229600" cy="914400"/>
          </a:xfrm>
          <a:prstGeom prst="rect">
            <a:avLst/>
          </a:prstGeom>
          <a:noFill/>
          <a:ln/>
        </p:spPr>
        <p:txBody>
          <a:bodyPr wrap="square"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"Which product feature was demonstrated around the middle of the video?"</a:t>
            </a:r>
            <a:endParaRPr lang="en-US" sz="1800" dirty="0"/>
          </a:p>
        </p:txBody>
      </p:sp>
      <p:sp>
        <p:nvSpPr>
          <p:cNvPr id="36" name="Text 27"/>
          <p:cNvSpPr/>
          <p:nvPr/>
        </p:nvSpPr>
        <p:spPr>
          <a:xfrm>
            <a:off x="731520" y="4526280"/>
            <a:ext cx="10698480" cy="1005840"/>
          </a:xfrm>
          <a:prstGeom prst="rect">
            <a:avLst/>
          </a:prstGeom>
          <a:noFill/>
          <a:ln/>
        </p:spPr>
        <p:txBody>
          <a:bodyPr wrap="square" rtlCol="0" anchor="t"/>
          <a:lstStyle/>
          <a:p>
            <a:pPr indent="0" marL="0">
              <a:buNone/>
            </a:pPr>
            <a:r>
              <a:rPr lang="en-US" sz="1500" i="1" dirty="0">
                <a:solidFill>
                  <a:srgbClr val="CADCFC"/>
                </a:solidFill>
                <a:latin typeface="Calibri" pitchFamily="34" charset="0"/>
                <a:ea typeface="Calibri" pitchFamily="34" charset="-122"/>
                <a:cs typeface="Calibri" pitchFamily="34" charset="-120"/>
              </a:rPr>
              <a:t>Video RAG is not a new architecture — it's the same retrieval architecture, extended: sample frames, transcribe audio, embed both, and retrieve the moment that matches the query.</a:t>
            </a:r>
            <a:endParaRPr lang="en-US" sz="1500" dirty="0"/>
          </a:p>
        </p:txBody>
      </p:sp>
      <p:sp>
        <p:nvSpPr>
          <p:cNvPr id="37" name="Text 28"/>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5A6699"/>
                </a:solidFill>
                <a:latin typeface="Calibri" pitchFamily="34" charset="0"/>
                <a:ea typeface="Calibri" pitchFamily="34" charset="-122"/>
                <a:cs typeface="Calibri" pitchFamily="34" charset="-120"/>
              </a:rPr>
              <a:t>Beyond Text RAG</a:t>
            </a:r>
            <a:endParaRPr lang="en-US" sz="1000" dirty="0"/>
          </a:p>
        </p:txBody>
      </p:sp>
      <p:sp>
        <p:nvSpPr>
          <p:cNvPr id="38" name="Text 29"/>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8892B0"/>
                </a:solidFill>
                <a:latin typeface="Calibri" pitchFamily="34" charset="0"/>
                <a:ea typeface="Calibri" pitchFamily="34" charset="-122"/>
                <a:cs typeface="Calibri" pitchFamily="34" charset="-120"/>
              </a:rPr>
              <a:t>19 / 22</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8 — REAL-WORLD APPLICATIONS</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Where This Shows Up in the Real World</a:t>
            </a:r>
            <a:endParaRPr lang="en-US" sz="3200" dirty="0"/>
          </a:p>
        </p:txBody>
      </p:sp>
      <p:sp>
        <p:nvSpPr>
          <p:cNvPr id="4" name="Shape 2"/>
          <p:cNvSpPr/>
          <p:nvPr/>
        </p:nvSpPr>
        <p:spPr>
          <a:xfrm>
            <a:off x="594360" y="169164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5" name="Shape 3"/>
          <p:cNvSpPr/>
          <p:nvPr/>
        </p:nvSpPr>
        <p:spPr>
          <a:xfrm>
            <a:off x="1335024" y="1874520"/>
            <a:ext cx="603504" cy="603504"/>
          </a:xfrm>
          <a:prstGeom prst="ellipse">
            <a:avLst/>
          </a:prstGeom>
          <a:solidFill>
            <a:srgbClr val="1E2761"/>
          </a:solidFill>
          <a:ln/>
        </p:spPr>
      </p:sp>
      <p:pic>
        <p:nvPicPr>
          <p:cNvPr id="6" name="Image 0" descr="/home/claude/mrag/assets/icons/bank.png">    </p:cNvPr>
          <p:cNvPicPr>
            <a:picLocks noChangeAspect="1"/>
          </p:cNvPicPr>
          <p:nvPr/>
        </p:nvPicPr>
        <p:blipFill>
          <a:blip r:embed="rId1"/>
          <a:stretch>
            <a:fillRect/>
          </a:stretch>
        </p:blipFill>
        <p:spPr>
          <a:xfrm>
            <a:off x="1481328" y="2020824"/>
            <a:ext cx="310896" cy="310896"/>
          </a:xfrm>
          <a:prstGeom prst="rect">
            <a:avLst/>
          </a:prstGeom>
        </p:spPr>
      </p:pic>
      <p:sp>
        <p:nvSpPr>
          <p:cNvPr id="7" name="Text 4"/>
          <p:cNvSpPr/>
          <p:nvPr/>
        </p:nvSpPr>
        <p:spPr>
          <a:xfrm>
            <a:off x="685800" y="260604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Financial reports</a:t>
            </a:r>
            <a:endParaRPr lang="en-US" sz="1250" dirty="0"/>
          </a:p>
        </p:txBody>
      </p:sp>
      <p:sp>
        <p:nvSpPr>
          <p:cNvPr id="8" name="Shape 5"/>
          <p:cNvSpPr/>
          <p:nvPr/>
        </p:nvSpPr>
        <p:spPr>
          <a:xfrm>
            <a:off x="2825496" y="169164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9" name="Shape 6"/>
          <p:cNvSpPr/>
          <p:nvPr/>
        </p:nvSpPr>
        <p:spPr>
          <a:xfrm>
            <a:off x="3566160" y="1874520"/>
            <a:ext cx="603504" cy="603504"/>
          </a:xfrm>
          <a:prstGeom prst="ellipse">
            <a:avLst/>
          </a:prstGeom>
          <a:solidFill>
            <a:srgbClr val="1C7293"/>
          </a:solidFill>
          <a:ln/>
        </p:spPr>
      </p:sp>
      <p:pic>
        <p:nvPicPr>
          <p:cNvPr id="10" name="Image 1" descr="/home/claude/mrag/assets/icons/hospital.png">    </p:cNvPr>
          <p:cNvPicPr>
            <a:picLocks noChangeAspect="1"/>
          </p:cNvPicPr>
          <p:nvPr/>
        </p:nvPicPr>
        <p:blipFill>
          <a:blip r:embed="rId2"/>
          <a:stretch>
            <a:fillRect/>
          </a:stretch>
        </p:blipFill>
        <p:spPr>
          <a:xfrm>
            <a:off x="3712464" y="2020824"/>
            <a:ext cx="310896" cy="310896"/>
          </a:xfrm>
          <a:prstGeom prst="rect">
            <a:avLst/>
          </a:prstGeom>
        </p:spPr>
      </p:pic>
      <p:sp>
        <p:nvSpPr>
          <p:cNvPr id="11" name="Text 7"/>
          <p:cNvSpPr/>
          <p:nvPr/>
        </p:nvSpPr>
        <p:spPr>
          <a:xfrm>
            <a:off x="2916936" y="260604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Medical documents</a:t>
            </a:r>
            <a:endParaRPr lang="en-US" sz="1250" dirty="0"/>
          </a:p>
        </p:txBody>
      </p:sp>
      <p:sp>
        <p:nvSpPr>
          <p:cNvPr id="12" name="Shape 8"/>
          <p:cNvSpPr/>
          <p:nvPr/>
        </p:nvSpPr>
        <p:spPr>
          <a:xfrm>
            <a:off x="5056632" y="169164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13" name="Shape 9"/>
          <p:cNvSpPr/>
          <p:nvPr/>
        </p:nvSpPr>
        <p:spPr>
          <a:xfrm>
            <a:off x="5797296" y="1874520"/>
            <a:ext cx="603504" cy="603504"/>
          </a:xfrm>
          <a:prstGeom prst="ellipse">
            <a:avLst/>
          </a:prstGeom>
          <a:solidFill>
            <a:srgbClr val="1E2761"/>
          </a:solidFill>
          <a:ln/>
        </p:spPr>
      </p:sp>
      <p:pic>
        <p:nvPicPr>
          <p:cNvPr id="14" name="Image 2" descr="/home/claude/mrag/assets/icons/graduation.png">    </p:cNvPr>
          <p:cNvPicPr>
            <a:picLocks noChangeAspect="1"/>
          </p:cNvPicPr>
          <p:nvPr/>
        </p:nvPicPr>
        <p:blipFill>
          <a:blip r:embed="rId3"/>
          <a:stretch>
            <a:fillRect/>
          </a:stretch>
        </p:blipFill>
        <p:spPr>
          <a:xfrm>
            <a:off x="5943600" y="2020824"/>
            <a:ext cx="310896" cy="310896"/>
          </a:xfrm>
          <a:prstGeom prst="rect">
            <a:avLst/>
          </a:prstGeom>
        </p:spPr>
      </p:pic>
      <p:sp>
        <p:nvSpPr>
          <p:cNvPr id="15" name="Text 10"/>
          <p:cNvSpPr/>
          <p:nvPr/>
        </p:nvSpPr>
        <p:spPr>
          <a:xfrm>
            <a:off x="5148072" y="260604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Education</a:t>
            </a:r>
            <a:endParaRPr lang="en-US" sz="1250" dirty="0"/>
          </a:p>
        </p:txBody>
      </p:sp>
      <p:sp>
        <p:nvSpPr>
          <p:cNvPr id="16" name="Shape 11"/>
          <p:cNvSpPr/>
          <p:nvPr/>
        </p:nvSpPr>
        <p:spPr>
          <a:xfrm>
            <a:off x="7287768" y="169164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17" name="Shape 12"/>
          <p:cNvSpPr/>
          <p:nvPr/>
        </p:nvSpPr>
        <p:spPr>
          <a:xfrm>
            <a:off x="8028432" y="1874520"/>
            <a:ext cx="603504" cy="603504"/>
          </a:xfrm>
          <a:prstGeom prst="ellipse">
            <a:avLst/>
          </a:prstGeom>
          <a:solidFill>
            <a:srgbClr val="1C7293"/>
          </a:solidFill>
          <a:ln/>
        </p:spPr>
      </p:sp>
      <p:pic>
        <p:nvPicPr>
          <p:cNvPr id="18" name="Image 3" descr="/home/claude/mrag/assets/icons/factory.png">    </p:cNvPr>
          <p:cNvPicPr>
            <a:picLocks noChangeAspect="1"/>
          </p:cNvPicPr>
          <p:nvPr/>
        </p:nvPicPr>
        <p:blipFill>
          <a:blip r:embed="rId4"/>
          <a:stretch>
            <a:fillRect/>
          </a:stretch>
        </p:blipFill>
        <p:spPr>
          <a:xfrm>
            <a:off x="8174736" y="2020824"/>
            <a:ext cx="310896" cy="310896"/>
          </a:xfrm>
          <a:prstGeom prst="rect">
            <a:avLst/>
          </a:prstGeom>
        </p:spPr>
      </p:pic>
      <p:sp>
        <p:nvSpPr>
          <p:cNvPr id="19" name="Text 13"/>
          <p:cNvSpPr/>
          <p:nvPr/>
        </p:nvSpPr>
        <p:spPr>
          <a:xfrm>
            <a:off x="7379208" y="260604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Manufacturing manuals</a:t>
            </a:r>
            <a:endParaRPr lang="en-US" sz="1250" dirty="0"/>
          </a:p>
        </p:txBody>
      </p:sp>
      <p:sp>
        <p:nvSpPr>
          <p:cNvPr id="20" name="Shape 14"/>
          <p:cNvSpPr/>
          <p:nvPr/>
        </p:nvSpPr>
        <p:spPr>
          <a:xfrm>
            <a:off x="9518904" y="169164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21" name="Shape 15"/>
          <p:cNvSpPr/>
          <p:nvPr/>
        </p:nvSpPr>
        <p:spPr>
          <a:xfrm>
            <a:off x="10259568" y="1874520"/>
            <a:ext cx="603504" cy="603504"/>
          </a:xfrm>
          <a:prstGeom prst="ellipse">
            <a:avLst/>
          </a:prstGeom>
          <a:solidFill>
            <a:srgbClr val="1E2761"/>
          </a:solidFill>
          <a:ln/>
        </p:spPr>
      </p:sp>
      <p:pic>
        <p:nvPicPr>
          <p:cNvPr id="22" name="Image 4" descr="/home/claude/mrag/assets/icons/gavel.png">    </p:cNvPr>
          <p:cNvPicPr>
            <a:picLocks noChangeAspect="1"/>
          </p:cNvPicPr>
          <p:nvPr/>
        </p:nvPicPr>
        <p:blipFill>
          <a:blip r:embed="rId5"/>
          <a:stretch>
            <a:fillRect/>
          </a:stretch>
        </p:blipFill>
        <p:spPr>
          <a:xfrm>
            <a:off x="10405872" y="2020824"/>
            <a:ext cx="310896" cy="310896"/>
          </a:xfrm>
          <a:prstGeom prst="rect">
            <a:avLst/>
          </a:prstGeom>
        </p:spPr>
      </p:pic>
      <p:sp>
        <p:nvSpPr>
          <p:cNvPr id="23" name="Text 16"/>
          <p:cNvSpPr/>
          <p:nvPr/>
        </p:nvSpPr>
        <p:spPr>
          <a:xfrm>
            <a:off x="9610344" y="260604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Legal documents</a:t>
            </a:r>
            <a:endParaRPr lang="en-US" sz="1250" dirty="0"/>
          </a:p>
        </p:txBody>
      </p:sp>
      <p:sp>
        <p:nvSpPr>
          <p:cNvPr id="24" name="Shape 17"/>
          <p:cNvSpPr/>
          <p:nvPr/>
        </p:nvSpPr>
        <p:spPr>
          <a:xfrm>
            <a:off x="594360" y="347472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25" name="Shape 18"/>
          <p:cNvSpPr/>
          <p:nvPr/>
        </p:nvSpPr>
        <p:spPr>
          <a:xfrm>
            <a:off x="1335024" y="3657600"/>
            <a:ext cx="603504" cy="603504"/>
          </a:xfrm>
          <a:prstGeom prst="ellipse">
            <a:avLst/>
          </a:prstGeom>
          <a:solidFill>
            <a:srgbClr val="1C7293"/>
          </a:solidFill>
          <a:ln/>
        </p:spPr>
      </p:sp>
      <p:pic>
        <p:nvPicPr>
          <p:cNvPr id="26" name="Image 5" descr="/home/claude/mrag/assets/icons/box.png">    </p:cNvPr>
          <p:cNvPicPr>
            <a:picLocks noChangeAspect="1"/>
          </p:cNvPicPr>
          <p:nvPr/>
        </p:nvPicPr>
        <p:blipFill>
          <a:blip r:embed="rId6"/>
          <a:stretch>
            <a:fillRect/>
          </a:stretch>
        </p:blipFill>
        <p:spPr>
          <a:xfrm>
            <a:off x="1481328" y="3803904"/>
            <a:ext cx="310896" cy="310896"/>
          </a:xfrm>
          <a:prstGeom prst="rect">
            <a:avLst/>
          </a:prstGeom>
        </p:spPr>
      </p:pic>
      <p:sp>
        <p:nvSpPr>
          <p:cNvPr id="27" name="Text 19"/>
          <p:cNvSpPr/>
          <p:nvPr/>
        </p:nvSpPr>
        <p:spPr>
          <a:xfrm>
            <a:off x="685800" y="438912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Product documentation</a:t>
            </a:r>
            <a:endParaRPr lang="en-US" sz="1250" dirty="0"/>
          </a:p>
        </p:txBody>
      </p:sp>
      <p:sp>
        <p:nvSpPr>
          <p:cNvPr id="28" name="Shape 20"/>
          <p:cNvSpPr/>
          <p:nvPr/>
        </p:nvSpPr>
        <p:spPr>
          <a:xfrm>
            <a:off x="2825496" y="347472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29" name="Shape 21"/>
          <p:cNvSpPr/>
          <p:nvPr/>
        </p:nvSpPr>
        <p:spPr>
          <a:xfrm>
            <a:off x="3566160" y="3657600"/>
            <a:ext cx="603504" cy="603504"/>
          </a:xfrm>
          <a:prstGeom prst="ellipse">
            <a:avLst/>
          </a:prstGeom>
          <a:solidFill>
            <a:srgbClr val="1E2761"/>
          </a:solidFill>
          <a:ln/>
        </p:spPr>
      </p:sp>
      <p:pic>
        <p:nvPicPr>
          <p:cNvPr id="30" name="Image 6" descr="/home/claude/mrag/assets/icons/camera.png">    </p:cNvPr>
          <p:cNvPicPr>
            <a:picLocks noChangeAspect="1"/>
          </p:cNvPicPr>
          <p:nvPr/>
        </p:nvPicPr>
        <p:blipFill>
          <a:blip r:embed="rId7"/>
          <a:stretch>
            <a:fillRect/>
          </a:stretch>
        </p:blipFill>
        <p:spPr>
          <a:xfrm>
            <a:off x="3712464" y="3803904"/>
            <a:ext cx="310896" cy="310896"/>
          </a:xfrm>
          <a:prstGeom prst="rect">
            <a:avLst/>
          </a:prstGeom>
        </p:spPr>
      </p:pic>
      <p:sp>
        <p:nvSpPr>
          <p:cNvPr id="31" name="Text 22"/>
          <p:cNvSpPr/>
          <p:nvPr/>
        </p:nvSpPr>
        <p:spPr>
          <a:xfrm>
            <a:off x="2916936" y="438912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Security footage analysis</a:t>
            </a:r>
            <a:endParaRPr lang="en-US" sz="1250" dirty="0"/>
          </a:p>
        </p:txBody>
      </p:sp>
      <p:sp>
        <p:nvSpPr>
          <p:cNvPr id="32" name="Shape 23"/>
          <p:cNvSpPr/>
          <p:nvPr/>
        </p:nvSpPr>
        <p:spPr>
          <a:xfrm>
            <a:off x="5056632" y="347472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33" name="Shape 24"/>
          <p:cNvSpPr/>
          <p:nvPr/>
        </p:nvSpPr>
        <p:spPr>
          <a:xfrm>
            <a:off x="5797296" y="3657600"/>
            <a:ext cx="603504" cy="603504"/>
          </a:xfrm>
          <a:prstGeom prst="ellipse">
            <a:avLst/>
          </a:prstGeom>
          <a:solidFill>
            <a:srgbClr val="1C7293"/>
          </a:solidFill>
          <a:ln/>
        </p:spPr>
      </p:sp>
      <p:pic>
        <p:nvPicPr>
          <p:cNvPr id="34" name="Image 7" descr="/home/claude/mrag/assets/icons/video.png">    </p:cNvPr>
          <p:cNvPicPr>
            <a:picLocks noChangeAspect="1"/>
          </p:cNvPicPr>
          <p:nvPr/>
        </p:nvPicPr>
        <p:blipFill>
          <a:blip r:embed="rId8"/>
          <a:stretch>
            <a:fillRect/>
          </a:stretch>
        </p:blipFill>
        <p:spPr>
          <a:xfrm>
            <a:off x="5943600" y="3803904"/>
            <a:ext cx="310896" cy="310896"/>
          </a:xfrm>
          <a:prstGeom prst="rect">
            <a:avLst/>
          </a:prstGeom>
        </p:spPr>
      </p:pic>
      <p:sp>
        <p:nvSpPr>
          <p:cNvPr id="35" name="Text 25"/>
          <p:cNvSpPr/>
          <p:nvPr/>
        </p:nvSpPr>
        <p:spPr>
          <a:xfrm>
            <a:off x="5148072" y="438912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Training videos</a:t>
            </a:r>
            <a:endParaRPr lang="en-US" sz="1250" dirty="0"/>
          </a:p>
        </p:txBody>
      </p:sp>
      <p:sp>
        <p:nvSpPr>
          <p:cNvPr id="36" name="Shape 26"/>
          <p:cNvSpPr/>
          <p:nvPr/>
        </p:nvSpPr>
        <p:spPr>
          <a:xfrm>
            <a:off x="7287768" y="347472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37" name="Shape 27"/>
          <p:cNvSpPr/>
          <p:nvPr/>
        </p:nvSpPr>
        <p:spPr>
          <a:xfrm>
            <a:off x="8028432" y="3657600"/>
            <a:ext cx="603504" cy="603504"/>
          </a:xfrm>
          <a:prstGeom prst="ellipse">
            <a:avLst/>
          </a:prstGeom>
          <a:solidFill>
            <a:srgbClr val="1E2761"/>
          </a:solidFill>
          <a:ln/>
        </p:spPr>
      </p:sp>
      <p:pic>
        <p:nvPicPr>
          <p:cNvPr id="38" name="Image 8" descr="/home/claude/mrag/assets/icons/headset.png">    </p:cNvPr>
          <p:cNvPicPr>
            <a:picLocks noChangeAspect="1"/>
          </p:cNvPicPr>
          <p:nvPr/>
        </p:nvPicPr>
        <p:blipFill>
          <a:blip r:embed="rId9"/>
          <a:stretch>
            <a:fillRect/>
          </a:stretch>
        </p:blipFill>
        <p:spPr>
          <a:xfrm>
            <a:off x="8174736" y="3803904"/>
            <a:ext cx="310896" cy="310896"/>
          </a:xfrm>
          <a:prstGeom prst="rect">
            <a:avLst/>
          </a:prstGeom>
        </p:spPr>
      </p:pic>
      <p:sp>
        <p:nvSpPr>
          <p:cNvPr id="39" name="Text 28"/>
          <p:cNvSpPr/>
          <p:nvPr/>
        </p:nvSpPr>
        <p:spPr>
          <a:xfrm>
            <a:off x="7379208" y="438912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Customer support</a:t>
            </a:r>
            <a:endParaRPr lang="en-US" sz="1250" dirty="0"/>
          </a:p>
        </p:txBody>
      </p:sp>
      <p:sp>
        <p:nvSpPr>
          <p:cNvPr id="40" name="Shape 29"/>
          <p:cNvSpPr/>
          <p:nvPr/>
        </p:nvSpPr>
        <p:spPr>
          <a:xfrm>
            <a:off x="9518904" y="3474720"/>
            <a:ext cx="2084832" cy="1600200"/>
          </a:xfrm>
          <a:prstGeom prst="roundRect">
            <a:avLst>
              <a:gd name="adj" fmla="val 4571"/>
            </a:avLst>
          </a:prstGeom>
          <a:solidFill>
            <a:srgbClr val="FFFFFF"/>
          </a:solidFill>
          <a:ln w="12700">
            <a:solidFill>
              <a:srgbClr val="E4E7F0"/>
            </a:solidFill>
            <a:prstDash val="solid"/>
          </a:ln>
          <a:effectLst>
            <a:outerShdw sx="100000" sy="100000" kx="0" ky="0" algn="bl" rotWithShape="0" blurRad="63500" dist="25400" dir="5400000">
              <a:srgbClr val="9AA3B8">
                <a:alpha val="22000"/>
              </a:srgbClr>
            </a:outerShdw>
          </a:effectLst>
        </p:spPr>
      </p:sp>
      <p:sp>
        <p:nvSpPr>
          <p:cNvPr id="41" name="Shape 30"/>
          <p:cNvSpPr/>
          <p:nvPr/>
        </p:nvSpPr>
        <p:spPr>
          <a:xfrm>
            <a:off x="10259568" y="3657600"/>
            <a:ext cx="603504" cy="603504"/>
          </a:xfrm>
          <a:prstGeom prst="ellipse">
            <a:avLst/>
          </a:prstGeom>
          <a:solidFill>
            <a:srgbClr val="1C7293"/>
          </a:solidFill>
          <a:ln/>
        </p:spPr>
      </p:sp>
      <p:pic>
        <p:nvPicPr>
          <p:cNvPr id="42" name="Image 9" descr="/home/claude/mrag/assets/icons/book.png">    </p:cNvPr>
          <p:cNvPicPr>
            <a:picLocks noChangeAspect="1"/>
          </p:cNvPicPr>
          <p:nvPr/>
        </p:nvPicPr>
        <p:blipFill>
          <a:blip r:embed="rId10"/>
          <a:stretch>
            <a:fillRect/>
          </a:stretch>
        </p:blipFill>
        <p:spPr>
          <a:xfrm>
            <a:off x="10405872" y="3803904"/>
            <a:ext cx="310896" cy="310896"/>
          </a:xfrm>
          <a:prstGeom prst="rect">
            <a:avLst/>
          </a:prstGeom>
        </p:spPr>
      </p:pic>
      <p:sp>
        <p:nvSpPr>
          <p:cNvPr id="43" name="Text 31"/>
          <p:cNvSpPr/>
          <p:nvPr/>
        </p:nvSpPr>
        <p:spPr>
          <a:xfrm>
            <a:off x="9610344" y="4389120"/>
            <a:ext cx="1901952" cy="594360"/>
          </a:xfrm>
          <a:prstGeom prst="rect">
            <a:avLst/>
          </a:prstGeom>
          <a:noFill/>
          <a:ln/>
        </p:spPr>
        <p:txBody>
          <a:bodyPr wrap="square" rtlCol="0" anchor="t"/>
          <a:lstStyle/>
          <a:p>
            <a:pPr algn="ctr" indent="0" marL="0">
              <a:buNone/>
            </a:pPr>
            <a:r>
              <a:rPr lang="en-US" sz="1250" b="1" dirty="0">
                <a:solidFill>
                  <a:srgbClr val="222A42"/>
                </a:solidFill>
                <a:latin typeface="Calibri" pitchFamily="34" charset="0"/>
                <a:ea typeface="Calibri" pitchFamily="34" charset="-122"/>
                <a:cs typeface="Calibri" pitchFamily="34" charset="-120"/>
              </a:rPr>
              <a:t>Research papers</a:t>
            </a:r>
            <a:endParaRPr lang="en-US" sz="1250" dirty="0"/>
          </a:p>
        </p:txBody>
      </p:sp>
      <p:sp>
        <p:nvSpPr>
          <p:cNvPr id="44" name="Text 32"/>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45" name="Text 33"/>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20 / 22</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SECTION 9 — FINAL CONCEPT</a:t>
            </a:r>
            <a:endParaRPr lang="en-US" sz="1300" dirty="0"/>
          </a:p>
        </p:txBody>
      </p:sp>
      <p:sp>
        <p:nvSpPr>
          <p:cNvPr id="3" name="Text 1"/>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Traditional RAG vs. Multimodal RAG</a:t>
            </a:r>
            <a:endParaRPr lang="en-US" sz="3200" dirty="0"/>
          </a:p>
        </p:txBody>
      </p:sp>
      <p:sp>
        <p:nvSpPr>
          <p:cNvPr id="4" name="Shape 2"/>
          <p:cNvSpPr/>
          <p:nvPr/>
        </p:nvSpPr>
        <p:spPr>
          <a:xfrm>
            <a:off x="548640" y="1691640"/>
            <a:ext cx="2377440" cy="594360"/>
          </a:xfrm>
          <a:prstGeom prst="rect">
            <a:avLst/>
          </a:prstGeom>
          <a:solidFill>
            <a:srgbClr val="F7F8FC"/>
          </a:solidFill>
          <a:ln w="19050">
            <a:solidFill>
              <a:srgbClr val="FFFFFF"/>
            </a:solidFill>
            <a:prstDash val="solid"/>
          </a:ln>
        </p:spPr>
      </p:sp>
      <p:sp>
        <p:nvSpPr>
          <p:cNvPr id="5" name="Shape 3"/>
          <p:cNvSpPr/>
          <p:nvPr/>
        </p:nvSpPr>
        <p:spPr>
          <a:xfrm>
            <a:off x="2926080" y="1691640"/>
            <a:ext cx="4297680" cy="594360"/>
          </a:xfrm>
          <a:prstGeom prst="rect">
            <a:avLst/>
          </a:prstGeom>
          <a:solidFill>
            <a:srgbClr val="8892B0"/>
          </a:solidFill>
          <a:ln w="19050">
            <a:solidFill>
              <a:srgbClr val="FFFFFF"/>
            </a:solidFill>
            <a:prstDash val="solid"/>
          </a:ln>
        </p:spPr>
      </p:sp>
      <p:sp>
        <p:nvSpPr>
          <p:cNvPr id="6" name="Text 4"/>
          <p:cNvSpPr/>
          <p:nvPr/>
        </p:nvSpPr>
        <p:spPr>
          <a:xfrm>
            <a:off x="3063240" y="1691640"/>
            <a:ext cx="4023360" cy="5943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Traditional RAG</a:t>
            </a:r>
            <a:endParaRPr lang="en-US" sz="1500" dirty="0"/>
          </a:p>
        </p:txBody>
      </p:sp>
      <p:sp>
        <p:nvSpPr>
          <p:cNvPr id="7" name="Shape 5"/>
          <p:cNvSpPr/>
          <p:nvPr/>
        </p:nvSpPr>
        <p:spPr>
          <a:xfrm>
            <a:off x="7223760" y="1691640"/>
            <a:ext cx="4297680" cy="594360"/>
          </a:xfrm>
          <a:prstGeom prst="rect">
            <a:avLst/>
          </a:prstGeom>
          <a:solidFill>
            <a:srgbClr val="1E2761"/>
          </a:solidFill>
          <a:ln w="19050">
            <a:solidFill>
              <a:srgbClr val="FFFFFF"/>
            </a:solidFill>
            <a:prstDash val="solid"/>
          </a:ln>
        </p:spPr>
      </p:sp>
      <p:sp>
        <p:nvSpPr>
          <p:cNvPr id="8" name="Text 6"/>
          <p:cNvSpPr/>
          <p:nvPr/>
        </p:nvSpPr>
        <p:spPr>
          <a:xfrm>
            <a:off x="7360920" y="1691640"/>
            <a:ext cx="4023360" cy="5943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Multimodal RAG</a:t>
            </a:r>
            <a:endParaRPr lang="en-US" sz="1500" dirty="0"/>
          </a:p>
        </p:txBody>
      </p:sp>
      <p:sp>
        <p:nvSpPr>
          <p:cNvPr id="9" name="Shape 7"/>
          <p:cNvSpPr/>
          <p:nvPr/>
        </p:nvSpPr>
        <p:spPr>
          <a:xfrm>
            <a:off x="548640" y="2286000"/>
            <a:ext cx="2377440" cy="777240"/>
          </a:xfrm>
          <a:prstGeom prst="rect">
            <a:avLst/>
          </a:prstGeom>
          <a:solidFill>
            <a:srgbClr val="F7F8FC"/>
          </a:solidFill>
          <a:ln w="12700">
            <a:solidFill>
              <a:srgbClr val="E4E7F0"/>
            </a:solidFill>
            <a:prstDash val="solid"/>
          </a:ln>
        </p:spPr>
      </p:sp>
      <p:sp>
        <p:nvSpPr>
          <p:cNvPr id="10" name="Text 8"/>
          <p:cNvSpPr/>
          <p:nvPr/>
        </p:nvSpPr>
        <p:spPr>
          <a:xfrm>
            <a:off x="685800" y="2286000"/>
            <a:ext cx="210312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Data types</a:t>
            </a:r>
            <a:endParaRPr lang="en-US" sz="1350" dirty="0"/>
          </a:p>
        </p:txBody>
      </p:sp>
      <p:sp>
        <p:nvSpPr>
          <p:cNvPr id="11" name="Shape 9"/>
          <p:cNvSpPr/>
          <p:nvPr/>
        </p:nvSpPr>
        <p:spPr>
          <a:xfrm>
            <a:off x="2926080" y="2286000"/>
            <a:ext cx="4297680" cy="777240"/>
          </a:xfrm>
          <a:prstGeom prst="rect">
            <a:avLst/>
          </a:prstGeom>
          <a:solidFill>
            <a:srgbClr val="FFFFFF"/>
          </a:solidFill>
          <a:ln w="12700">
            <a:solidFill>
              <a:srgbClr val="E4E7F0"/>
            </a:solidFill>
            <a:prstDash val="solid"/>
          </a:ln>
        </p:spPr>
      </p:sp>
      <p:sp>
        <p:nvSpPr>
          <p:cNvPr id="12" name="Text 10"/>
          <p:cNvSpPr/>
          <p:nvPr/>
        </p:nvSpPr>
        <p:spPr>
          <a:xfrm>
            <a:off x="3063240" y="228600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Text only</a:t>
            </a:r>
            <a:endParaRPr lang="en-US" sz="1350" dirty="0"/>
          </a:p>
        </p:txBody>
      </p:sp>
      <p:sp>
        <p:nvSpPr>
          <p:cNvPr id="13" name="Shape 11"/>
          <p:cNvSpPr/>
          <p:nvPr/>
        </p:nvSpPr>
        <p:spPr>
          <a:xfrm>
            <a:off x="7223760" y="2286000"/>
            <a:ext cx="4297680" cy="777240"/>
          </a:xfrm>
          <a:prstGeom prst="rect">
            <a:avLst/>
          </a:prstGeom>
          <a:solidFill>
            <a:srgbClr val="FFFFFF"/>
          </a:solidFill>
          <a:ln w="12700">
            <a:solidFill>
              <a:srgbClr val="E4E7F0"/>
            </a:solidFill>
            <a:prstDash val="solid"/>
          </a:ln>
        </p:spPr>
      </p:sp>
      <p:sp>
        <p:nvSpPr>
          <p:cNvPr id="14" name="Text 12"/>
          <p:cNvSpPr/>
          <p:nvPr/>
        </p:nvSpPr>
        <p:spPr>
          <a:xfrm>
            <a:off x="7360920" y="228600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Text, tables, images, video</a:t>
            </a:r>
            <a:endParaRPr lang="en-US" sz="1350" dirty="0"/>
          </a:p>
        </p:txBody>
      </p:sp>
      <p:sp>
        <p:nvSpPr>
          <p:cNvPr id="15" name="Shape 13"/>
          <p:cNvSpPr/>
          <p:nvPr/>
        </p:nvSpPr>
        <p:spPr>
          <a:xfrm>
            <a:off x="548640" y="3063240"/>
            <a:ext cx="2377440" cy="777240"/>
          </a:xfrm>
          <a:prstGeom prst="rect">
            <a:avLst/>
          </a:prstGeom>
          <a:solidFill>
            <a:srgbClr val="F7F8FC"/>
          </a:solidFill>
          <a:ln w="12700">
            <a:solidFill>
              <a:srgbClr val="E4E7F0"/>
            </a:solidFill>
            <a:prstDash val="solid"/>
          </a:ln>
        </p:spPr>
      </p:sp>
      <p:sp>
        <p:nvSpPr>
          <p:cNvPr id="16" name="Text 14"/>
          <p:cNvSpPr/>
          <p:nvPr/>
        </p:nvSpPr>
        <p:spPr>
          <a:xfrm>
            <a:off x="685800" y="3063240"/>
            <a:ext cx="210312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Representation</a:t>
            </a:r>
            <a:endParaRPr lang="en-US" sz="1350" dirty="0"/>
          </a:p>
        </p:txBody>
      </p:sp>
      <p:sp>
        <p:nvSpPr>
          <p:cNvPr id="17" name="Shape 15"/>
          <p:cNvSpPr/>
          <p:nvPr/>
        </p:nvSpPr>
        <p:spPr>
          <a:xfrm>
            <a:off x="2926080" y="3063240"/>
            <a:ext cx="4297680" cy="777240"/>
          </a:xfrm>
          <a:prstGeom prst="rect">
            <a:avLst/>
          </a:prstGeom>
          <a:solidFill>
            <a:srgbClr val="F0F2F8"/>
          </a:solidFill>
          <a:ln w="12700">
            <a:solidFill>
              <a:srgbClr val="E4E7F0"/>
            </a:solidFill>
            <a:prstDash val="solid"/>
          </a:ln>
        </p:spPr>
      </p:sp>
      <p:sp>
        <p:nvSpPr>
          <p:cNvPr id="18" name="Text 16"/>
          <p:cNvSpPr/>
          <p:nvPr/>
        </p:nvSpPr>
        <p:spPr>
          <a:xfrm>
            <a:off x="3063240" y="306324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Text embeddings</a:t>
            </a:r>
            <a:endParaRPr lang="en-US" sz="1350" dirty="0"/>
          </a:p>
        </p:txBody>
      </p:sp>
      <p:sp>
        <p:nvSpPr>
          <p:cNvPr id="19" name="Shape 17"/>
          <p:cNvSpPr/>
          <p:nvPr/>
        </p:nvSpPr>
        <p:spPr>
          <a:xfrm>
            <a:off x="7223760" y="3063240"/>
            <a:ext cx="4297680" cy="777240"/>
          </a:xfrm>
          <a:prstGeom prst="rect">
            <a:avLst/>
          </a:prstGeom>
          <a:solidFill>
            <a:srgbClr val="F0F2F8"/>
          </a:solidFill>
          <a:ln w="12700">
            <a:solidFill>
              <a:srgbClr val="E4E7F0"/>
            </a:solidFill>
            <a:prstDash val="solid"/>
          </a:ln>
        </p:spPr>
      </p:sp>
      <p:sp>
        <p:nvSpPr>
          <p:cNvPr id="20" name="Text 18"/>
          <p:cNvSpPr/>
          <p:nvPr/>
        </p:nvSpPr>
        <p:spPr>
          <a:xfrm>
            <a:off x="7360920" y="306324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Text + image + structured embeddings</a:t>
            </a:r>
            <a:endParaRPr lang="en-US" sz="1350" dirty="0"/>
          </a:p>
        </p:txBody>
      </p:sp>
      <p:sp>
        <p:nvSpPr>
          <p:cNvPr id="21" name="Shape 19"/>
          <p:cNvSpPr/>
          <p:nvPr/>
        </p:nvSpPr>
        <p:spPr>
          <a:xfrm>
            <a:off x="548640" y="3840480"/>
            <a:ext cx="2377440" cy="777240"/>
          </a:xfrm>
          <a:prstGeom prst="rect">
            <a:avLst/>
          </a:prstGeom>
          <a:solidFill>
            <a:srgbClr val="F7F8FC"/>
          </a:solidFill>
          <a:ln w="12700">
            <a:solidFill>
              <a:srgbClr val="E4E7F0"/>
            </a:solidFill>
            <a:prstDash val="solid"/>
          </a:ln>
        </p:spPr>
      </p:sp>
      <p:sp>
        <p:nvSpPr>
          <p:cNvPr id="22" name="Text 20"/>
          <p:cNvSpPr/>
          <p:nvPr/>
        </p:nvSpPr>
        <p:spPr>
          <a:xfrm>
            <a:off x="685800" y="3840480"/>
            <a:ext cx="210312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Retrieval</a:t>
            </a:r>
            <a:endParaRPr lang="en-US" sz="1350" dirty="0"/>
          </a:p>
        </p:txBody>
      </p:sp>
      <p:sp>
        <p:nvSpPr>
          <p:cNvPr id="23" name="Shape 21"/>
          <p:cNvSpPr/>
          <p:nvPr/>
        </p:nvSpPr>
        <p:spPr>
          <a:xfrm>
            <a:off x="2926080" y="3840480"/>
            <a:ext cx="4297680" cy="777240"/>
          </a:xfrm>
          <a:prstGeom prst="rect">
            <a:avLst/>
          </a:prstGeom>
          <a:solidFill>
            <a:srgbClr val="FFFFFF"/>
          </a:solidFill>
          <a:ln w="12700">
            <a:solidFill>
              <a:srgbClr val="E4E7F0"/>
            </a:solidFill>
            <a:prstDash val="solid"/>
          </a:ln>
        </p:spPr>
      </p:sp>
      <p:sp>
        <p:nvSpPr>
          <p:cNvPr id="24" name="Text 22"/>
          <p:cNvSpPr/>
          <p:nvPr/>
        </p:nvSpPr>
        <p:spPr>
          <a:xfrm>
            <a:off x="3063240" y="384048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Single-modality search</a:t>
            </a:r>
            <a:endParaRPr lang="en-US" sz="1350" dirty="0"/>
          </a:p>
        </p:txBody>
      </p:sp>
      <p:sp>
        <p:nvSpPr>
          <p:cNvPr id="25" name="Shape 23"/>
          <p:cNvSpPr/>
          <p:nvPr/>
        </p:nvSpPr>
        <p:spPr>
          <a:xfrm>
            <a:off x="7223760" y="3840480"/>
            <a:ext cx="4297680" cy="777240"/>
          </a:xfrm>
          <a:prstGeom prst="rect">
            <a:avLst/>
          </a:prstGeom>
          <a:solidFill>
            <a:srgbClr val="FFFFFF"/>
          </a:solidFill>
          <a:ln w="12700">
            <a:solidFill>
              <a:srgbClr val="E4E7F0"/>
            </a:solidFill>
            <a:prstDash val="solid"/>
          </a:ln>
        </p:spPr>
      </p:sp>
      <p:sp>
        <p:nvSpPr>
          <p:cNvPr id="26" name="Text 24"/>
          <p:cNvSpPr/>
          <p:nvPr/>
        </p:nvSpPr>
        <p:spPr>
          <a:xfrm>
            <a:off x="7360920" y="384048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Cross-modal search</a:t>
            </a:r>
            <a:endParaRPr lang="en-US" sz="1350" dirty="0"/>
          </a:p>
        </p:txBody>
      </p:sp>
      <p:sp>
        <p:nvSpPr>
          <p:cNvPr id="27" name="Shape 25"/>
          <p:cNvSpPr/>
          <p:nvPr/>
        </p:nvSpPr>
        <p:spPr>
          <a:xfrm>
            <a:off x="548640" y="4617720"/>
            <a:ext cx="2377440" cy="777240"/>
          </a:xfrm>
          <a:prstGeom prst="rect">
            <a:avLst/>
          </a:prstGeom>
          <a:solidFill>
            <a:srgbClr val="F7F8FC"/>
          </a:solidFill>
          <a:ln w="12700">
            <a:solidFill>
              <a:srgbClr val="E4E7F0"/>
            </a:solidFill>
            <a:prstDash val="solid"/>
          </a:ln>
        </p:spPr>
      </p:sp>
      <p:sp>
        <p:nvSpPr>
          <p:cNvPr id="28" name="Text 26"/>
          <p:cNvSpPr/>
          <p:nvPr/>
        </p:nvSpPr>
        <p:spPr>
          <a:xfrm>
            <a:off x="685800" y="4617720"/>
            <a:ext cx="210312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Model</a:t>
            </a:r>
            <a:endParaRPr lang="en-US" sz="1350" dirty="0"/>
          </a:p>
        </p:txBody>
      </p:sp>
      <p:sp>
        <p:nvSpPr>
          <p:cNvPr id="29" name="Shape 27"/>
          <p:cNvSpPr/>
          <p:nvPr/>
        </p:nvSpPr>
        <p:spPr>
          <a:xfrm>
            <a:off x="2926080" y="4617720"/>
            <a:ext cx="4297680" cy="777240"/>
          </a:xfrm>
          <a:prstGeom prst="rect">
            <a:avLst/>
          </a:prstGeom>
          <a:solidFill>
            <a:srgbClr val="F0F2F8"/>
          </a:solidFill>
          <a:ln w="12700">
            <a:solidFill>
              <a:srgbClr val="E4E7F0"/>
            </a:solidFill>
            <a:prstDash val="solid"/>
          </a:ln>
        </p:spPr>
      </p:sp>
      <p:sp>
        <p:nvSpPr>
          <p:cNvPr id="30" name="Text 28"/>
          <p:cNvSpPr/>
          <p:nvPr/>
        </p:nvSpPr>
        <p:spPr>
          <a:xfrm>
            <a:off x="3063240" y="461772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Standard LLM</a:t>
            </a:r>
            <a:endParaRPr lang="en-US" sz="1350" dirty="0"/>
          </a:p>
        </p:txBody>
      </p:sp>
      <p:sp>
        <p:nvSpPr>
          <p:cNvPr id="31" name="Shape 29"/>
          <p:cNvSpPr/>
          <p:nvPr/>
        </p:nvSpPr>
        <p:spPr>
          <a:xfrm>
            <a:off x="7223760" y="4617720"/>
            <a:ext cx="4297680" cy="777240"/>
          </a:xfrm>
          <a:prstGeom prst="rect">
            <a:avLst/>
          </a:prstGeom>
          <a:solidFill>
            <a:srgbClr val="F0F2F8"/>
          </a:solidFill>
          <a:ln w="12700">
            <a:solidFill>
              <a:srgbClr val="E4E7F0"/>
            </a:solidFill>
            <a:prstDash val="solid"/>
          </a:ln>
        </p:spPr>
      </p:sp>
      <p:sp>
        <p:nvSpPr>
          <p:cNvPr id="32" name="Text 30"/>
          <p:cNvSpPr/>
          <p:nvPr/>
        </p:nvSpPr>
        <p:spPr>
          <a:xfrm>
            <a:off x="7360920" y="461772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Vision-Language Model / multimodal LLM</a:t>
            </a:r>
            <a:endParaRPr lang="en-US" sz="1350" dirty="0"/>
          </a:p>
        </p:txBody>
      </p:sp>
      <p:sp>
        <p:nvSpPr>
          <p:cNvPr id="33" name="Shape 31"/>
          <p:cNvSpPr/>
          <p:nvPr/>
        </p:nvSpPr>
        <p:spPr>
          <a:xfrm>
            <a:off x="548640" y="5394960"/>
            <a:ext cx="2377440" cy="777240"/>
          </a:xfrm>
          <a:prstGeom prst="rect">
            <a:avLst/>
          </a:prstGeom>
          <a:solidFill>
            <a:srgbClr val="F7F8FC"/>
          </a:solidFill>
          <a:ln w="12700">
            <a:solidFill>
              <a:srgbClr val="E4E7F0"/>
            </a:solidFill>
            <a:prstDash val="solid"/>
          </a:ln>
        </p:spPr>
      </p:sp>
      <p:sp>
        <p:nvSpPr>
          <p:cNvPr id="34" name="Text 32"/>
          <p:cNvSpPr/>
          <p:nvPr/>
        </p:nvSpPr>
        <p:spPr>
          <a:xfrm>
            <a:off x="685800" y="5394960"/>
            <a:ext cx="2103120" cy="777240"/>
          </a:xfrm>
          <a:prstGeom prst="rect">
            <a:avLst/>
          </a:prstGeom>
          <a:noFill/>
          <a:ln/>
        </p:spPr>
        <p:txBody>
          <a:bodyPr wrap="square"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Use cases</a:t>
            </a:r>
            <a:endParaRPr lang="en-US" sz="1350" dirty="0"/>
          </a:p>
        </p:txBody>
      </p:sp>
      <p:sp>
        <p:nvSpPr>
          <p:cNvPr id="35" name="Shape 33"/>
          <p:cNvSpPr/>
          <p:nvPr/>
        </p:nvSpPr>
        <p:spPr>
          <a:xfrm>
            <a:off x="2926080" y="5394960"/>
            <a:ext cx="4297680" cy="777240"/>
          </a:xfrm>
          <a:prstGeom prst="rect">
            <a:avLst/>
          </a:prstGeom>
          <a:solidFill>
            <a:srgbClr val="FFFFFF"/>
          </a:solidFill>
          <a:ln w="12700">
            <a:solidFill>
              <a:srgbClr val="E4E7F0"/>
            </a:solidFill>
            <a:prstDash val="solid"/>
          </a:ln>
        </p:spPr>
      </p:sp>
      <p:sp>
        <p:nvSpPr>
          <p:cNvPr id="36" name="Text 34"/>
          <p:cNvSpPr/>
          <p:nvPr/>
        </p:nvSpPr>
        <p:spPr>
          <a:xfrm>
            <a:off x="3063240" y="539496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Simple Q&amp;A over prose</a:t>
            </a:r>
            <a:endParaRPr lang="en-US" sz="1350" dirty="0"/>
          </a:p>
        </p:txBody>
      </p:sp>
      <p:sp>
        <p:nvSpPr>
          <p:cNvPr id="37" name="Shape 35"/>
          <p:cNvSpPr/>
          <p:nvPr/>
        </p:nvSpPr>
        <p:spPr>
          <a:xfrm>
            <a:off x="7223760" y="5394960"/>
            <a:ext cx="4297680" cy="777240"/>
          </a:xfrm>
          <a:prstGeom prst="rect">
            <a:avLst/>
          </a:prstGeom>
          <a:solidFill>
            <a:srgbClr val="FFFFFF"/>
          </a:solidFill>
          <a:ln w="12700">
            <a:solidFill>
              <a:srgbClr val="E4E7F0"/>
            </a:solidFill>
            <a:prstDash val="solid"/>
          </a:ln>
        </p:spPr>
      </p:sp>
      <p:sp>
        <p:nvSpPr>
          <p:cNvPr id="38" name="Text 36"/>
          <p:cNvSpPr/>
          <p:nvPr/>
        </p:nvSpPr>
        <p:spPr>
          <a:xfrm>
            <a:off x="7360920" y="5394960"/>
            <a:ext cx="4023360" cy="777240"/>
          </a:xfrm>
          <a:prstGeom prst="rect">
            <a:avLst/>
          </a:prstGeom>
          <a:noFill/>
          <a:ln/>
        </p:spPr>
        <p:txBody>
          <a:bodyPr wrap="square" rtlCol="0" anchor="ctr"/>
          <a:lstStyle/>
          <a:p>
            <a:pPr indent="0" marL="0">
              <a:buNone/>
            </a:pPr>
            <a:r>
              <a:rPr lang="en-US" sz="1350" dirty="0">
                <a:solidFill>
                  <a:srgbClr val="222A42"/>
                </a:solidFill>
                <a:latin typeface="Calibri" pitchFamily="34" charset="0"/>
                <a:ea typeface="Calibri" pitchFamily="34" charset="-122"/>
                <a:cs typeface="Calibri" pitchFamily="34" charset="-120"/>
              </a:rPr>
              <a:t>Reports, manuals, research, video analysis</a:t>
            </a:r>
            <a:endParaRPr lang="en-US" sz="1350" dirty="0"/>
          </a:p>
        </p:txBody>
      </p:sp>
      <p:sp>
        <p:nvSpPr>
          <p:cNvPr id="39" name="Text 37"/>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AAB4CE"/>
                </a:solidFill>
                <a:latin typeface="Calibri" pitchFamily="34" charset="0"/>
                <a:ea typeface="Calibri" pitchFamily="34" charset="-122"/>
                <a:cs typeface="Calibri" pitchFamily="34" charset="-120"/>
              </a:rPr>
              <a:t>Beyond Text RAG</a:t>
            </a:r>
            <a:endParaRPr lang="en-US" sz="1000" dirty="0"/>
          </a:p>
        </p:txBody>
      </p:sp>
      <p:sp>
        <p:nvSpPr>
          <p:cNvPr id="40" name="Text 38"/>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9AA3B8"/>
                </a:solidFill>
                <a:latin typeface="Calibri" pitchFamily="34" charset="0"/>
                <a:ea typeface="Calibri" pitchFamily="34" charset="-122"/>
                <a:cs typeface="Calibri" pitchFamily="34" charset="-120"/>
              </a:rPr>
              <a:t>21 / 22</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E2761"/>
          </a:solidFill>
          <a:ln/>
        </p:spPr>
      </p:sp>
      <p:sp>
        <p:nvSpPr>
          <p:cNvPr id="3" name="Text 1"/>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FF6B35"/>
                </a:solidFill>
                <a:latin typeface="Calibri" pitchFamily="34" charset="0"/>
                <a:ea typeface="Calibri" pitchFamily="34" charset="-122"/>
                <a:cs typeface="Calibri" pitchFamily="34" charset="-120"/>
              </a:rPr>
              <a:t>SECTION 9 — FINAL CONCEPT</a:t>
            </a:r>
            <a:endParaRPr lang="en-US" sz="1300" dirty="0"/>
          </a:p>
        </p:txBody>
      </p:sp>
      <p:sp>
        <p:nvSpPr>
          <p:cNvPr id="4" name="Text 2"/>
          <p:cNvSpPr/>
          <p:nvPr/>
        </p:nvSpPr>
        <p:spPr>
          <a:xfrm>
            <a:off x="548640" y="713232"/>
            <a:ext cx="11064240" cy="77724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RAG Doesn't Have to Retrieve Only Text</a:t>
            </a:r>
            <a:endParaRPr lang="en-US" sz="3200" dirty="0"/>
          </a:p>
        </p:txBody>
      </p:sp>
      <p:sp>
        <p:nvSpPr>
          <p:cNvPr id="5" name="Shape 3"/>
          <p:cNvSpPr/>
          <p:nvPr/>
        </p:nvSpPr>
        <p:spPr>
          <a:xfrm>
            <a:off x="2194560" y="1874520"/>
            <a:ext cx="7772400" cy="658368"/>
          </a:xfrm>
          <a:prstGeom prst="roundRect">
            <a:avLst>
              <a:gd name="adj" fmla="val 11111"/>
            </a:avLst>
          </a:prstGeom>
          <a:solidFill>
            <a:srgbClr val="1C7293"/>
          </a:solidFill>
          <a:ln/>
        </p:spPr>
      </p:sp>
      <p:sp>
        <p:nvSpPr>
          <p:cNvPr id="6" name="Text 4"/>
          <p:cNvSpPr/>
          <p:nvPr/>
        </p:nvSpPr>
        <p:spPr>
          <a:xfrm>
            <a:off x="2286000" y="1874520"/>
            <a:ext cx="758952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TEXT + TABLES + IMAGES + VIDEO</a:t>
            </a:r>
            <a:endParaRPr lang="en-US" sz="1300" dirty="0"/>
          </a:p>
        </p:txBody>
      </p:sp>
      <p:sp>
        <p:nvSpPr>
          <p:cNvPr id="7" name="Shape 5"/>
          <p:cNvSpPr/>
          <p:nvPr/>
        </p:nvSpPr>
        <p:spPr>
          <a:xfrm>
            <a:off x="5998464" y="2551176"/>
            <a:ext cx="164592" cy="219456"/>
          </a:xfrm>
          <a:prstGeom prst="downArrow">
            <a:avLst/>
          </a:prstGeom>
          <a:solidFill>
            <a:srgbClr val="AAB4CE"/>
          </a:solidFill>
          <a:ln/>
        </p:spPr>
      </p:sp>
      <p:sp>
        <p:nvSpPr>
          <p:cNvPr id="8" name="Shape 6"/>
          <p:cNvSpPr/>
          <p:nvPr/>
        </p:nvSpPr>
        <p:spPr>
          <a:xfrm>
            <a:off x="2194560" y="2788920"/>
            <a:ext cx="7772400" cy="658368"/>
          </a:xfrm>
          <a:prstGeom prst="roundRect">
            <a:avLst>
              <a:gd name="adj" fmla="val 11111"/>
            </a:avLst>
          </a:prstGeom>
          <a:solidFill>
            <a:srgbClr val="1C7293"/>
          </a:solidFill>
          <a:ln/>
        </p:spPr>
      </p:sp>
      <p:sp>
        <p:nvSpPr>
          <p:cNvPr id="9" name="Text 7"/>
          <p:cNvSpPr/>
          <p:nvPr/>
        </p:nvSpPr>
        <p:spPr>
          <a:xfrm>
            <a:off x="2286000" y="2788920"/>
            <a:ext cx="758952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MULTIMODAL RETRIEVAL</a:t>
            </a:r>
            <a:endParaRPr lang="en-US" sz="1300" dirty="0"/>
          </a:p>
        </p:txBody>
      </p:sp>
      <p:sp>
        <p:nvSpPr>
          <p:cNvPr id="10" name="Shape 8"/>
          <p:cNvSpPr/>
          <p:nvPr/>
        </p:nvSpPr>
        <p:spPr>
          <a:xfrm>
            <a:off x="5998464" y="3465576"/>
            <a:ext cx="164592" cy="219456"/>
          </a:xfrm>
          <a:prstGeom prst="downArrow">
            <a:avLst/>
          </a:prstGeom>
          <a:solidFill>
            <a:srgbClr val="AAB4CE"/>
          </a:solidFill>
          <a:ln/>
        </p:spPr>
      </p:sp>
      <p:sp>
        <p:nvSpPr>
          <p:cNvPr id="11" name="Shape 9"/>
          <p:cNvSpPr/>
          <p:nvPr/>
        </p:nvSpPr>
        <p:spPr>
          <a:xfrm>
            <a:off x="2194560" y="3703320"/>
            <a:ext cx="7772400" cy="658368"/>
          </a:xfrm>
          <a:prstGeom prst="roundRect">
            <a:avLst>
              <a:gd name="adj" fmla="val 11111"/>
            </a:avLst>
          </a:prstGeom>
          <a:solidFill>
            <a:srgbClr val="1C7293"/>
          </a:solidFill>
          <a:ln/>
        </p:spPr>
      </p:sp>
      <p:sp>
        <p:nvSpPr>
          <p:cNvPr id="12" name="Text 10"/>
          <p:cNvSpPr/>
          <p:nvPr/>
        </p:nvSpPr>
        <p:spPr>
          <a:xfrm>
            <a:off x="2286000" y="3703320"/>
            <a:ext cx="758952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BETTER CONTEXT</a:t>
            </a:r>
            <a:endParaRPr lang="en-US" sz="1300" dirty="0"/>
          </a:p>
        </p:txBody>
      </p:sp>
      <p:sp>
        <p:nvSpPr>
          <p:cNvPr id="13" name="Shape 11"/>
          <p:cNvSpPr/>
          <p:nvPr/>
        </p:nvSpPr>
        <p:spPr>
          <a:xfrm>
            <a:off x="5998464" y="4379976"/>
            <a:ext cx="164592" cy="219456"/>
          </a:xfrm>
          <a:prstGeom prst="downArrow">
            <a:avLst/>
          </a:prstGeom>
          <a:solidFill>
            <a:srgbClr val="AAB4CE"/>
          </a:solidFill>
          <a:ln/>
        </p:spPr>
      </p:sp>
      <p:sp>
        <p:nvSpPr>
          <p:cNvPr id="14" name="Shape 12"/>
          <p:cNvSpPr/>
          <p:nvPr/>
        </p:nvSpPr>
        <p:spPr>
          <a:xfrm>
            <a:off x="2194560" y="4617720"/>
            <a:ext cx="7772400" cy="658368"/>
          </a:xfrm>
          <a:prstGeom prst="roundRect">
            <a:avLst>
              <a:gd name="adj" fmla="val 11111"/>
            </a:avLst>
          </a:prstGeom>
          <a:solidFill>
            <a:srgbClr val="FF6B35"/>
          </a:solidFill>
          <a:ln/>
        </p:spPr>
      </p:sp>
      <p:sp>
        <p:nvSpPr>
          <p:cNvPr id="15" name="Text 13"/>
          <p:cNvSpPr/>
          <p:nvPr/>
        </p:nvSpPr>
        <p:spPr>
          <a:xfrm>
            <a:off x="2286000" y="4617720"/>
            <a:ext cx="758952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BETTER ANSWERS</a:t>
            </a:r>
            <a:endParaRPr lang="en-US" sz="1300" dirty="0"/>
          </a:p>
        </p:txBody>
      </p:sp>
      <p:sp>
        <p:nvSpPr>
          <p:cNvPr id="16" name="Shape 14"/>
          <p:cNvSpPr/>
          <p:nvPr/>
        </p:nvSpPr>
        <p:spPr>
          <a:xfrm>
            <a:off x="822960" y="5257800"/>
            <a:ext cx="10515600" cy="1051560"/>
          </a:xfrm>
          <a:prstGeom prst="roundRect">
            <a:avLst>
              <a:gd name="adj" fmla="val 7826"/>
            </a:avLst>
          </a:prstGeom>
          <a:solidFill>
            <a:srgbClr val="1B2450"/>
          </a:solidFill>
          <a:ln w="19050">
            <a:solidFill>
              <a:srgbClr val="FF6B35"/>
            </a:solidFill>
            <a:prstDash val="solid"/>
          </a:ln>
        </p:spPr>
      </p:sp>
      <p:pic>
        <p:nvPicPr>
          <p:cNvPr id="17" name="Image 0" descr="/home/claude/mrag/assets/icons/lightbulb.png">    </p:cNvPr>
          <p:cNvPicPr>
            <a:picLocks noChangeAspect="1"/>
          </p:cNvPicPr>
          <p:nvPr/>
        </p:nvPicPr>
        <p:blipFill>
          <a:blip r:embed="rId1"/>
          <a:stretch>
            <a:fillRect/>
          </a:stretch>
        </p:blipFill>
        <p:spPr>
          <a:xfrm>
            <a:off x="1097280" y="5468112"/>
            <a:ext cx="502920" cy="502920"/>
          </a:xfrm>
          <a:prstGeom prst="rect">
            <a:avLst/>
          </a:prstGeom>
        </p:spPr>
      </p:pic>
      <p:sp>
        <p:nvSpPr>
          <p:cNvPr id="18" name="Text 15"/>
          <p:cNvSpPr/>
          <p:nvPr/>
        </p:nvSpPr>
        <p:spPr>
          <a:xfrm>
            <a:off x="1828800" y="5257800"/>
            <a:ext cx="9326880" cy="1051560"/>
          </a:xfrm>
          <a:prstGeom prst="rect">
            <a:avLst/>
          </a:prstGeom>
          <a:noFill/>
          <a:ln/>
        </p:spPr>
        <p:txBody>
          <a:bodyPr wrap="square"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If you could build a Multimodal RAG system for one real-world problem, what would it be?</a:t>
            </a:r>
            <a:endParaRPr lang="en-US" sz="1800" dirty="0"/>
          </a:p>
        </p:txBody>
      </p:sp>
      <p:sp>
        <p:nvSpPr>
          <p:cNvPr id="19" name="Text 16"/>
          <p:cNvSpPr/>
          <p:nvPr/>
        </p:nvSpPr>
        <p:spPr>
          <a:xfrm>
            <a:off x="548640" y="6473952"/>
            <a:ext cx="3657600" cy="274320"/>
          </a:xfrm>
          <a:prstGeom prst="rect">
            <a:avLst/>
          </a:prstGeom>
          <a:noFill/>
          <a:ln/>
        </p:spPr>
        <p:txBody>
          <a:bodyPr wrap="square" rtlCol="0" anchor="ctr"/>
          <a:lstStyle/>
          <a:p>
            <a:pPr indent="0" marL="0">
              <a:buNone/>
            </a:pPr>
            <a:r>
              <a:rPr lang="en-US" sz="1000" dirty="0">
                <a:solidFill>
                  <a:srgbClr val="5A6699"/>
                </a:solidFill>
                <a:latin typeface="Calibri" pitchFamily="34" charset="0"/>
                <a:ea typeface="Calibri" pitchFamily="34" charset="-122"/>
                <a:cs typeface="Calibri" pitchFamily="34" charset="-120"/>
              </a:rPr>
              <a:t>Beyond Text RAG</a:t>
            </a:r>
            <a:endParaRPr lang="en-US" sz="1000" dirty="0"/>
          </a:p>
        </p:txBody>
      </p:sp>
      <p:sp>
        <p:nvSpPr>
          <p:cNvPr id="20" name="Text 17"/>
          <p:cNvSpPr/>
          <p:nvPr/>
        </p:nvSpPr>
        <p:spPr>
          <a:xfrm>
            <a:off x="11000232" y="6473952"/>
            <a:ext cx="914400" cy="274320"/>
          </a:xfrm>
          <a:prstGeom prst="rect">
            <a:avLst/>
          </a:prstGeom>
          <a:noFill/>
          <a:ln/>
        </p:spPr>
        <p:txBody>
          <a:bodyPr wrap="square" rtlCol="0" anchor="ctr"/>
          <a:lstStyle/>
          <a:p>
            <a:pPr algn="r" indent="0" marL="0">
              <a:buNone/>
            </a:pPr>
            <a:r>
              <a:rPr lang="en-US" sz="1000" dirty="0">
                <a:solidFill>
                  <a:srgbClr val="8892B0"/>
                </a:solidFill>
                <a:latin typeface="Calibri" pitchFamily="34" charset="0"/>
                <a:ea typeface="Calibri" pitchFamily="34" charset="-122"/>
                <a:cs typeface="Calibri" pitchFamily="34" charset="-120"/>
              </a:rPr>
              <a:t>22 / 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2026-08-08T08:51:52Z</dcterms:created>
  <dcterms:modified xsi:type="dcterms:W3CDTF">2026-08-08T08:51:52Z</dcterms:modified>
</cp:coreProperties>
</file>